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0584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200" b="0">
                <a:solidFill>
                  <a:srgbClr val="CADCFC"/>
                </a:solidFill>
                <a:latin typeface="맑은 고딕"/>
              </a:rPr>
              <a:t>LG 생명과학 1동 자동창고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0584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맑은 고딕"/>
              </a:rPr>
              <a:t>WCS 화면설계서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06240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CADCFC"/>
                </a:solidFill>
                <a:latin typeface="맑은 고딕"/>
              </a:rPr>
              <a:t>WCS Renewal (구 ECS 대체)   ·   Ver 1.0   ·   2026-09-03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85216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>
                <a:solidFill>
                  <a:srgbClr val="CADCFC"/>
                </a:solidFill>
                <a:latin typeface="맑은 고딕"/>
              </a:rPr>
              <a:t>※ 화면 캡처는 현재 설정 파일(Ecs.ini)의 표시/숨김 상태 그대로임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맑은 고딕"/>
              </a:rPr>
              <a:t>Document history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280160"/>
          <a:ext cx="1088136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645920"/>
                <a:gridCol w="2377440"/>
                <a:gridCol w="1645920"/>
                <a:gridCol w="411480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Vers.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Date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Author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Approver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Notes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V1.0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2026-09-03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LGLS WCS Renewal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최초 작성 - 시뮬레이터 순환 시험 완료 시점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LG 생명과학 1동 WCS  |  화면설계서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맑은 고딕"/>
              </a:rPr>
              <a:t>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3657600" cy="5029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1E2761"/>
                </a:solidFill>
                <a:latin typeface="맑은 고딕"/>
              </a:rPr>
              <a:t>메인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   메인 화면(창고 모니터링)</a:t>
            </a:r>
          </a:p>
          <a:p>
            <a:pPr algn="l"/>
            <a:r>
              <a:rPr sz="600" b="0">
                <a:solidFill>
                  <a:srgbClr val="595959"/>
                </a:solidFill>
                <a:latin typeface="맑은 고딕"/>
              </a:rPr>
              <a:t/>
            </a:r>
          </a:p>
          <a:p>
            <a:pPr algn="l"/>
            <a:r>
              <a:rPr sz="1400" b="1">
                <a:solidFill>
                  <a:srgbClr val="1E2761"/>
                </a:solidFill>
                <a:latin typeface="맑은 고딕"/>
              </a:rPr>
              <a:t>ECS&gt;환경설정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   통신 연결 정의 (EQP 정보)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   로그 삭제 설정 (이력 삭제 주기 변경)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   범례 (색상정보)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   사용자 관리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   INI 열기</a:t>
            </a:r>
          </a:p>
          <a:p>
            <a:pPr algn="l"/>
            <a:r>
              <a:rPr sz="600" b="0">
                <a:solidFill>
                  <a:srgbClr val="595959"/>
                </a:solidFill>
                <a:latin typeface="맑은 고딕"/>
              </a:rPr>
              <a:t/>
            </a:r>
          </a:p>
          <a:p>
            <a:pPr algn="l"/>
            <a:r>
              <a:rPr sz="1400" b="1">
                <a:solidFill>
                  <a:srgbClr val="1E2761"/>
                </a:solidFill>
                <a:latin typeface="맑은 고딕"/>
              </a:rPr>
              <a:t>ECS&gt;뷰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   작업정보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   찾기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   공PLT작업</a:t>
            </a:r>
          </a:p>
          <a:p>
            <a:pPr algn="l"/>
            <a:r>
              <a:rPr sz="600" b="0">
                <a:solidFill>
                  <a:srgbClr val="595959"/>
                </a:solidFill>
                <a:latin typeface="맑은 고딕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43400" y="1188720"/>
            <a:ext cx="3657600" cy="5029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1E2761"/>
                </a:solidFill>
                <a:latin typeface="맑은 고딕"/>
              </a:rPr>
              <a:t>ECS&gt;창고 모니터링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   작업번호 / 트랙번호 / 제품정보 표시 전환</a:t>
            </a:r>
          </a:p>
          <a:p>
            <a:pPr algn="l"/>
            <a:r>
              <a:rPr sz="600" b="0">
                <a:solidFill>
                  <a:srgbClr val="595959"/>
                </a:solidFill>
                <a:latin typeface="맑은 고딕"/>
              </a:rPr>
              <a:t/>
            </a:r>
          </a:p>
          <a:p>
            <a:pPr algn="l"/>
            <a:r>
              <a:rPr sz="1400" b="1">
                <a:solidFill>
                  <a:srgbClr val="1E2761"/>
                </a:solidFill>
                <a:latin typeface="맑은 고딕"/>
              </a:rPr>
              <a:t>ECS&gt;UI모드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   UI모드 (대화상자 모드 / 판넬 모드)</a:t>
            </a:r>
          </a:p>
          <a:p>
            <a:pPr algn="l"/>
            <a:r>
              <a:rPr sz="600" b="0">
                <a:solidFill>
                  <a:srgbClr val="595959"/>
                </a:solidFill>
                <a:latin typeface="맑은 고딕"/>
              </a:rPr>
              <a:t/>
            </a:r>
          </a:p>
          <a:p>
            <a:pPr algn="l"/>
            <a:r>
              <a:rPr sz="1400" b="1">
                <a:solidFill>
                  <a:srgbClr val="1E2761"/>
                </a:solidFill>
                <a:latin typeface="맑은 고딕"/>
              </a:rPr>
              <a:t>MANUAL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   JOB 수동지시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   크레인 수동작업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   RTV(RGV) 수동작업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   반자동 TEST</a:t>
            </a:r>
          </a:p>
          <a:p>
            <a:pPr algn="l"/>
            <a:r>
              <a:rPr sz="600" b="0">
                <a:solidFill>
                  <a:srgbClr val="595959"/>
                </a:solidFill>
                <a:latin typeface="맑은 고딕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1E2761"/>
                </a:solidFill>
                <a:latin typeface="맑은 고딕"/>
              </a:rPr>
              <a:t>LOG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   작업 로그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   HOST 로그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   설비에러이력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   유저사용 로그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   알람 (ECS 프로그램 이력)</a:t>
            </a:r>
          </a:p>
          <a:p>
            <a:pPr algn="l"/>
            <a:r>
              <a:rPr sz="600" b="0">
                <a:solidFill>
                  <a:srgbClr val="595959"/>
                </a:solidFill>
                <a:latin typeface="맑은 고딕"/>
              </a:rPr>
              <a:t/>
            </a:r>
          </a:p>
          <a:p>
            <a:pPr algn="l"/>
            <a:r>
              <a:rPr sz="1400" b="1">
                <a:solidFill>
                  <a:srgbClr val="1E2761"/>
                </a:solidFill>
                <a:latin typeface="맑은 고딕"/>
              </a:rPr>
              <a:t>설비 대화상자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   CV 상태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   SC 상태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   RTV(RGV) 상태</a:t>
            </a:r>
          </a:p>
          <a:p>
            <a:pPr algn="l"/>
            <a:r>
              <a:rPr sz="600" b="0">
                <a:solidFill>
                  <a:srgbClr val="595959"/>
                </a:solidFill>
                <a:latin typeface="맑은 고딕"/>
              </a:rPr>
              <a:t/>
            </a:r>
          </a:p>
          <a:p>
            <a:pPr algn="l"/>
            <a:r>
              <a:rPr sz="1400" b="1">
                <a:solidFill>
                  <a:srgbClr val="1E2761"/>
                </a:solidFill>
                <a:latin typeface="맑은 고딕"/>
              </a:rPr>
              <a:t>서버 프로그램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   설비 통신 (WCS_TASK_CV)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   스케줄러 (IO_TASK)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   상위 통신 (WCS_TASK_HOST)</a:t>
            </a:r>
          </a:p>
          <a:p>
            <a:pPr algn="l"/>
            <a:r>
              <a:rPr sz="600" b="0">
                <a:solidFill>
                  <a:srgbClr val="595959"/>
                </a:solidFill>
                <a:latin typeface="맑은 고딕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LG 생명과학 1동 WCS  |  화면설계서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맑은 고딕"/>
              </a:rPr>
              <a:t>메뉴 표시 상태 (Ecs.ini [MENU], 2026-09-03 기준)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280160"/>
          <a:ext cx="108813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5852160"/>
                <a:gridCol w="182880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INI 키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메뉴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현재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맑은 고딕"/>
                        </a:rPr>
                        <a:t>USER_MENU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맑은 고딕"/>
                        </a:rPr>
                        <a:t>ECS &gt; 환경설정 &gt; 사용자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맑은 고딕"/>
                        </a:rPr>
                        <a:t>숨김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맑은 고딕"/>
                        </a:rPr>
                        <a:t>SEMITEST_MENU</a:t>
                      </a:r>
                    </a:p>
                  </a:txBody>
                  <a:tcPr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맑은 고딕"/>
                        </a:rPr>
                        <a:t>MANUAL &gt; 반자동 TEST</a:t>
                      </a:r>
                    </a:p>
                  </a:txBody>
                  <a:tcPr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맑은 고딕"/>
                        </a:rPr>
                        <a:t>숨김</a:t>
                      </a:r>
                    </a:p>
                  </a:txBody>
                  <a:tcPr>
                    <a:solidFill>
                      <a:srgbClr val="EEF1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맑은 고딕"/>
                        </a:rPr>
                        <a:t>INI_MENU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맑은 고딕"/>
                        </a:rPr>
                        <a:t>ECS &gt; 환경설정 &gt; INI 열기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맑은 고딕"/>
                        </a:rPr>
                        <a:t>숨김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맑은 고딕"/>
                        </a:rPr>
                        <a:t>UIMODE_MENU</a:t>
                      </a:r>
                    </a:p>
                  </a:txBody>
                  <a:tcPr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맑은 고딕"/>
                        </a:rPr>
                        <a:t>ECS &gt; UI모드 그룹</a:t>
                      </a:r>
                    </a:p>
                  </a:txBody>
                  <a:tcPr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맑은 고딕"/>
                        </a:rPr>
                        <a:t>숨김</a:t>
                      </a:r>
                    </a:p>
                  </a:txBody>
                  <a:tcPr>
                    <a:solidFill>
                      <a:srgbClr val="EEF1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맑은 고딕"/>
                        </a:rPr>
                        <a:t>EMPTYPLT_MENU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맑은 고딕"/>
                        </a:rPr>
                        <a:t>ECS &gt; 뷰 &gt; 공PLT작업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맑은 고딕"/>
                        </a:rPr>
                        <a:t>숨김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맑은 고딕"/>
                        </a:rPr>
                        <a:t>PRODINFO_MENU</a:t>
                      </a:r>
                    </a:p>
                  </a:txBody>
                  <a:tcPr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맑은 고딕"/>
                        </a:rPr>
                        <a:t>ECS &gt; 창고 모니터링 &gt; 제품정보</a:t>
                      </a:r>
                    </a:p>
                  </a:txBody>
                  <a:tcPr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맑은 고딕"/>
                        </a:rPr>
                        <a:t>숨김</a:t>
                      </a:r>
                    </a:p>
                  </a:txBody>
                  <a:tcPr>
                    <a:solidFill>
                      <a:srgbClr val="EEF1F7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4206240"/>
            <a:ext cx="1088136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맑은 고딕"/>
              </a:rPr>
              <a:t>숨김 항목은 이 설계서에서 캡처 없이 설명만 싣고, 1 로 바꾸면 리본에 다시 나타난다.</a:t>
            </a:r>
          </a:p>
          <a:p>
            <a:pPr algn="l"/>
            <a:r>
              <a:rPr sz="1200" b="0">
                <a:solidFill>
                  <a:srgbClr val="595959"/>
                </a:solidFill>
                <a:latin typeface="맑은 고딕"/>
              </a:rPr>
              <a:t>TASK 프로그램의 [로그 필터] 버튼은 각 INI 의 [VIEW] LOG_FILTER_BTN 으로 같은 방식으로 제어한다.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LG 생명과학 1동 WCS  |  화면설계서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맑은 고딕"/>
              </a:rPr>
              <a:t>메인 화면(창고 모니터링)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7680960" cy="5029200"/>
          </a:xfrm>
          <a:prstGeom prst="rect">
            <a:avLst/>
          </a:prstGeom>
          <a:solidFill>
            <a:srgbClr val="F7F8FA"/>
          </a:solidFill>
          <a:ln>
            <a:solidFill>
              <a:srgbClr val="C8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ain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73880"/>
            <a:ext cx="7498079" cy="405887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1188720"/>
            <a:ext cx="3291840" cy="5029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메뉴 Path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운전 화면(Ecs.exe) 실행 시 첫 화면</a:t>
            </a:r>
          </a:p>
          <a:p>
            <a:pPr algn="l"/>
            <a:r>
              <a:rPr sz="600" b="0">
                <a:solidFill>
                  <a:srgbClr val="595959"/>
                </a:solidFill>
                <a:latin typeface="맑은 고딕"/>
              </a:rPr>
              <a:t/>
            </a: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프로그램 개요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1동 자동창고 전체 배치(랙 10열, 크레인 5대, RGV 1대, 컨베이어 C/V#2~#15, 작업대)와 작업 진행 상황을 실시간 표시한다.</a:t>
            </a:r>
          </a:p>
          <a:p>
            <a:pPr algn="l"/>
            <a:r>
              <a:rPr sz="600" b="0">
                <a:solidFill>
                  <a:srgbClr val="595959"/>
                </a:solidFill>
                <a:latin typeface="맑은 고딕"/>
              </a:rPr>
              <a:t/>
            </a: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특기사항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· 화물이 있는 위치는 작업번호와 작업구분 색(입고/출고/피킹/랙투랙/이동)으로 표시된다.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· 크레인 행마다 "출고대기 N" 으로 그 크레인의 출고 대기 건수([20] SC 구동대기)를 상시 표시한다.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· C/V#2(S/C#1 통로)와 C/V#11(입출고 겸용대)의 현재 입출고 모드를 "입고 모드/출고 모드"로 표시한다.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· 작업대 라벨은 IMS 스테이션 코드와 명칭을 함께 표기한다 : [101] 외부 입고 전용 입출고대, 103 제품 입고대(TR#24), 104 원부자재 불출대(TR#26), 102 피킹 작업대(TR#29/30).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· 하단 상태바 EQUIP / HOST / SCH 는 각 서버 프로그램(설비 통신/상위 통신/스케줄러)의 생존 상태(초록=정상, 빨강=끊김)이다.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LG 생명과학 1동 WCS  |  화면설계서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맑은 고딕"/>
              </a:rPr>
              <a:t>ECS&gt;환경설정 - 통신 연결 정의 (EQP 정보)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7680960" cy="5029200"/>
          </a:xfrm>
          <a:prstGeom prst="rect">
            <a:avLst/>
          </a:prstGeom>
          <a:solidFill>
            <a:srgbClr val="F7F8FA"/>
          </a:solidFill>
          <a:ln>
            <a:solidFill>
              <a:srgbClr val="C8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qpinfo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226" y="1280160"/>
            <a:ext cx="7285786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1188720"/>
            <a:ext cx="3291840" cy="5029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메뉴 Path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ECS ▷ 환경설정 ▷ 통신 연결 정의</a:t>
            </a:r>
          </a:p>
          <a:p>
            <a:pPr algn="l"/>
            <a:r>
              <a:rPr sz="600" b="0">
                <a:solidFill>
                  <a:srgbClr val="595959"/>
                </a:solidFill>
                <a:latin typeface="맑은 고딕"/>
              </a:rPr>
              <a:t/>
            </a: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프로그램 개요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서버 프로그램(EQP=설비 통신, HOST/HOST2=상위 통신, SCH=스케줄러)의 접속 정보와 생존 상태를 조회한다. (EQP_MST)</a:t>
            </a:r>
          </a:p>
          <a:p>
            <a:pPr algn="l"/>
            <a:r>
              <a:rPr sz="600" b="0">
                <a:solidFill>
                  <a:srgbClr val="595959"/>
                </a:solidFill>
                <a:latin typeface="맑은 고딕"/>
              </a:rPr>
              <a:t/>
            </a: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특기사항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· 설비 구분 콤보 : ALL / EQP / HOST / SCH. HOST 를 고르면 HOST2 까지 함께 조회된다.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· EQP 대표 행은 마스터 PLC 소켓(IP/PORT) 정의를 나타낸다.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LG 생명과학 1동 WCS  |  화면설계서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맑은 고딕"/>
              </a:rPr>
              <a:t>ECS&gt;환경설정 - 로그 삭제 설정 (이력 삭제 주기 변경)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7680960" cy="5029200"/>
          </a:xfrm>
          <a:prstGeom prst="rect">
            <a:avLst/>
          </a:prstGeom>
          <a:solidFill>
            <a:srgbClr val="F7F8FA"/>
          </a:solidFill>
          <a:ln>
            <a:solidFill>
              <a:srgbClr val="C8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del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0548" y="1280160"/>
            <a:ext cx="6397142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1188720"/>
            <a:ext cx="3291840" cy="5029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메뉴 Path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ECS ▷ 환경설정 ▷ 로그 삭제 설정</a:t>
            </a:r>
          </a:p>
          <a:p>
            <a:pPr algn="l"/>
            <a:r>
              <a:rPr sz="600" b="0">
                <a:solidFill>
                  <a:srgbClr val="595959"/>
                </a:solidFill>
                <a:latin typeface="맑은 고딕"/>
              </a:rPr>
              <a:t/>
            </a: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프로그램 개요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로그 테이블별 보존 주기(일)를 조회·변경한다. (DEL_HIS_SETTING)</a:t>
            </a:r>
          </a:p>
          <a:p>
            <a:pPr algn="l"/>
            <a:r>
              <a:rPr sz="600" b="0">
                <a:solidFill>
                  <a:srgbClr val="595959"/>
                </a:solidFill>
                <a:latin typeface="맑은 고딕"/>
              </a:rPr>
              <a:t/>
            </a: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특기사항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· 그리드에서 행을 클릭하면 그 행의 주기가 (일) 칸에 채워지고 그룹 제목에 선택한 로그명과 현재 주기가 표시된다.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· 값을 고쳐 [설정] 을 누르면 변경되고 유저사용 로그에 기록된다. 공백/0 은 설정할 수 없다.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LG 생명과학 1동 WCS  |  화면설계서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맑은 고딕"/>
              </a:rPr>
              <a:t>ECS&gt;환경설정 - 범례 (색상정보)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7680960" cy="5029200"/>
          </a:xfrm>
          <a:prstGeom prst="rect">
            <a:avLst/>
          </a:prstGeom>
          <a:solidFill>
            <a:srgbClr val="F7F8FA"/>
          </a:solidFill>
          <a:ln>
            <a:solidFill>
              <a:srgbClr val="C8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egend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390524"/>
            <a:ext cx="7498079" cy="262559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1188720"/>
            <a:ext cx="3291840" cy="5029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메뉴 Path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ECS ▷ 환경설정 ▷ 범례</a:t>
            </a:r>
          </a:p>
          <a:p>
            <a:pPr algn="l"/>
            <a:r>
              <a:rPr sz="600" b="0">
                <a:solidFill>
                  <a:srgbClr val="595959"/>
                </a:solidFill>
                <a:latin typeface="맑은 고딕"/>
              </a:rPr>
              <a:t/>
            </a: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프로그램 개요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메인 화면에서 쓰는 색상(작업상태·CV 신호·CV,SC 상태·RAIL·반자동)을 확인·변경한다.</a:t>
            </a:r>
          </a:p>
          <a:p>
            <a:pPr algn="l"/>
            <a:r>
              <a:rPr sz="600" b="0">
                <a:solidFill>
                  <a:srgbClr val="595959"/>
                </a:solidFill>
                <a:latin typeface="맑은 고딕"/>
              </a:rPr>
              <a:t/>
            </a: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특기사항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· CV, SC 상태의 "WC 패스모드" 는 이 현장에 없는 기능이라 비활성이다.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LG 생명과학 1동 WCS  |  화면설계서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맑은 고딕"/>
              </a:rPr>
              <a:t>ECS&gt;환경설정 - 사용자 관리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7680960" cy="5029200"/>
          </a:xfrm>
          <a:prstGeom prst="rect">
            <a:avLst/>
          </a:prstGeom>
          <a:solidFill>
            <a:srgbClr val="F7F8FA"/>
          </a:solidFill>
          <a:ln>
            <a:solidFill>
              <a:srgbClr val="C8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91840"/>
            <a:ext cx="768096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400" b="0">
                <a:solidFill>
                  <a:srgbClr val="595959"/>
                </a:solidFill>
                <a:latin typeface="맑은 고딕"/>
              </a:rPr>
              <a:t>현재 설정에서 숨김 또는 자동 캡처 불가 - 설명 참조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188720"/>
            <a:ext cx="3291840" cy="5029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메뉴 Path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ECS ▷ 환경설정 ▷ 사용자  (현재 숨김(INI))</a:t>
            </a:r>
          </a:p>
          <a:p>
            <a:pPr algn="l"/>
            <a:r>
              <a:rPr sz="600" b="0">
                <a:solidFill>
                  <a:srgbClr val="595959"/>
                </a:solidFill>
                <a:latin typeface="맑은 고딕"/>
              </a:rPr>
              <a:t/>
            </a: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프로그램 개요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운전 화면 사용자와 그룹, 화면별 권한(조회/수정/실행)을 관리한다. (USER_MST/USER_GRP/USER_GRP_WIN)</a:t>
            </a:r>
          </a:p>
          <a:p>
            <a:pPr algn="l"/>
            <a:r>
              <a:rPr sz="600" b="0">
                <a:solidFill>
                  <a:srgbClr val="595959"/>
                </a:solidFill>
                <a:latin typeface="맑은 고딕"/>
              </a:rPr>
              <a:t/>
            </a: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특기사항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· Ecs.ini [MENU] USER_MENU=1 로 표시할 수 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LG 생명과학 1동 WCS  |  화면설계서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맑은 고딕"/>
              </a:rPr>
              <a:t>ECS&gt;환경설정 - INI 열기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7680960" cy="5029200"/>
          </a:xfrm>
          <a:prstGeom prst="rect">
            <a:avLst/>
          </a:prstGeom>
          <a:solidFill>
            <a:srgbClr val="F7F8FA"/>
          </a:solidFill>
          <a:ln>
            <a:solidFill>
              <a:srgbClr val="C8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91840"/>
            <a:ext cx="768096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400" b="0">
                <a:solidFill>
                  <a:srgbClr val="595959"/>
                </a:solidFill>
                <a:latin typeface="맑은 고딕"/>
              </a:rPr>
              <a:t>현재 설정에서 숨김 또는 자동 캡처 불가 - 설명 참조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188720"/>
            <a:ext cx="3291840" cy="5029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메뉴 Path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ECS ▷ 환경설정 ▷ INI 열기  (현재 숨김(INI))</a:t>
            </a:r>
          </a:p>
          <a:p>
            <a:pPr algn="l"/>
            <a:r>
              <a:rPr sz="600" b="0">
                <a:solidFill>
                  <a:srgbClr val="595959"/>
                </a:solidFill>
                <a:latin typeface="맑은 고딕"/>
              </a:rPr>
              <a:t/>
            </a: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프로그램 개요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접속·화면 설정 파일(Ecs.ini)을 메모장으로 연다.</a:t>
            </a:r>
          </a:p>
          <a:p>
            <a:pPr algn="l"/>
            <a:r>
              <a:rPr sz="600" b="0">
                <a:solidFill>
                  <a:srgbClr val="595959"/>
                </a:solidFill>
                <a:latin typeface="맑은 고딕"/>
              </a:rPr>
              <a:t/>
            </a: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특기사항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· Ecs.ini [MENU] INI_MENU=1 로 표시할 수 있다. 32비트 프로그램이라 64비트 메모장을 직접 지정해 연다.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LG 생명과학 1동 WCS  |  화면설계서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맑은 고딕"/>
              </a:rPr>
              <a:t>ECS&gt;뷰 - 작업정보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7680960" cy="5029200"/>
          </a:xfrm>
          <a:prstGeom prst="rect">
            <a:avLst/>
          </a:prstGeom>
          <a:solidFill>
            <a:srgbClr val="F7F8FA"/>
          </a:solidFill>
          <a:ln>
            <a:solidFill>
              <a:srgbClr val="C8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joblist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32515"/>
            <a:ext cx="7498079" cy="47416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1188720"/>
            <a:ext cx="3291840" cy="5029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메뉴 Path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ECS ▷ 뷰 ▷ 작업정보</a:t>
            </a:r>
          </a:p>
          <a:p>
            <a:pPr algn="l"/>
            <a:r>
              <a:rPr sz="600" b="0">
                <a:solidFill>
                  <a:srgbClr val="595959"/>
                </a:solidFill>
                <a:latin typeface="맑은 고딕"/>
              </a:rPr>
              <a:t/>
            </a: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프로그램 개요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진행 중 작업(JOB_MST)을 조회하고 작업상태/우선순위를 수정하거나 삭제·복사·완료 보고를 수행한다.</a:t>
            </a:r>
          </a:p>
          <a:p>
            <a:pPr algn="l"/>
            <a:r>
              <a:rPr sz="600" b="0">
                <a:solidFill>
                  <a:srgbClr val="595959"/>
                </a:solidFill>
                <a:latin typeface="맑은 고딕"/>
              </a:rPr>
              <a:t/>
            </a: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특기사항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· [자동 갱신] 을 켜면 주기적으로 목록을 다시 읽는다.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· [CV 도착보고]/[SC 완료보고] 는 설비 신호가 유실됐을 때 사람이 대신 보고하는 기능이다.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· [삭제] 는 작업을 지우고, 설비에 남은 지시는 설비 대화상자의 [지시 삭제] 로 정리한다.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LG 생명과학 1동 WCS  |  화면설계서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맑은 고딕"/>
              </a:rPr>
              <a:t>ECS&gt;뷰 - 찾기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7680960" cy="5029200"/>
          </a:xfrm>
          <a:prstGeom prst="rect">
            <a:avLst/>
          </a:prstGeom>
          <a:solidFill>
            <a:srgbClr val="F7F8FA"/>
          </a:solidFill>
          <a:ln>
            <a:solidFill>
              <a:srgbClr val="C8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earch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937670"/>
            <a:ext cx="7498079" cy="153129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1188720"/>
            <a:ext cx="3291840" cy="5029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메뉴 Path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ECS ▷ 뷰 ▷ 찾기</a:t>
            </a:r>
          </a:p>
          <a:p>
            <a:pPr algn="l"/>
            <a:r>
              <a:rPr sz="600" b="0">
                <a:solidFill>
                  <a:srgbClr val="595959"/>
                </a:solidFill>
                <a:latin typeface="맑은 고딕"/>
              </a:rPr>
              <a:t/>
            </a: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프로그램 개요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작업번호를 입력하면 그 화물이 있는 트랙/설비를 메인 화면에서 깜빡여 보여 준다(5초).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LG 생명과학 1동 WCS  |  화면설계서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맑은 고딕"/>
              </a:rPr>
              <a:t>ECS&gt;뷰 - 공PLT작업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7680960" cy="5029200"/>
          </a:xfrm>
          <a:prstGeom prst="rect">
            <a:avLst/>
          </a:prstGeom>
          <a:solidFill>
            <a:srgbClr val="F7F8FA"/>
          </a:solidFill>
          <a:ln>
            <a:solidFill>
              <a:srgbClr val="C8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91840"/>
            <a:ext cx="768096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400" b="0">
                <a:solidFill>
                  <a:srgbClr val="595959"/>
                </a:solidFill>
                <a:latin typeface="맑은 고딕"/>
              </a:rPr>
              <a:t>현재 설정에서 숨김 또는 자동 캡처 불가 - 설명 참조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188720"/>
            <a:ext cx="3291840" cy="5029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메뉴 Path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ECS ▷ 뷰 ▷ 공PLT작업  (현재 숨김(INI))</a:t>
            </a:r>
          </a:p>
          <a:p>
            <a:pPr algn="l"/>
            <a:r>
              <a:rPr sz="600" b="0">
                <a:solidFill>
                  <a:srgbClr val="595959"/>
                </a:solidFill>
                <a:latin typeface="맑은 고딕"/>
              </a:rPr>
              <a:t/>
            </a: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프로그램 개요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상위에서 온 공파렛트 작업 요청(HOST_EMPTY_PLT)을 조회한다.</a:t>
            </a:r>
          </a:p>
          <a:p>
            <a:pPr algn="l"/>
            <a:r>
              <a:rPr sz="600" b="0">
                <a:solidFill>
                  <a:srgbClr val="595959"/>
                </a:solidFill>
                <a:latin typeface="맑은 고딕"/>
              </a:rPr>
              <a:t/>
            </a: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특기사항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· Ecs.ini [MENU] EMPTYPLT_MENU=1 로 표시할 수 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LG 생명과학 1동 WCS  |  화면설계서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맑은 고딕"/>
              </a:rPr>
              <a:t>ECS&gt;창고 모니터링 - 작업번호 / 트랙번호 / 제품정보 표시 전환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7680960" cy="5029200"/>
          </a:xfrm>
          <a:prstGeom prst="rect">
            <a:avLst/>
          </a:prstGeom>
          <a:solidFill>
            <a:srgbClr val="F7F8FA"/>
          </a:solidFill>
          <a:ln>
            <a:solidFill>
              <a:srgbClr val="C8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91840"/>
            <a:ext cx="768096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400" b="0">
                <a:solidFill>
                  <a:srgbClr val="595959"/>
                </a:solidFill>
                <a:latin typeface="맑은 고딕"/>
              </a:rPr>
              <a:t>현재 설정에서 숨김 또는 자동 캡처 불가 - 설명 참조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188720"/>
            <a:ext cx="3291840" cy="5029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메뉴 Path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ECS ▷ 창고 모니터링 ▷ 작업번호 · 트랙번호 · 제품정보(현재 숨김(INI))</a:t>
            </a:r>
          </a:p>
          <a:p>
            <a:pPr algn="l"/>
            <a:r>
              <a:rPr sz="600" b="0">
                <a:solidFill>
                  <a:srgbClr val="595959"/>
                </a:solidFill>
                <a:latin typeface="맑은 고딕"/>
              </a:rPr>
              <a:t/>
            </a: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프로그램 개요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메인 화면 각 위치에 표시할 문자를 작업번호 / 트랙번호 / 제품정보 중에서 고른다.</a:t>
            </a:r>
          </a:p>
          <a:p>
            <a:pPr algn="l"/>
            <a:r>
              <a:rPr sz="600" b="0">
                <a:solidFill>
                  <a:srgbClr val="595959"/>
                </a:solidFill>
                <a:latin typeface="맑은 고딕"/>
              </a:rPr>
              <a:t/>
            </a: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특기사항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· 제품정보 버튼은 Ecs.ini [MENU] PRODINFO_MENU 로 표시/숨김.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LG 생명과학 1동 WCS  |  화면설계서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맑은 고딕"/>
              </a:rPr>
              <a:t>ECS&gt;UI모드 - UI모드 (대화상자 모드 / 판넬 모드)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7680960" cy="5029200"/>
          </a:xfrm>
          <a:prstGeom prst="rect">
            <a:avLst/>
          </a:prstGeom>
          <a:solidFill>
            <a:srgbClr val="F7F8FA"/>
          </a:solidFill>
          <a:ln>
            <a:solidFill>
              <a:srgbClr val="C8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91840"/>
            <a:ext cx="768096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400" b="0">
                <a:solidFill>
                  <a:srgbClr val="595959"/>
                </a:solidFill>
                <a:latin typeface="맑은 고딕"/>
              </a:rPr>
              <a:t>현재 설정에서 숨김 또는 자동 캡처 불가 - 설명 참조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188720"/>
            <a:ext cx="3291840" cy="5029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메뉴 Path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ECS ▷ UI모드  (현재 숨김(INI))</a:t>
            </a:r>
          </a:p>
          <a:p>
            <a:pPr algn="l"/>
            <a:r>
              <a:rPr sz="600" b="0">
                <a:solidFill>
                  <a:srgbClr val="595959"/>
                </a:solidFill>
                <a:latin typeface="맑은 고딕"/>
              </a:rPr>
              <a:t/>
            </a: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프로그램 개요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작업정보와 설비 상세정보를 팝업 대화상자로 볼지, 화면 우측에 도킹된 판넬(작업정보 / 상세정보 / Crane &amp; Vehicle 반송현황)로 볼지 선택한다.</a:t>
            </a:r>
          </a:p>
          <a:p>
            <a:pPr algn="l"/>
            <a:r>
              <a:rPr sz="600" b="0">
                <a:solidFill>
                  <a:srgbClr val="595959"/>
                </a:solidFill>
                <a:latin typeface="맑은 고딕"/>
              </a:rPr>
              <a:t/>
            </a: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특기사항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· 판넬 모드에서는 설비를 클릭하면 상세정보 판넬의 해당 탭(CV/SC/RTV)으로 전환되고, 설정/확인 열에서 값 변경·명령이 가능하다.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· Ecs.ini [MENU] UIMODE_MENU=1 로 표시할 수 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LG 생명과학 1동 WCS  |  화면설계서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맑은 고딕"/>
              </a:rPr>
              <a:t>MANUAL - JOB 수동지시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7680960" cy="5029200"/>
          </a:xfrm>
          <a:prstGeom prst="rect">
            <a:avLst/>
          </a:prstGeom>
          <a:solidFill>
            <a:srgbClr val="F7F8FA"/>
          </a:solidFill>
          <a:ln>
            <a:solidFill>
              <a:srgbClr val="C8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anual_job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380714"/>
            <a:ext cx="7498079" cy="264521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1188720"/>
            <a:ext cx="3291840" cy="5029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메뉴 Path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MANUAL ▷ JOB</a:t>
            </a:r>
          </a:p>
          <a:p>
            <a:pPr algn="l"/>
            <a:r>
              <a:rPr sz="600" b="0">
                <a:solidFill>
                  <a:srgbClr val="595959"/>
                </a:solidFill>
                <a:latin typeface="맑은 고딕"/>
              </a:rPr>
              <a:t/>
            </a: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프로그램 개요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창고/작업구분/출발지/도착지/위치를 지정해 작업을 직접 생성한다(시험·수동 운전용).</a:t>
            </a:r>
          </a:p>
          <a:p>
            <a:pPr algn="l"/>
            <a:r>
              <a:rPr sz="600" b="0">
                <a:solidFill>
                  <a:srgbClr val="595959"/>
                </a:solidFill>
                <a:latin typeface="맑은 고딕"/>
              </a:rPr>
              <a:t/>
            </a: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특기사항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· 작업개수를 지정하면 같은 조건으로 여러 건을 만든다.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· 반자동(1x) 작업은 상위에 보고하지 않고 완료 시 삭제된다.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LG 생명과학 1동 WCS  |  화면설계서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맑은 고딕"/>
              </a:rPr>
              <a:t>MANUAL - 크레인 수동작업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7680960" cy="5029200"/>
          </a:xfrm>
          <a:prstGeom prst="rect">
            <a:avLst/>
          </a:prstGeom>
          <a:solidFill>
            <a:srgbClr val="F7F8FA"/>
          </a:solidFill>
          <a:ln>
            <a:solidFill>
              <a:srgbClr val="C8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anual_sc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6130" y="1280160"/>
            <a:ext cx="4645980" cy="484631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1188720"/>
            <a:ext cx="3291840" cy="5029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메뉴 Path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MANUAL ▷ 크레인</a:t>
            </a:r>
          </a:p>
          <a:p>
            <a:pPr algn="l"/>
            <a:r>
              <a:rPr sz="600" b="0">
                <a:solidFill>
                  <a:srgbClr val="595959"/>
                </a:solidFill>
                <a:latin typeface="맑은 고딕"/>
              </a:rPr>
              <a:t/>
            </a: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프로그램 개요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크레인 한 대에 H/S(트랙)·셀 위치를 지정해 직접 이송 지시를 낸다.</a:t>
            </a:r>
          </a:p>
          <a:p>
            <a:pPr algn="l"/>
            <a:r>
              <a:rPr sz="600" b="0">
                <a:solidFill>
                  <a:srgbClr val="595959"/>
                </a:solidFill>
                <a:latin typeface="맑은 고딕"/>
              </a:rPr>
              <a:t/>
            </a: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특기사항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· H/S 목록은 그 크레인 측 C/V 의 트랙(RGV측/S/C측)으로 채워진다.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· 그 크레인에 진행 중인 지시(OD_RQ_YN=Y)가 있으면 수동 지시를 거부한다 - 먼저 SC 상태창의 [지시 삭제] 로 정리한다.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LG 생명과학 1동 WCS  |  화면설계서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맑은 고딕"/>
              </a:rPr>
              <a:t>MANUAL - RTV(RGV) 수동작업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7680960" cy="5029200"/>
          </a:xfrm>
          <a:prstGeom prst="rect">
            <a:avLst/>
          </a:prstGeom>
          <a:solidFill>
            <a:srgbClr val="F7F8FA"/>
          </a:solidFill>
          <a:ln>
            <a:solidFill>
              <a:srgbClr val="C8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anual_rtv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816" y="1280160"/>
            <a:ext cx="6490607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1188720"/>
            <a:ext cx="3291840" cy="5029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메뉴 Path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MANUAL ▷ RTV</a:t>
            </a:r>
          </a:p>
          <a:p>
            <a:pPr algn="l"/>
            <a:r>
              <a:rPr sz="600" b="0">
                <a:solidFill>
                  <a:srgbClr val="595959"/>
                </a:solidFill>
                <a:latin typeface="맑은 고딕"/>
              </a:rPr>
              <a:t/>
            </a: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프로그램 개요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RGV 에 출발지/도착지 트랙을 지정해 직접 반송 지시를 낸다.</a:t>
            </a:r>
          </a:p>
          <a:p>
            <a:pPr algn="l"/>
            <a:r>
              <a:rPr sz="600" b="0">
                <a:solidFill>
                  <a:srgbClr val="595959"/>
                </a:solidFill>
                <a:latin typeface="맑은 고딕"/>
              </a:rPr>
              <a:t/>
            </a: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특기사항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· 출발지·도착지는 RGV 가 정차하는 실제 트랙번호(103,105,…,131)로 표시된다.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· 출발지=도착지 지시는 거부되고, 진행 중 지시가 있으면 거부된다(스케줄러 지시 덮어쓰기 방지).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LG 생명과학 1동 WCS  |  화면설계서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맑은 고딕"/>
              </a:rPr>
              <a:t>MANUAL - 반자동 TEST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7680960" cy="5029200"/>
          </a:xfrm>
          <a:prstGeom prst="rect">
            <a:avLst/>
          </a:prstGeom>
          <a:solidFill>
            <a:srgbClr val="F7F8FA"/>
          </a:solidFill>
          <a:ln>
            <a:solidFill>
              <a:srgbClr val="C8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91840"/>
            <a:ext cx="768096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400" b="0">
                <a:solidFill>
                  <a:srgbClr val="595959"/>
                </a:solidFill>
                <a:latin typeface="맑은 고딕"/>
              </a:rPr>
              <a:t>현재 설정에서 숨김 또는 자동 캡처 불가 - 설명 참조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188720"/>
            <a:ext cx="3291840" cy="5029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메뉴 Path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MANUAL ▷ 반자동 TEST  (현재 숨김(INI))</a:t>
            </a:r>
          </a:p>
          <a:p>
            <a:pPr algn="l"/>
            <a:r>
              <a:rPr sz="600" b="0">
                <a:solidFill>
                  <a:srgbClr val="595959"/>
                </a:solidFill>
                <a:latin typeface="맑은 고딕"/>
              </a:rPr>
              <a:t/>
            </a: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프로그램 개요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5개 행에 입출고를 무한 반복시키는 시험 창. ECS↔PLC 로그를 함께 보여 준다.</a:t>
            </a:r>
          </a:p>
          <a:p>
            <a:pPr algn="l"/>
            <a:r>
              <a:rPr sz="600" b="0">
                <a:solidFill>
                  <a:srgbClr val="595959"/>
                </a:solidFill>
                <a:latin typeface="맑은 고딕"/>
              </a:rPr>
              <a:t/>
            </a: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특기사항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· Ecs.ini [MENU] SEMITEST_MENU=1 로 표시할 수 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LG 생명과학 1동 WCS  |  화면설계서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맑은 고딕"/>
              </a:rPr>
              <a:t>LOG - 작업 로그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7680960" cy="5029200"/>
          </a:xfrm>
          <a:prstGeom prst="rect">
            <a:avLst/>
          </a:prstGeom>
          <a:solidFill>
            <a:srgbClr val="F7F8FA"/>
          </a:solidFill>
          <a:ln>
            <a:solidFill>
              <a:srgbClr val="C8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_io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55096"/>
            <a:ext cx="7498079" cy="449644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1188720"/>
            <a:ext cx="3291840" cy="5029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메뉴 Path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LOG ▷ IO_LOG</a:t>
            </a:r>
          </a:p>
          <a:p>
            <a:pPr algn="l"/>
            <a:r>
              <a:rPr sz="600" b="0">
                <a:solidFill>
                  <a:srgbClr val="595959"/>
                </a:solidFill>
                <a:latin typeface="맑은 고딕"/>
              </a:rPr>
              <a:t/>
            </a: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프로그램 개요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작업 이력(JOB_MST_HIS)을 기간/작업번호/상태로 조회한다.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LG 생명과학 1동 WCS  |  화면설계서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맑은 고딕"/>
              </a:rPr>
              <a:t>LOG - HOST 로그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7680960" cy="5029200"/>
          </a:xfrm>
          <a:prstGeom prst="rect">
            <a:avLst/>
          </a:prstGeom>
          <a:solidFill>
            <a:srgbClr val="F7F8FA"/>
          </a:solidFill>
          <a:ln>
            <a:solidFill>
              <a:srgbClr val="C8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_mes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03883"/>
            <a:ext cx="7498079" cy="439887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1188720"/>
            <a:ext cx="3291840" cy="5029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메뉴 Path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LOG ▷ MES_LOG</a:t>
            </a:r>
          </a:p>
          <a:p>
            <a:pPr algn="l"/>
            <a:r>
              <a:rPr sz="600" b="0">
                <a:solidFill>
                  <a:srgbClr val="595959"/>
                </a:solidFill>
                <a:latin typeface="맑은 고딕"/>
              </a:rPr>
              <a:t/>
            </a: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프로그램 개요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상위(WMS/IMS)와 주고받은 전문 이력을 조회한다.</a:t>
            </a:r>
          </a:p>
          <a:p>
            <a:pPr algn="l"/>
            <a:r>
              <a:rPr sz="600" b="0">
                <a:solidFill>
                  <a:srgbClr val="595959"/>
                </a:solidFill>
                <a:latin typeface="맑은 고딕"/>
              </a:rPr>
              <a:t/>
            </a: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특기사항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· 전문 : O(작업지시) R(응답) M(모드) S(상태보고) E(에러보고) F(완료)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LG 생명과학 1동 WCS  |  화면설계서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맑은 고딕"/>
              </a:rPr>
              <a:t>LOG - 설비에러이력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7680960" cy="5029200"/>
          </a:xfrm>
          <a:prstGeom prst="rect">
            <a:avLst/>
          </a:prstGeom>
          <a:solidFill>
            <a:srgbClr val="F7F8FA"/>
          </a:solidFill>
          <a:ln>
            <a:solidFill>
              <a:srgbClr val="C8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_eqp_his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995" y="1280160"/>
            <a:ext cx="7170248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1188720"/>
            <a:ext cx="3291840" cy="5029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메뉴 Path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LOG ▷ EQP_HIS_LOG</a:t>
            </a:r>
          </a:p>
          <a:p>
            <a:pPr algn="l"/>
            <a:r>
              <a:rPr sz="600" b="0">
                <a:solidFill>
                  <a:srgbClr val="595959"/>
                </a:solidFill>
                <a:latin typeface="맑은 고딕"/>
              </a:rPr>
              <a:t/>
            </a: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프로그램 개요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설비(CV/SC/RTV) 에러 발생·해제 이력을 조회한다. (EQP_ERR_HIS)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LG 생명과학 1동 WCS  |  화면설계서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맑은 고딕"/>
              </a:rPr>
              <a:t>LOG - 유저사용 로그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7680960" cy="5029200"/>
          </a:xfrm>
          <a:prstGeom prst="rect">
            <a:avLst/>
          </a:prstGeom>
          <a:solidFill>
            <a:srgbClr val="F7F8FA"/>
          </a:solidFill>
          <a:ln>
            <a:solidFill>
              <a:srgbClr val="C8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_client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098" y="1280160"/>
            <a:ext cx="7266042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1188720"/>
            <a:ext cx="3291840" cy="5029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메뉴 Path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LOG ▷ CLIENT_LOG</a:t>
            </a:r>
          </a:p>
          <a:p>
            <a:pPr algn="l"/>
            <a:r>
              <a:rPr sz="600" b="0">
                <a:solidFill>
                  <a:srgbClr val="595959"/>
                </a:solidFill>
                <a:latin typeface="맑은 고딕"/>
              </a:rPr>
              <a:t/>
            </a: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프로그램 개요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운전 화면에서 사람이 수행한 조작(지시/삭제/설정 변경) 기록을 조회한다. (WCS_CLIENT_LOG)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LG 생명과학 1동 WCS  |  화면설계서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맑은 고딕"/>
              </a:rPr>
              <a:t>LOG - 알람 (ECS 프로그램 이력)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7680960" cy="5029200"/>
          </a:xfrm>
          <a:prstGeom prst="rect">
            <a:avLst/>
          </a:prstGeom>
          <a:solidFill>
            <a:srgbClr val="F7F8FA"/>
          </a:solidFill>
          <a:ln>
            <a:solidFill>
              <a:srgbClr val="C8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larm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66792"/>
            <a:ext cx="7498079" cy="387305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1188720"/>
            <a:ext cx="3291840" cy="5029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메뉴 Path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LOG ▷ 알람</a:t>
            </a:r>
          </a:p>
          <a:p>
            <a:pPr algn="l"/>
            <a:r>
              <a:rPr sz="600" b="0">
                <a:solidFill>
                  <a:srgbClr val="595959"/>
                </a:solidFill>
                <a:latin typeface="맑은 고딕"/>
              </a:rPr>
              <a:t/>
            </a: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프로그램 개요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서버 프로그램(스케줄러/설비 통신/상위 통신)이 남긴 운전 이력(WCS_LOG_PGR)을 프로그램·시간·작업번호로 조회한다.</a:t>
            </a:r>
          </a:p>
          <a:p>
            <a:pPr algn="l"/>
            <a:r>
              <a:rPr sz="600" b="0">
                <a:solidFill>
                  <a:srgbClr val="595959"/>
                </a:solidFill>
                <a:latin typeface="맑은 고딕"/>
              </a:rPr>
              <a:t/>
            </a: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특기사항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· 정체 작업 알림창도 이 이력을 근거로 뜬다(작업이 같은 상태로 오래 머물면 경고).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LG 생명과학 1동 WCS  |  화면설계서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맑은 고딕"/>
              </a:rPr>
              <a:t>설비 대화상자 - CV 상태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7680960" cy="5029200"/>
          </a:xfrm>
          <a:prstGeom prst="rect">
            <a:avLst/>
          </a:prstGeom>
          <a:solidFill>
            <a:srgbClr val="F7F8FA"/>
          </a:solidFill>
          <a:ln>
            <a:solidFill>
              <a:srgbClr val="C8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v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3597" y="1280160"/>
            <a:ext cx="3491044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1188720"/>
            <a:ext cx="3291840" cy="5029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메뉴 Path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메인 화면에서 컨베이어 클릭</a:t>
            </a:r>
          </a:p>
          <a:p>
            <a:pPr algn="l"/>
            <a:r>
              <a:rPr sz="600" b="0">
                <a:solidFill>
                  <a:srgbClr val="595959"/>
                </a:solidFill>
                <a:latin typeface="맑은 고딕"/>
              </a:rPr>
              <a:t/>
            </a: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프로그램 개요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컨베이어(트랙 2개)의 PLC 신호와 작업 정보를 보고, 작업번호 쓰기/삭제/복사/잘라내기/붙여넣기/트랙 일시정지 등을 수행한다.</a:t>
            </a:r>
          </a:p>
          <a:p>
            <a:pPr algn="l"/>
            <a:r>
              <a:rPr sz="600" b="0">
                <a:solidFill>
                  <a:srgbClr val="595959"/>
                </a:solidFill>
                <a:latin typeface="맑은 고딕"/>
              </a:rPr>
              <a:t/>
            </a: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특기사항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· 확대 버튼으로 세부 신호를 펼쳐 볼 수 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LG 생명과학 1동 WCS  |  화면설계서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맑은 고딕"/>
              </a:rPr>
              <a:t>설비 대화상자 - SC 상태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7680960" cy="5029200"/>
          </a:xfrm>
          <a:prstGeom prst="rect">
            <a:avLst/>
          </a:prstGeom>
          <a:solidFill>
            <a:srgbClr val="F7F8FA"/>
          </a:solidFill>
          <a:ln>
            <a:solidFill>
              <a:srgbClr val="C8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c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9633" y="1280160"/>
            <a:ext cx="3398973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1188720"/>
            <a:ext cx="3291840" cy="5029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메뉴 Path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메인 화면에서 크레인(랙 열 번호) 클릭</a:t>
            </a:r>
          </a:p>
          <a:p>
            <a:pPr algn="l"/>
            <a:r>
              <a:rPr sz="600" b="0">
                <a:solidFill>
                  <a:srgbClr val="595959"/>
                </a:solidFill>
                <a:latin typeface="맑은 고딕"/>
              </a:rPr>
              <a:t/>
            </a: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프로그램 개요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크레인 상태·차상 화물·좌표·에러와 작업 상태를 본다. 명령은 지시 재전송 / 삭제 / 강제완료 / 수동지시 / 확대.</a:t>
            </a:r>
          </a:p>
          <a:p>
            <a:pPr algn="l"/>
            <a:r>
              <a:rPr sz="600" b="0">
                <a:solidFill>
                  <a:srgbClr val="595959"/>
                </a:solidFill>
                <a:latin typeface="맑은 고딕"/>
              </a:rPr>
              <a:t/>
            </a: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특기사항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· 작업상태는 두 열(왼쪽 작업번호·구분·상태·적재용기·제품정보, 오른쪽 출발지·출발위치·도착지·도착위치).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· [지시 삭제] 는 설비에 남은 지시(OD)와 요청 플래그를 함께 비운다.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· [수동지시] 는 MANUAL &gt; 크레인 창을 연다.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LG 생명과학 1동 WCS  |  화면설계서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맑은 고딕"/>
              </a:rPr>
              <a:t>설비 대화상자 - RTV(RGV) 상태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7680960" cy="5029200"/>
          </a:xfrm>
          <a:prstGeom prst="rect">
            <a:avLst/>
          </a:prstGeom>
          <a:solidFill>
            <a:srgbClr val="F7F8FA"/>
          </a:solidFill>
          <a:ln>
            <a:solidFill>
              <a:srgbClr val="C8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91840"/>
            <a:ext cx="768096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400" b="0">
                <a:solidFill>
                  <a:srgbClr val="595959"/>
                </a:solidFill>
                <a:latin typeface="맑은 고딕"/>
              </a:rPr>
              <a:t>현재 설정에서 숨김 또는 자동 캡처 불가 - 설명 참조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188720"/>
            <a:ext cx="3291840" cy="5029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메뉴 Path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메인 화면에서 RGV 클릭</a:t>
            </a:r>
          </a:p>
          <a:p>
            <a:pPr algn="l"/>
            <a:r>
              <a:rPr sz="600" b="0">
                <a:solidFill>
                  <a:srgbClr val="595959"/>
                </a:solidFill>
                <a:latin typeface="맑은 고딕"/>
              </a:rPr>
              <a:t/>
            </a: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프로그램 개요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RGV 상태와 작업 상태를 본다. 명령은 지시 재전송 / 삭제 / 강제완료 / 수동지시 / 확대, 그 아래 일시정지(상태 표시 + 버튼).</a:t>
            </a:r>
          </a:p>
          <a:p>
            <a:pPr algn="l"/>
            <a:r>
              <a:rPr sz="600" b="0">
                <a:solidFill>
                  <a:srgbClr val="595959"/>
                </a:solidFill>
                <a:latin typeface="맑은 고딕"/>
              </a:rPr>
              <a:t/>
            </a: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특기사항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· RGV 가 지시를 받지 않을 때(요청 플래그 잔류) [지시 삭제] 로 풀 수 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LG 생명과학 1동 WCS  |  화면설계서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맑은 고딕"/>
              </a:rPr>
              <a:t>서버 프로그램 - 설비 통신 (WCS_TASK_CV)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7680960" cy="5029200"/>
          </a:xfrm>
          <a:prstGeom prst="rect">
            <a:avLst/>
          </a:prstGeom>
          <a:solidFill>
            <a:srgbClr val="F7F8FA"/>
          </a:solidFill>
          <a:ln>
            <a:solidFill>
              <a:srgbClr val="C8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vtask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76811"/>
            <a:ext cx="7498079" cy="405301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1188720"/>
            <a:ext cx="3291840" cy="5029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메뉴 Path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TASK/WCS_TASK_CV/WCS_TASK_CV.exe</a:t>
            </a:r>
          </a:p>
          <a:p>
            <a:pPr algn="l"/>
            <a:r>
              <a:rPr sz="600" b="0">
                <a:solidFill>
                  <a:srgbClr val="595959"/>
                </a:solidFill>
                <a:latin typeface="맑은 고딕"/>
              </a:rPr>
              <a:t/>
            </a: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프로그램 개요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마스터 PLC(XGT) 와 1소켓으로 통신하며 CV_DATA/SC_DATA_LGLS/RTV_DATA_LGLS 의 읽기값을 갱신하고 지시를 PLC 에 쓴다.</a:t>
            </a:r>
          </a:p>
          <a:p>
            <a:pPr algn="l"/>
            <a:r>
              <a:rPr sz="600" b="0">
                <a:solidFill>
                  <a:srgbClr val="595959"/>
                </a:solidFill>
                <a:latin typeface="맑은 고딕"/>
              </a:rPr>
              <a:t/>
            </a: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특기사항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· 로그 창에 "주소" 열이 있어 PLC 읽기/쓰기 주소가 남는다.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· [PLC 메모리 맵] 은 구 ECS 표기(W/B/R)와 실주소 변환기.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· [필터] 버튼은 WCS_DB.INI [VIEW] LOG_FILTER_BTN (현재 숨김).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LG 생명과학 1동 WCS  |  화면설계서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맑은 고딕"/>
              </a:rPr>
              <a:t>서버 프로그램 - 스케줄러 (IO_TASK)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7680960" cy="5029200"/>
          </a:xfrm>
          <a:prstGeom prst="rect">
            <a:avLst/>
          </a:prstGeom>
          <a:solidFill>
            <a:srgbClr val="F7F8FA"/>
          </a:solidFill>
          <a:ln>
            <a:solidFill>
              <a:srgbClr val="C8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ask_IO_TASK_SEMI_FINI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425" y="1280160"/>
            <a:ext cx="6453389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1188720"/>
            <a:ext cx="3291840" cy="5029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메뉴 Path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TASK/IO_TASK/IO_TASK_SEMI_FINISH.exe</a:t>
            </a:r>
          </a:p>
          <a:p>
            <a:pPr algn="l"/>
            <a:r>
              <a:rPr sz="600" b="0">
                <a:solidFill>
                  <a:srgbClr val="595959"/>
                </a:solidFill>
                <a:latin typeface="맑은 고딕"/>
              </a:rPr>
              <a:t/>
            </a: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프로그램 개요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작업 상태 기계. JOB_MST 를 읽어 CV/RGV/SC 지시를 내리고 완료를 판정하며 상위 보고용 상태를 만든다.</a:t>
            </a:r>
          </a:p>
          <a:p>
            <a:pPr algn="l"/>
            <a:r>
              <a:rPr sz="600" b="0">
                <a:solidFill>
                  <a:srgbClr val="595959"/>
                </a:solidFill>
                <a:latin typeface="맑은 고딕"/>
              </a:rPr>
              <a:t/>
            </a: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특기사항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· [로그 필터] 버튼은 ENV_IOSCH.INI [VIEW] LOG_FILTER_BTN (현재 숨김).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· [INI 열기] 로 ENV_IOSCH.INI 를 연다.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LG 생명과학 1동 WCS  |  화면설계서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맑은 고딕"/>
              </a:rPr>
              <a:t>서버 프로그램 - 상위 통신 (WCS_TASK_HOST)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7680960" cy="5029200"/>
          </a:xfrm>
          <a:prstGeom prst="rect">
            <a:avLst/>
          </a:prstGeom>
          <a:solidFill>
            <a:srgbClr val="F7F8FA"/>
          </a:solidFill>
          <a:ln>
            <a:solidFill>
              <a:srgbClr val="C8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hk_TASK_LFC10_G1_ECSC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240" y="1280160"/>
            <a:ext cx="6461760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1188720"/>
            <a:ext cx="3291840" cy="5029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메뉴 Path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TASK/WCS_TASK_HOST/TASK_LFC10_G1_ECSCOM.exe</a:t>
            </a:r>
          </a:p>
          <a:p>
            <a:pPr algn="l"/>
            <a:r>
              <a:rPr sz="600" b="0">
                <a:solidFill>
                  <a:srgbClr val="595959"/>
                </a:solidFill>
                <a:latin typeface="맑은 고딕"/>
              </a:rPr>
              <a:t/>
            </a: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프로그램 개요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WMS/IMS 와 소켓(명령 수신/보고 송신)으로 전문을 교환한다. 스테이션 코드 변환(122→101, 124→104, 126→103, 129·130→102)을 담당한다.</a:t>
            </a:r>
          </a:p>
          <a:p>
            <a:pPr algn="l"/>
            <a:r>
              <a:rPr sz="600" b="0">
                <a:solidFill>
                  <a:srgbClr val="595959"/>
                </a:solidFill>
                <a:latin typeface="맑은 고딕"/>
              </a:rPr>
              <a:t/>
            </a: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특기사항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· 에러 보고(E)는 SC/CV/RTV 모두 대상이다.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LG 생명과학 1동 WCS  |  화면설계서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</a:rPr>
              <a:t>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