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834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presProps" Target="presProps.xml"/><Relationship Id="rId25" Type="http://schemas.openxmlformats.org/officeDocument/2006/relationships/viewProps" Target="viewProps.xml"/><Relationship Id="rId26" Type="http://schemas.openxmlformats.org/officeDocument/2006/relationships/theme" Target="theme/theme1.xml"/><Relationship Id="rId27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058400" cy="73152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2200" b="0">
                <a:solidFill>
                  <a:srgbClr val="CADCFC"/>
                </a:solidFill>
                <a:latin typeface="맑은 고딕"/>
              </a:rPr>
              <a:t>LG 화학 1동 자동창고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2926080"/>
            <a:ext cx="10058400" cy="109728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맑은 고딕"/>
              </a:rPr>
              <a:t>ECS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206240"/>
            <a:ext cx="10058400" cy="5486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600" b="0">
                <a:solidFill>
                  <a:srgbClr val="CADCFC"/>
                </a:solidFill>
                <a:latin typeface="맑은 고딕"/>
              </a:rPr>
              <a:t>ECS Renewal   ·   Ver 1.1   ·   2026-09-09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Document history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280160"/>
          <a:ext cx="10881360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Vers.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Date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Author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Approver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맑은 고딕"/>
                        </a:rPr>
                        <a:t>Notes</a:t>
                      </a:r>
                    </a:p>
                  </a:txBody>
                  <a:tcPr>
                    <a:solidFill>
                      <a:srgbClr val="1E276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최초 작성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V1.1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2026-09-09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LGLS ECS Renewal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  <a:tcPr>
                    <a:solidFill>
                      <a:srgbClr val="EEF1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222222"/>
                          </a:solidFill>
                          <a:latin typeface="맑은 고딕"/>
                        </a:rPr>
                        <a:t>명칭 ECS 확정, 범례 화면 내장, 판넬 보기 신설, 캡처 갱신</a:t>
                      </a:r>
                    </a:p>
                  </a:txBody>
                  <a:tcPr>
                    <a:solidFill>
                      <a:srgbClr val="EEF1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메인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메인 화면(창고 모니터링)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ECS&gt;환경설정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통신 연결 정의 (EQP 정보)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로그 삭제 설정 (이력 삭제 주기 변경)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범례 (색상정보)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작업정보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34340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ECS&gt;판넬 보기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판넬 보기 (작업정보/상세정보/설비반송)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ECS&gt;창고 모니터링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작업번호 / 트랙번호 표시 전환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MANUAL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JOB 수동지시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크레인 수동작업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수동작업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138160" y="1188720"/>
            <a:ext cx="365760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LOG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작업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HOST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설비에러이력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유저사용 로그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알람 (ECS 프로그램 이력)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설비 대화상자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CV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SC 상태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RTV(RGV) 상태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400" b="1">
                <a:solidFill>
                  <a:srgbClr val="1E2761"/>
                </a:solidFill>
                <a:latin typeface="맑은 고딕"/>
              </a:rPr>
              <a:t>서버 프로그램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통합 태스크 (ALL_TASK)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설비 통신 (WCS_TASK_CV)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스케줄러 (IO_TASK)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   상위 통신 (WCS_TASK_HOST)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메인 화면(창고 모니터링)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in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673880"/>
            <a:ext cx="7498079" cy="405887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4016484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메뉴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Path</a:t>
            </a:r>
          </a:p>
          <a:p>
            <a:pPr algn="l"/>
            <a:r>
              <a:rPr sz="1100" b="0" dirty="0" err="1">
                <a:solidFill>
                  <a:srgbClr val="595959"/>
                </a:solidFill>
                <a:latin typeface="맑은 고딕"/>
              </a:rPr>
              <a:t>운전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(Ecs.exe)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실행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시 첫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화면</a:t>
            </a:r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프로그램</a:t>
            </a:r>
            <a:r>
              <a:rPr sz="1300" b="1" dirty="0">
                <a:solidFill>
                  <a:srgbClr val="1E2761"/>
                </a:solidFill>
                <a:latin typeface="맑은 고딕"/>
              </a:rPr>
              <a:t>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개요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100" b="0" dirty="0">
                <a:solidFill>
                  <a:srgbClr val="595959"/>
                </a:solidFill>
                <a:latin typeface="맑은 고딕"/>
              </a:rPr>
              <a:t>1동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자동창고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전체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배치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(랙 10열,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크레인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5대, RGV 1대,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컨베이어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C/V#2~#15,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)와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진행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상황을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실시간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1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1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endParaRPr sz="1100" b="0" dirty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 dirty="0">
                <a:solidFill>
                  <a:srgbClr val="1E2761"/>
                </a:solidFill>
                <a:latin typeface="맑은 고딕"/>
              </a:rPr>
              <a:t>■ </a:t>
            </a:r>
            <a:r>
              <a:rPr sz="1300" b="1" dirty="0" err="1">
                <a:solidFill>
                  <a:srgbClr val="1E2761"/>
                </a:solidFill>
                <a:latin typeface="맑은 고딕"/>
              </a:rPr>
              <a:t>특기사항</a:t>
            </a:r>
            <a:endParaRPr sz="1300" b="1" dirty="0">
              <a:solidFill>
                <a:srgbClr val="1E2761"/>
              </a:solidFill>
              <a:latin typeface="맑은 고딕"/>
            </a:endParaRP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화물이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있는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위치는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작업번호와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작업구분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색(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랙투랙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이동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으로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화면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왼쪽에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범례표가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그려진다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-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색상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C/V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/ S/C·RTV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레일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4개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그룹이며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
   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색은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[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범례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]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창에서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바꾸면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이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표에도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곧바로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반영된다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C/V#2(S/C#1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)와 C/V#11(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겸용대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현재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모드를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"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출고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모드"로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표시한다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라벨은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IMS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스테이션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코드와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명칭을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함께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표기한다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: [101]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외부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전용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입출고대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103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제품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입고대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(TR#24), 104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원부자재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불출대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(TR#26), 102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피킹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작업대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(TR#29/30).</a:t>
            </a:r>
          </a:p>
          <a:p>
            <a:pPr algn="l"/>
            <a:r>
              <a:rPr sz="1000" b="0" dirty="0">
                <a:solidFill>
                  <a:srgbClr val="595959"/>
                </a:solidFill>
                <a:latin typeface="맑은 고딕"/>
              </a:rPr>
              <a:t>· </a:t>
            </a:r>
            <a:r>
              <a:rPr lang="ko-KR" altLang="en-US" sz="1000" dirty="0">
                <a:solidFill>
                  <a:srgbClr val="595959"/>
                </a:solidFill>
                <a:latin typeface="맑은 고딕"/>
              </a:rPr>
              <a:t>상단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상태바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EQUIP / HOST / SCH 는 각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서버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프로그램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설비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상위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통신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/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스케줄러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)의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생존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상태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(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초록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정상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, 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빨강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=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끊김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)</a:t>
            </a:r>
            <a:r>
              <a:rPr sz="1000" b="0" dirty="0" err="1">
                <a:solidFill>
                  <a:srgbClr val="595959"/>
                </a:solidFill>
                <a:latin typeface="맑은 고딕"/>
              </a:rPr>
              <a:t>이다</a:t>
            </a:r>
            <a:r>
              <a:rPr sz="1000" b="0" dirty="0">
                <a:solidFill>
                  <a:srgbClr val="595959"/>
                </a:solidFill>
                <a:latin typeface="맑은 고딕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통신 연결 정의 (EQP 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eqpinf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6226" y="1280160"/>
            <a:ext cx="728578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통신 연결 정의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프로그램(EQP=설비 통신, HOST/HOST2=상위 통신, SCH=스케줄러)의 접속 정보와 생존 상태를 조회한다. (EQP_MST)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설비 구분 콤보 : ALL / EQP / HOST / SCH. HOST 를 고르면 HOST2 까지 함께 조회된다.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EQP 대표 행은 마스터 PLC 소켓(IP/PORT) 정의를 나타낸다.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로그 삭제 설정 (이력 삭제 주기 변경)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del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548" y="1280160"/>
            <a:ext cx="63971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로그 삭제 설정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테이블별 보존 주기(일)를 조회·변경한다. (DEL_HIS_SETTING)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그리드에서 행을 클릭하면 그 행의 주기가 (일) 칸에 채워지고 그룹 제목에 선택한 로그명과 현재 주기가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값을 고쳐 [설정] 을 누르면 변경되고 유저사용 로그에 기록된다. 공백/0 은 설정할 수 없다.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ECS&gt;환경설정 - 범례 (색상정보)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egend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90524"/>
            <a:ext cx="7498079" cy="262559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환경설정 ▷ 범례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쓰는 색상(작업상태·CV 신호·CV,SC 상태·RAIL·반자동)을 확인·변경한다.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CV, SC 상태의 "WC 패스모드" 는 이 현장에 없는 기능이라 비활성이다.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S/C·RTV 레일 색은 정지 사유별로 나뉜다 : 입고 금지(주황빨강) / 출고 금지(자홍빨강) /
    입출고 정지(진빨강) / 에러(보라) / 작업중(파랑). 붉은 계열은 모두 "정지" 를 뜻하고,
    설비 에러만 보라로 빼 사람이 건 정지와 구분한다(크레인 포크는 에러 시 빨강).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작업정보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joblis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32515"/>
            <a:ext cx="7498079" cy="474160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작업정보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진행 중 작업(JOB_MST)을 조회하고 작업상태/우선순위를 수정하거나 삭제·복사·완료 보고를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[자동 갱신] 을 켜면 주기적으로 목록을 다시 읽는다.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[CV 도착보고]/[SC 완료보고] 는 설비 신호가 유실됐을 때 사람이 대신 보고하는 기능이다.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[삭제] 는 작업을 지우고, 설비에 남은 지시는 설비 대화상자의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ECS&gt;뷰 - 찾기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earch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937670"/>
            <a:ext cx="7498079" cy="153129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뷰 ▷ 찾기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작업번호를 입력하면 그 화물이 있는 트랙/설비를 메인 화면에서 깜빡여 보여 준다(5초).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ECS&gt;판넬 보기 - 판넬 보기 (작업정보/상세정보/설비반송)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판넬 보기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목록·설비 상세·크레인 반송 현황을 팝업 대화상자 대신 화면에 붙는 판넬로 본다. 버튼 3개를 각각 켜고 끈다.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작업정보 판넬은 화면 상단에 가로로 넓게 붙는다(작업 목록은 열이 많아 가로가 필요하다).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상세정보·설비반송 판넬은 오른쪽에 위아래로 붙는다.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상세정보 판넬이 켜져 있으면 메인 화면에서 설비를 클릭했을 때 팝업 대신 이 판넬의 해당 탭으로 바뀐다.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10</a:t>
            </a:r>
          </a:p>
        </p:txBody>
      </p:sp>
      <p:pic>
        <p:nvPicPr>
          <p:cNvPr id="9" name="그림 8">
            <a:extLst>
              <a:ext uri="{FF2B5EF4-FFF2-40B4-BE49-F238E27FC236}">
                <a16:creationId xmlns:a16="http://schemas.microsoft.com/office/drawing/2014/main" id="{D639867E-39DB-F908-3AE1-218E6AE56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22250" y="3000315"/>
            <a:ext cx="1533739" cy="85737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ECS&gt;창고 모니터링 - 작업번호 / 트랙번호 표시 전환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ECS ▷ 창고 모니터링 ▷ 작업번호 · 트랙번호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 각 위치에 표시할 문자를 작업번호 / 트랙번호 중에서 고른다.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JOB 수동지시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job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2380714"/>
            <a:ext cx="7498079" cy="264521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작업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창고/작업구분/출발지/도착지/위치를 지정해 작업을 직접 생성한다(수동 운전용).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작업개수를 지정하면 같은 조건으로 여러 건을 만든다.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반자동(1x) 작업은 상위에 보고하지 않고 완료 시 삭제된다.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크레인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sc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6130" y="1280160"/>
            <a:ext cx="4645980" cy="48463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크레인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한 대에 H/S(트랙)·셀 위치를 지정해 직접 이송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H/S 목록은 그 크레인 측 C/V 의 트랙(RGV측/S/C측)으로 채워진다.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그 크레인에 진행 중인 지시가 있으면 수동 지시를 거부한다 - 먼저 SC 상태창의 [지시 삭제] 로 정리한다.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MANUAL - RTV(RGV) 수동작업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manual_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3816" y="1280160"/>
            <a:ext cx="6490607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수동조작 ▷ RTV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에 출발지/도착지 트랙을 지정해 직접 반송 지시를 낸다.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출발지·도착지는 RGV 가 정차하는 실제 트랙번호(103,105,…,131)로 표시된다.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출발지=도착지 지시는 거부되고, 진행 중 지시가 있으면 거부된다(스케줄러 지시 덮어쓰기 방지).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작업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io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455096"/>
            <a:ext cx="7498079" cy="449644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작업로그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작업 이력(JOB_MST_HIS)을 기간/작업번호/상태로 조회한다.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HOST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me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503883"/>
            <a:ext cx="7498079" cy="439887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HOST로그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상위(WMS/IMS)와 주고받은 전문 이력을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전문 : O(작업지시) R(응답) M(모드 전환) S(상태보고) E(에러보고) F(완료)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설비에러이력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eqp_his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3995" y="1280160"/>
            <a:ext cx="7170248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설비에러이력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설비(CV/SC/RTV) 에러 발생·해제 이력을 조회한다. (EQP_ERR_HIS)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유저사용 로그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log_clien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098" y="1280160"/>
            <a:ext cx="7266042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유저사용로그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운전 화면에서 사람이 수행한 조작(지시/삭제/설정 변경) 기록을 조회한다. (WCS_CLIENT_LOG)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LOG - 알람 (ECS 프로그램 이력)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alarm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766792"/>
            <a:ext cx="7498079" cy="38730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로그 ▷ 알람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서버 프로그램(스케줄러/설비 통신/상위 통신)이 남긴 운전 이력(WCS_LOG_PGR)을 프로그램·시간·작업번호로 조회한다.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정체 작업 알림창도 이 이력을 근거로 뜬다(작업이 같은 상태로 오래 머물면 경고).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CV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cv2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6856" y="1280160"/>
            <a:ext cx="3804526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컨베이어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컨베이어(트랙 2개)의 PLC 신호와 작업 정보를 보고, 작업번호 쓰기/삭제/복사/잘라내기/붙여넣기/MZ 이동 등을 수행한다.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[작업 적기] 는 그 트랙에 작업번호·도착지를 써 넣는다. 설비의 PLC 트래킹(R영역)에도 함께 기록되므로, 설비에 놓여 있는데 시스템이 모르는 화물을 인수시킬 때 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예외 처리 그룹의 [H/S 배출] 은 출고 H/S 에 놓인 작업 없는 화물을 출고대로 내보낸다. 비상 확인창이 뜨며, 반자동 출고 작업을 만들어 상위 보고 없이 처리한다(아래 예외 처리 참조).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SC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sc4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5492" y="1280160"/>
            <a:ext cx="396725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크레인(랙 열 번호)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크레인 상태·차상 화물·좌표·에러와 작업 상태를 본다. 명령은 지시 재전송 / 삭제 / 강제완료 / 수동지시.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작업상태는 두 열(왼쪽 작업번호·구분·상태·적재용기·제품정보, 오른쪽 출발지·출발위치·도착지·도착위치).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[지시 삭제] 는 설비에 남은 지시(OD)와 요청 플래그를 함께 비운다.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[수동지시] 는 MANUAL &gt; 크레인 창을 연다.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lIns="45720" rIns="45720" anchor="ctr">
            <a:spAutoFit/>
          </a:bodyPr>
          <a:lstStyle/>
          <a:p>
            <a:pPr algn="l"/>
            <a:r>
              <a:rPr sz="2600" b="1">
                <a:solidFill>
                  <a:srgbClr val="1E2761"/>
                </a:solidFill>
                <a:latin typeface="맑은 고딕"/>
              </a:rPr>
              <a:t>설비 대화상자 - RTV(RGV) 상태</a:t>
            </a:r>
          </a:p>
        </p:txBody>
      </p:sp>
      <p:sp>
        <p:nvSpPr>
          <p:cNvPr id="3" name="Rectangle 2"/>
          <p:cNvSpPr/>
          <p:nvPr/>
        </p:nvSpPr>
        <p:spPr>
          <a:xfrm>
            <a:off x="548640" y="1188720"/>
            <a:ext cx="7680960" cy="5029200"/>
          </a:xfrm>
          <a:prstGeom prst="rect">
            <a:avLst/>
          </a:prstGeom>
          <a:solidFill>
            <a:srgbClr val="F7F8FA"/>
          </a:solidFill>
          <a:ln>
            <a:solidFill>
              <a:srgbClr val="C8CED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rtv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3372" y="1280160"/>
            <a:ext cx="4411495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503920" y="1188720"/>
            <a:ext cx="3291840" cy="502920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메뉴 Path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메인 화면에서 RGV 클릭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프로그램 개요</a:t>
            </a:r>
          </a:p>
          <a:p>
            <a:pPr algn="l"/>
            <a:r>
              <a:rPr sz="1100" b="0">
                <a:solidFill>
                  <a:srgbClr val="595959"/>
                </a:solidFill>
                <a:latin typeface="맑은 고딕"/>
              </a:rPr>
              <a:t>RGV 상태와 작업 상태를 본다. 명령은 지시 재전송 / 삭제 / 강제완료 / 수동지시, 명령 그룹 아래에 일시정지(상태 표시 + 버튼).</a:t>
            </a:r>
          </a:p>
          <a:p>
            <a:pPr algn="l"/>
            <a:endParaRPr sz="1100" b="0">
              <a:solidFill>
                <a:srgbClr val="595959"/>
              </a:solidFill>
              <a:latin typeface="맑은 고딕"/>
            </a:endParaRPr>
          </a:p>
          <a:p>
            <a:pPr algn="l"/>
            <a:r>
              <a:rPr sz="1300" b="1">
                <a:solidFill>
                  <a:srgbClr val="1E2761"/>
                </a:solidFill>
                <a:latin typeface="맑은 고딕"/>
              </a:rPr>
              <a:t>■ 특기사항</a:t>
            </a:r>
          </a:p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· RGV 가 지시를 받지 않을 때(요청 플래그 잔류) [지시 삭제] 로 풀 수 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l"/>
            <a:r>
              <a:rPr sz="1000" b="0">
                <a:solidFill>
                  <a:srgbClr val="595959"/>
                </a:solidFill>
                <a:latin typeface="맑은 고딕"/>
              </a:rPr>
              <a:t>LG 화학 1동 ECS  |  화면설계서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00800"/>
            <a:ext cx="731520" cy="320040"/>
          </a:xfrm>
          <a:prstGeom prst="rect">
            <a:avLst/>
          </a:prstGeom>
          <a:noFill/>
        </p:spPr>
        <p:txBody>
          <a:bodyPr wrap="square" lIns="45720" rIns="45720" anchor="t">
            <a:spAutoFit/>
          </a:bodyPr>
          <a:lstStyle/>
          <a:p>
            <a:pPr algn="r"/>
            <a:r>
              <a:rPr sz="1000" b="0">
                <a:solidFill>
                  <a:srgbClr val="595959"/>
                </a:solidFill>
                <a:latin typeface="맑은 고딕"/>
              </a:rPr>
              <a:t>22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18</TotalTime>
  <Words>1883</Words>
  <Application>Microsoft Office PowerPoint</Application>
  <PresentationFormat>와이드스크린</PresentationFormat>
  <Paragraphs>271</Paragraphs>
  <Slides>22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22</vt:i4>
      </vt:variant>
    </vt:vector>
  </HeadingPairs>
  <TitlesOfParts>
    <vt:vector size="26" baseType="lpstr">
      <vt:lpstr>맑은 고딕</vt:lpstr>
      <vt:lpstr>Arial</vt:lpstr>
      <vt:lpstr>Calibri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USER</cp:lastModifiedBy>
  <cp:revision>4</cp:revision>
  <dcterms:created xsi:type="dcterms:W3CDTF">2013-01-27T09:14:16Z</dcterms:created>
  <dcterms:modified xsi:type="dcterms:W3CDTF">2026-09-09T14:31:28Z</dcterms:modified>
  <cp:category/>
</cp:coreProperties>
</file>