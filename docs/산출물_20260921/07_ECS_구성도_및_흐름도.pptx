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058400" cy="54864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2000" b="0">
                <a:solidFill>
                  <a:srgbClr val="CADCFC"/>
                </a:solidFill>
                <a:latin typeface="맑은 고딕"/>
              </a:rPr>
              <a:t>LG 화학 1동 자동창고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880360"/>
            <a:ext cx="10058400" cy="100584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맑은 고딕"/>
              </a:rPr>
              <a:t>ECS 시스템 구성도 및 업무 흐름도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114800"/>
            <a:ext cx="10058400" cy="45720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400" b="0">
                <a:solidFill>
                  <a:srgbClr val="CADCFC"/>
                </a:solidFill>
                <a:latin typeface="맑은 고딕"/>
              </a:rPr>
              <a:t>ECS Renewal   ·   작성일 2026-09-21   ·   Ver 2.0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572000"/>
            <a:ext cx="10058400" cy="45720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200" b="0">
                <a:solidFill>
                  <a:srgbClr val="CADCFC"/>
                </a:solidFill>
                <a:latin typeface="맑은 고딕"/>
              </a:rPr>
              <a:t>최종판 - 현장 기본 시험 완료 기준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/>
            <a:r>
              <a:rPr sz="2400" b="1">
                <a:solidFill>
                  <a:srgbClr val="1E2761"/>
                </a:solidFill>
                <a:latin typeface="맑은 고딕"/>
              </a:rPr>
              <a:t>문서 이력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188720"/>
          <a:ext cx="11247120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88720"/>
                <a:gridCol w="1645920"/>
                <a:gridCol w="2377440"/>
                <a:gridCol w="6035040"/>
              </a:tblGrid>
              <a:tr h="41148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버전</a:t>
                      </a:r>
                    </a:p>
                  </a:txBody>
                  <a:tcPr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일자</a:t>
                      </a:r>
                    </a:p>
                  </a:txBody>
                  <a:tcPr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작성</a:t>
                      </a:r>
                    </a:p>
                  </a:txBody>
                  <a:tcPr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맑은 고딕"/>
                        </a:rPr>
                        <a:t>내용</a:t>
                      </a:r>
                    </a:p>
                  </a:txBody>
                  <a:tcPr marT="18288" marB="18288">
                    <a:solidFill>
                      <a:srgbClr val="1E276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1.0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2026-09-05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LGLS ECS Renewal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최초 작성 (시스템 구성도, 입고·출고 플로우차트/다이어그램, 피킹, 예외) - 파일명 07_WCS_구성도_및_흐름도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2.0</a:t>
                      </a:r>
                    </a:p>
                  </a:txBody>
                  <a:tcPr marT="18288" marB="18288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2026-09-21</a:t>
                      </a:r>
                    </a:p>
                  </a:txBody>
                  <a:tcPr marT="18288" marB="18288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LGLS ECS Renewal</a:t>
                      </a:r>
                    </a:p>
                  </a:txBody>
                  <a:tcPr marT="18288" marB="18288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222222"/>
                          </a:solidFill>
                          <a:latin typeface="맑은 고딕"/>
                        </a:rPr>
                        <a:t>최종판 - 명칭 ECS 통일, 작업상태 전이 현행화(11/21/30/31 폐기, 16 추가, 입고 25→09), C/V#2 통로 사용권·겸용대 보호·알람 흐름 추가, 이중입고/공출고 작업상태 처리 미사용 반영</a:t>
                      </a:r>
                    </a:p>
                  </a:txBody>
                  <a:tcPr marT="18288" marB="18288">
                    <a:solidFill>
                      <a:srgbClr val="EEF1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6419088"/>
            <a:ext cx="640080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</a:rPr>
              <a:t>LG 화학 1동 ECS  |  문서 이력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419088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/>
            <a:r>
              <a:rPr sz="900" b="0">
                <a:solidFill>
                  <a:srgbClr val="595959"/>
                </a:solidFill>
                <a:latin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/>
            <a:r>
              <a:rPr sz="2400" b="1">
                <a:solidFill>
                  <a:srgbClr val="1E2761"/>
                </a:solidFill>
                <a:latin typeface="맑은 고딕"/>
              </a:rPr>
              <a:t>시스템 구성도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49808"/>
            <a:ext cx="1124712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모든 프로그램은 DB(LGLS_MCS_IO)를 매개로 구동한다. 화살표는 데이터가 흐르는 방향이다.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2011680"/>
            <a:ext cx="2194560" cy="731520"/>
          </a:xfrm>
          <a:prstGeom prst="roundRect">
            <a:avLst/>
          </a:prstGeom>
          <a:solidFill>
            <a:srgbClr val="EEF1F7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300" b="1">
                <a:solidFill>
                  <a:srgbClr val="1E2761"/>
                </a:solidFill>
                <a:latin typeface="맑은 고딕"/>
              </a:rPr>
              <a:t>상위 시스템</a:t>
            </a:r>
          </a:p>
          <a:p>
            <a:pPr algn="ctr"/>
            <a:r>
              <a:rPr sz="1000" b="0">
                <a:solidFill>
                  <a:srgbClr val="595959"/>
                </a:solidFill>
                <a:latin typeface="맑은 고딕"/>
              </a:rPr>
              <a:t>WMS / IMS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3291840"/>
            <a:ext cx="2194560" cy="7772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66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300" b="1">
                <a:solidFill>
                  <a:srgbClr val="1E2761"/>
                </a:solidFill>
                <a:latin typeface="맑은 고딕"/>
              </a:rPr>
              <a:t>상위 통신</a:t>
            </a:r>
          </a:p>
          <a:p>
            <a:pPr algn="ctr"/>
            <a:r>
              <a:rPr sz="900" b="0">
                <a:solidFill>
                  <a:srgbClr val="595959"/>
                </a:solidFill>
                <a:latin typeface="맑은 고딕"/>
              </a:rPr>
              <a:t>WCS_TASK_HOST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0" y="1463040"/>
            <a:ext cx="2194560" cy="7772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66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300" b="1">
                <a:solidFill>
                  <a:srgbClr val="1E2761"/>
                </a:solidFill>
                <a:latin typeface="맑은 고딕"/>
              </a:rPr>
              <a:t>스케줄러</a:t>
            </a:r>
          </a:p>
          <a:p>
            <a:pPr algn="ctr"/>
            <a:r>
              <a:rPr sz="900" b="0">
                <a:solidFill>
                  <a:srgbClr val="595959"/>
                </a:solidFill>
                <a:latin typeface="맑은 고딕"/>
              </a:rPr>
              <a:t>IO_TASK</a:t>
            </a:r>
          </a:p>
        </p:txBody>
      </p:sp>
      <p:sp>
        <p:nvSpPr>
          <p:cNvPr id="7" name="Magnetic Disk 6"/>
          <p:cNvSpPr/>
          <p:nvPr/>
        </p:nvSpPr>
        <p:spPr>
          <a:xfrm>
            <a:off x="4434840" y="3063240"/>
            <a:ext cx="2468880" cy="1234440"/>
          </a:xfrm>
          <a:prstGeom prst="flowChartMagneticDisk">
            <a:avLst/>
          </a:prstGeom>
          <a:solidFill>
            <a:srgbClr val="1E2761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</a:rPr>
              <a:t>DB</a:t>
            </a:r>
          </a:p>
          <a:p>
            <a:pPr algn="ctr"/>
            <a:r>
              <a:rPr sz="900" b="0">
                <a:solidFill>
                  <a:srgbClr val="FFFFFF"/>
                </a:solidFill>
                <a:latin typeface="맑은 고딕"/>
              </a:rPr>
              <a:t>Microsoft SQL Server</a:t>
            </a:r>
          </a:p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LGLS_MCS_IO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0" y="5029200"/>
            <a:ext cx="2194560" cy="7772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66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300" b="1">
                <a:solidFill>
                  <a:srgbClr val="1E2761"/>
                </a:solidFill>
                <a:latin typeface="맑은 고딕"/>
              </a:rPr>
              <a:t>설비 통신</a:t>
            </a:r>
          </a:p>
          <a:p>
            <a:pPr algn="ctr"/>
            <a:r>
              <a:rPr sz="900" b="0">
                <a:solidFill>
                  <a:srgbClr val="595959"/>
                </a:solidFill>
                <a:latin typeface="맑은 고딕"/>
              </a:rPr>
              <a:t>WCS_TASK_CV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412480" y="3291840"/>
            <a:ext cx="2377440" cy="77724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66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300" b="1">
                <a:solidFill>
                  <a:srgbClr val="1E2761"/>
                </a:solidFill>
                <a:latin typeface="맑은 고딕"/>
              </a:rPr>
              <a:t>운전 화면</a:t>
            </a:r>
          </a:p>
          <a:p>
            <a:pPr algn="ctr"/>
            <a:r>
              <a:rPr sz="900" b="0">
                <a:solidFill>
                  <a:srgbClr val="595959"/>
                </a:solidFill>
                <a:latin typeface="맑은 고딕"/>
              </a:rPr>
              <a:t>Ecs.exe (Client)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0" y="5029200"/>
            <a:ext cx="2377440" cy="777240"/>
          </a:xfrm>
          <a:prstGeom prst="roundRect">
            <a:avLst/>
          </a:prstGeom>
          <a:solidFill>
            <a:srgbClr val="EEF1F7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300" b="1">
                <a:solidFill>
                  <a:srgbClr val="1E2761"/>
                </a:solidFill>
                <a:latin typeface="맑은 고딕"/>
              </a:rPr>
              <a:t>설비 / PLC</a:t>
            </a:r>
          </a:p>
          <a:p>
            <a:pPr algn="ctr"/>
            <a:r>
              <a:rPr sz="900" b="0">
                <a:solidFill>
                  <a:srgbClr val="595959"/>
                </a:solidFill>
                <a:latin typeface="맑은 고딕"/>
              </a:rPr>
              <a:t>XGT · C/V · S/C · RGV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011680" y="2743200"/>
            <a:ext cx="0" cy="548640"/>
          </a:xfrm>
          <a:prstGeom prst="line">
            <a:avLst/>
          </a:prstGeom>
          <a:ln w="19050">
            <a:solidFill>
              <a:srgbClr val="266EB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2011680" y="2743200"/>
            <a:ext cx="0" cy="548640"/>
          </a:xfrm>
          <a:prstGeom prst="line">
            <a:avLst/>
          </a:prstGeom>
          <a:ln w="19050">
            <a:solidFill>
              <a:srgbClr val="266EB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3108960" y="3675887"/>
            <a:ext cx="1325880" cy="0"/>
          </a:xfrm>
          <a:prstGeom prst="line">
            <a:avLst/>
          </a:prstGeom>
          <a:ln w="19050">
            <a:solidFill>
              <a:srgbClr val="266EB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5669280" y="2240280"/>
            <a:ext cx="0" cy="822960"/>
          </a:xfrm>
          <a:prstGeom prst="line">
            <a:avLst/>
          </a:prstGeom>
          <a:ln w="19050">
            <a:solidFill>
              <a:srgbClr val="266EB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5806440" y="2240280"/>
            <a:ext cx="0" cy="822960"/>
          </a:xfrm>
          <a:prstGeom prst="line">
            <a:avLst/>
          </a:prstGeom>
          <a:ln w="19050">
            <a:solidFill>
              <a:srgbClr val="266EB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5669280" y="4297680"/>
            <a:ext cx="0" cy="731520"/>
          </a:xfrm>
          <a:prstGeom prst="line">
            <a:avLst/>
          </a:prstGeom>
          <a:ln w="19050">
            <a:solidFill>
              <a:srgbClr val="266EB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5806440" y="4297680"/>
            <a:ext cx="0" cy="731520"/>
          </a:xfrm>
          <a:prstGeom prst="line">
            <a:avLst/>
          </a:prstGeom>
          <a:ln w="19050">
            <a:solidFill>
              <a:srgbClr val="266EB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>
            <a:off x="6903720" y="3675887"/>
            <a:ext cx="1508760" cy="0"/>
          </a:xfrm>
          <a:prstGeom prst="line">
            <a:avLst/>
          </a:prstGeom>
          <a:ln w="19050">
            <a:solidFill>
              <a:srgbClr val="266EB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766560" y="5413248"/>
            <a:ext cx="1645920" cy="0"/>
          </a:xfrm>
          <a:prstGeom prst="line">
            <a:avLst/>
          </a:prstGeom>
          <a:ln w="19050">
            <a:solidFill>
              <a:srgbClr val="2E864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6766560" y="5596128"/>
            <a:ext cx="1645920" cy="0"/>
          </a:xfrm>
          <a:prstGeom prst="line">
            <a:avLst/>
          </a:prstGeom>
          <a:ln w="19050">
            <a:solidFill>
              <a:srgbClr val="2E864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914400" y="4114800"/>
            <a:ext cx="2194560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/>
            <a:r>
              <a:rPr sz="900" b="0">
                <a:solidFill>
                  <a:srgbClr val="595959"/>
                </a:solidFill>
                <a:latin typeface="맑은 고딕"/>
              </a:rPr>
              <a:t>O/R/M/D 수신 · S/E/F 송신 · TCP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03720" y="5623560"/>
            <a:ext cx="1508760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/>
            <a:r>
              <a:rPr sz="900" b="0">
                <a:solidFill>
                  <a:srgbClr val="595959"/>
                </a:solidFill>
                <a:latin typeface="맑은 고딕"/>
              </a:rPr>
              <a:t>XGT 1소켓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520" y="1188720"/>
            <a:ext cx="4206240" cy="20116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맑은 고딕"/>
              </a:rPr>
              <a:t>■ 각 프로그램의 역할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상위 통신 : WMS/IMS 전문을 작업(JOB_MST)으로 바꾸고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  상태·완료·에러를 되보고한다. 완료 응답을 받으면 삭제.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스케줄러 : 작업 상태를 진행시키고 설비 지시(_OD)와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  방향 지시(CMD_RQ_ID=DIR)를 쓴다.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설비 통신 : PLC 를 읽어 _RD·알람 코드를 쓰고, 지시를 PLC 에 전송.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· 운전 화면 : DB 를 보여주고 수동 지시·설정을 DB 에 기록한다.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  설비와 직접 통신하지 않는다.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074920"/>
            <a:ext cx="3566160" cy="10972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맑은 고딕"/>
              </a:rPr>
              <a:t>■ 한 줄 요약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프로그램끼리 직접 부르지 않는다.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모두 DB 를 통해 주고받으므로,</a:t>
            </a:r>
          </a:p>
          <a:p>
            <a:pPr algn="l"/>
            <a:r>
              <a:rPr sz="1050" b="0">
                <a:solidFill>
                  <a:srgbClr val="595959"/>
                </a:solidFill>
                <a:latin typeface="맑은 고딕"/>
              </a:rPr>
              <a:t>하나가 죽어도 지시와 상태는 DB 에 남는다.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19088"/>
            <a:ext cx="640080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</a:rPr>
              <a:t>LG 화학 1동 ECS  |  시스템 구성도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47120" y="6419088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/>
            <a:r>
              <a:rPr sz="900" b="0">
                <a:solidFill>
                  <a:srgbClr val="595959"/>
                </a:solidFill>
                <a:latin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/>
            <a:r>
              <a:rPr sz="2400" b="1">
                <a:solidFill>
                  <a:srgbClr val="1E2761"/>
                </a:solidFill>
                <a:latin typeface="맑은 고딕"/>
              </a:rPr>
              <a:t>입고 플로우차트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49808"/>
            <a:ext cx="1124712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작업 상태(JOB_STATUS)를 따라가는 판단 흐름. 로직1(124) 기준이며 로직2(130)·로직3(122)은 출발 트랙만 다르다.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480560" y="1143000"/>
            <a:ext cx="3566160" cy="502920"/>
          </a:xfrm>
          <a:prstGeom prst="roundRect">
            <a:avLst/>
          </a:prstGeom>
          <a:solidFill>
            <a:srgbClr val="EEF1F7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>
                <a:solidFill>
                  <a:srgbClr val="1E2761"/>
                </a:solidFill>
                <a:latin typeface="맑은 고딕"/>
              </a:rPr>
              <a:t>시작 : 입고대에 파렛트 적재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263640" y="1645920"/>
            <a:ext cx="0" cy="137160"/>
          </a:xfrm>
          <a:prstGeom prst="line">
            <a:avLst/>
          </a:prstGeom>
          <a:ln w="19050">
            <a:solidFill>
              <a:srgbClr val="266EB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4480560" y="1783080"/>
            <a:ext cx="3566160" cy="502920"/>
          </a:xfrm>
          <a:prstGeom prst="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>
                <a:solidFill>
                  <a:srgbClr val="1E2761"/>
                </a:solidFill>
                <a:latin typeface="맑은 고딕"/>
              </a:rPr>
              <a:t>상위 O 전문 수신 · 작업 생성 (99 → 10)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286000" y="1901952"/>
            <a:ext cx="205740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/>
            <a:r>
              <a:rPr sz="1000" b="1">
                <a:solidFill>
                  <a:srgbClr val="266EBE"/>
                </a:solidFill>
                <a:latin typeface="맑은 고딕"/>
              </a:rPr>
              <a:t>상위 통신 · 스케줄러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263640" y="2286000"/>
            <a:ext cx="0" cy="137160"/>
          </a:xfrm>
          <a:prstGeom prst="line">
            <a:avLst/>
          </a:prstGeom>
          <a:ln w="19050">
            <a:solidFill>
              <a:srgbClr val="266EB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4480560" y="2423160"/>
            <a:ext cx="3566160" cy="530352"/>
          </a:xfrm>
          <a:prstGeom prst="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>
                <a:solidFill>
                  <a:srgbClr val="1E2761"/>
                </a:solidFill>
                <a:latin typeface="맑은 고딕"/>
              </a:rPr>
              <a:t>입고대 CV 이송 지시 (10 → 15)</a:t>
            </a:r>
          </a:p>
          <a:p>
            <a:pPr algn="ctr"/>
            <a:r>
              <a:rPr sz="1100" b="1">
                <a:solidFill>
                  <a:srgbClr val="1E2761"/>
                </a:solidFill>
                <a:latin typeface="맑은 고딕"/>
              </a:rPr>
              <a:t>RGV 픽업 트랙 도착 확인 (15 유지)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0" y="2542032"/>
            <a:ext cx="205740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/>
            <a:r>
              <a:rPr sz="1000" b="1">
                <a:solidFill>
                  <a:srgbClr val="266EBE"/>
                </a:solidFill>
                <a:latin typeface="맑은 고딕"/>
              </a:rPr>
              <a:t>스케줄러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263640" y="2953512"/>
            <a:ext cx="0" cy="109728"/>
          </a:xfrm>
          <a:prstGeom prst="line">
            <a:avLst/>
          </a:prstGeom>
          <a:ln w="19050">
            <a:solidFill>
              <a:srgbClr val="266EB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4480560" y="3063240"/>
            <a:ext cx="3566160" cy="530352"/>
          </a:xfrm>
          <a:prstGeom prst="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>
                <a:solidFill>
                  <a:srgbClr val="1E2761"/>
                </a:solidFill>
                <a:latin typeface="맑은 고딕"/>
              </a:rPr>
              <a:t>RGV 반송 (15 → 35 → 39)</a:t>
            </a:r>
          </a:p>
          <a:p>
            <a:pPr algn="ctr"/>
            <a:r>
              <a:rPr sz="1100" b="1">
                <a:solidFill>
                  <a:srgbClr val="1E2761"/>
                </a:solidFill>
                <a:latin typeface="맑은 고딕"/>
              </a:rPr>
              <a:t>픽업 트랙 → 크레인 통로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3182112"/>
            <a:ext cx="205740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/>
            <a:r>
              <a:rPr sz="1000" b="1">
                <a:solidFill>
                  <a:srgbClr val="266EBE"/>
                </a:solidFill>
                <a:latin typeface="맑은 고딕"/>
              </a:rPr>
              <a:t>스케줄러 · RGV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263640" y="3593592"/>
            <a:ext cx="0" cy="109728"/>
          </a:xfrm>
          <a:prstGeom prst="line">
            <a:avLst/>
          </a:prstGeom>
          <a:ln w="19050">
            <a:solidFill>
              <a:srgbClr val="266EB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4480560" y="3703320"/>
            <a:ext cx="3566160" cy="502920"/>
          </a:xfrm>
          <a:prstGeom prst="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>
                <a:solidFill>
                  <a:srgbClr val="1E2761"/>
                </a:solidFill>
                <a:latin typeface="맑은 고딕"/>
              </a:rPr>
              <a:t>도착 트랙 실물 확인 (39 → 15 또는 16)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6000" y="3822191"/>
            <a:ext cx="205740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/>
            <a:r>
              <a:rPr sz="1000" b="1">
                <a:solidFill>
                  <a:srgbClr val="266EBE"/>
                </a:solidFill>
                <a:latin typeface="맑은 고딕"/>
              </a:rPr>
              <a:t>스케줄러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6263640" y="4206240"/>
            <a:ext cx="0" cy="137160"/>
          </a:xfrm>
          <a:prstGeom prst="line">
            <a:avLst/>
          </a:prstGeom>
          <a:ln w="19050">
            <a:solidFill>
              <a:srgbClr val="266EB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4480560" y="4343400"/>
            <a:ext cx="3566160" cy="530352"/>
          </a:xfrm>
          <a:prstGeom prst="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>
                <a:solidFill>
                  <a:srgbClr val="1E2761"/>
                </a:solidFill>
                <a:latin typeface="맑은 고딕"/>
              </a:rPr>
              <a:t>크레인 반송 (→ 25)</a:t>
            </a:r>
          </a:p>
          <a:p>
            <a:pPr algn="ctr"/>
            <a:r>
              <a:rPr sz="1100" b="1">
                <a:solidFill>
                  <a:srgbClr val="1E2761"/>
                </a:solidFill>
                <a:latin typeface="맑은 고딕"/>
              </a:rPr>
              <a:t>S/C측 트랙 → 랙 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86000" y="4462272"/>
            <a:ext cx="205740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/>
            <a:r>
              <a:rPr sz="1000" b="1">
                <a:solidFill>
                  <a:srgbClr val="266EBE"/>
                </a:solidFill>
                <a:latin typeface="맑은 고딕"/>
              </a:rPr>
              <a:t>스케줄러 · 크레인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263640" y="4873752"/>
            <a:ext cx="0" cy="109728"/>
          </a:xfrm>
          <a:prstGeom prst="line">
            <a:avLst/>
          </a:prstGeom>
          <a:ln w="19050">
            <a:solidFill>
              <a:srgbClr val="266EB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4480560" y="4983480"/>
            <a:ext cx="3566160" cy="502920"/>
          </a:xfrm>
          <a:prstGeom prst="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>
                <a:solidFill>
                  <a:srgbClr val="1E2761"/>
                </a:solidFill>
                <a:latin typeface="맑은 고딕"/>
              </a:rPr>
              <a:t>크레인 완료 신호 → 입고 완료 (25 → 09)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86000" y="5102352"/>
            <a:ext cx="205740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/>
            <a:r>
              <a:rPr sz="1000" b="1">
                <a:solidFill>
                  <a:srgbClr val="266EBE"/>
                </a:solidFill>
                <a:latin typeface="맑은 고딕"/>
              </a:rPr>
              <a:t>스케줄러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263640" y="5486400"/>
            <a:ext cx="0" cy="137160"/>
          </a:xfrm>
          <a:prstGeom prst="line">
            <a:avLst/>
          </a:prstGeom>
          <a:ln w="19050">
            <a:solidFill>
              <a:srgbClr val="266EB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4480560" y="5623560"/>
            <a:ext cx="3566160" cy="502920"/>
          </a:xfrm>
          <a:prstGeom prst="roundRect">
            <a:avLst/>
          </a:prstGeom>
          <a:solidFill>
            <a:srgbClr val="EEF1F7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>
                <a:solidFill>
                  <a:srgbClr val="1E2761"/>
                </a:solidFill>
                <a:latin typeface="맑은 고딕"/>
              </a:rPr>
              <a:t>상위 F 전문 보고 → 응답 수신 시 삭제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5742432"/>
            <a:ext cx="205740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/>
            <a:r>
              <a:rPr sz="1000" b="1">
                <a:solidFill>
                  <a:srgbClr val="266EBE"/>
                </a:solidFill>
                <a:latin typeface="맑은 고딕"/>
              </a:rPr>
              <a:t>상위 통신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1143000"/>
            <a:ext cx="3291840" cy="32004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맑은 고딕"/>
              </a:rPr>
              <a:t>■ RGV 지시 전 확인 조건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1508760"/>
            <a:ext cx="32918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① 드롭칸 비어 있음 (칸 단위 2-deep)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03920" y="1810512"/>
            <a:ext cx="32918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② 출발·도착 트랙 H/S 신호 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03920" y="2112264"/>
            <a:ext cx="32918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③ RTV 자동·유휴, 다른 작업 반송 중 아님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03920" y="2414015"/>
            <a:ext cx="32918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④ 픽업 트랙 화물 = 이 작업의 화물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2715768"/>
            <a:ext cx="32918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⑤ 도착 트랙에 착지 기록 대기(39) 작업 없음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03920" y="3017520"/>
            <a:ext cx="32918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⑥ 1호기행 : C/V#2 입고 사용권 확보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503920" y="3383280"/>
            <a:ext cx="3291840" cy="548640"/>
          </a:xfrm>
          <a:prstGeom prst="roundRect">
            <a:avLst/>
          </a:prstGeom>
          <a:solidFill>
            <a:srgbClr val="EEF1F7"/>
          </a:solidFill>
          <a:ln w="15875">
            <a:solidFill>
              <a:srgbClr val="C87A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000" b="1">
                <a:solidFill>
                  <a:srgbClr val="C87A0E"/>
                </a:solidFill>
                <a:latin typeface="맑은 고딕"/>
              </a:rPr>
              <a:t>하나라도 아니면 지시하지 않고</a:t>
            </a:r>
          </a:p>
          <a:p>
            <a:pPr algn="ctr"/>
            <a:r>
              <a:rPr sz="1000" b="1">
                <a:solidFill>
                  <a:srgbClr val="C87A0E"/>
                </a:solidFill>
                <a:latin typeface="맑은 고딕"/>
              </a:rPr>
              <a:t>로그에 보류 사유를 남긴다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4114800"/>
            <a:ext cx="3291840" cy="32004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맑은 고딕"/>
              </a:rPr>
              <a:t>■ 상태 코드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03920" y="4480560"/>
            <a:ext cx="32918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99 신규   10 CV 구동대기   15 CV 구동중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03920" y="4773168"/>
            <a:ext cx="32918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16 통로CV 구동중 ([CNF] IN_HS_STATUS=16)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03920" y="5065776"/>
            <a:ext cx="32918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35 RGV 구동중   39 RGV 구동완료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03920" y="5358384"/>
            <a:ext cx="32918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25 크레인 구동중   09 완료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03920" y="5650992"/>
            <a:ext cx="32918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※ 11 · 21 · 30 · 31 은 폐기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6419088"/>
            <a:ext cx="640080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</a:rPr>
              <a:t>LG 화학 1동 ECS  |  입고 플로우차트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247120" y="6419088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/>
            <a:r>
              <a:rPr sz="900" b="0">
                <a:solidFill>
                  <a:srgbClr val="595959"/>
                </a:solidFill>
                <a:latin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/>
            <a:r>
              <a:rPr sz="2400" b="1">
                <a:solidFill>
                  <a:srgbClr val="1E2761"/>
                </a:solidFill>
                <a:latin typeface="맑은 고딕"/>
              </a:rPr>
              <a:t>입고 플로우 다이어그램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49808"/>
            <a:ext cx="1124712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누가 무엇을 하는지 시간 순서(왼쪽 → 오른쪽)로 본 흐름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1247120" cy="658368"/>
          </a:xfrm>
          <a:prstGeom prst="rect">
            <a:avLst/>
          </a:prstGeom>
          <a:solidFill>
            <a:srgbClr val="EEF1F7"/>
          </a:solidFill>
          <a:ln w="9525">
            <a:solidFill>
              <a:srgbClr val="B6BF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48640" y="1389888"/>
            <a:ext cx="137160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100" b="1">
                <a:solidFill>
                  <a:srgbClr val="1E2761"/>
                </a:solidFill>
                <a:latin typeface="맑은 고딕"/>
              </a:rPr>
              <a:t>WMS / IMS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965960"/>
            <a:ext cx="11247120" cy="658368"/>
          </a:xfrm>
          <a:prstGeom prst="rect">
            <a:avLst/>
          </a:prstGeom>
          <a:solidFill>
            <a:srgbClr val="EEF1F7"/>
          </a:solidFill>
          <a:ln w="9525">
            <a:solidFill>
              <a:srgbClr val="B6BF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48640" y="2167128"/>
            <a:ext cx="137160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100" b="1">
                <a:solidFill>
                  <a:srgbClr val="1E2761"/>
                </a:solidFill>
                <a:latin typeface="맑은 고딕"/>
              </a:rPr>
              <a:t>상위 통신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743200"/>
            <a:ext cx="11247120" cy="658368"/>
          </a:xfrm>
          <a:prstGeom prst="rect">
            <a:avLst/>
          </a:prstGeom>
          <a:solidFill>
            <a:srgbClr val="EEF1F7"/>
          </a:solidFill>
          <a:ln w="9525">
            <a:solidFill>
              <a:srgbClr val="B6BF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48640" y="2944368"/>
            <a:ext cx="137160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100" b="1">
                <a:solidFill>
                  <a:srgbClr val="1E2761"/>
                </a:solidFill>
                <a:latin typeface="맑은 고딕"/>
              </a:rPr>
              <a:t>스케줄러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520440"/>
            <a:ext cx="11247120" cy="658368"/>
          </a:xfrm>
          <a:prstGeom prst="rect">
            <a:avLst/>
          </a:prstGeom>
          <a:solidFill>
            <a:srgbClr val="EEF1F7"/>
          </a:solidFill>
          <a:ln w="9525">
            <a:solidFill>
              <a:srgbClr val="B6BF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48640" y="3721608"/>
            <a:ext cx="137160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100" b="1">
                <a:solidFill>
                  <a:srgbClr val="1E2761"/>
                </a:solidFill>
                <a:latin typeface="맑은 고딕"/>
              </a:rPr>
              <a:t>설비 통신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297680"/>
            <a:ext cx="11247120" cy="658368"/>
          </a:xfrm>
          <a:prstGeom prst="rect">
            <a:avLst/>
          </a:prstGeom>
          <a:solidFill>
            <a:srgbClr val="EEF1F7"/>
          </a:solidFill>
          <a:ln w="9525">
            <a:solidFill>
              <a:srgbClr val="B6BF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48640" y="4498848"/>
            <a:ext cx="137160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100" b="1">
                <a:solidFill>
                  <a:srgbClr val="1E2761"/>
                </a:solidFill>
                <a:latin typeface="맑은 고딕"/>
              </a:rPr>
              <a:t>설비 / PLC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120640"/>
            <a:ext cx="11247120" cy="11887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· 스케줄러는 설비에 직접 말하지 않는다. 지시를 DB(_OD)에 쓰면 설비 통신이 PLC 로 전송한다.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· 설비가 올린 완료 신호는 설비 통신이 관측해 Ack 를 돌려주고 DB(_RD)에 남긴다. 스케줄러는 그 값과 화물 위치를 보고 상태를 올린다.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· 입고는 크레인 완료 즉시 09(완료)가 되고, 상위 응답을 받으면 작업이 삭제된다. 응답이 없으면 RE_REPORT_09_SEC 간격으로 재보고한다.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783080" y="1271016"/>
            <a:ext cx="1325880" cy="493776"/>
          </a:xfrm>
          <a:prstGeom prst="roundRect">
            <a:avLst/>
          </a:prstGeom>
          <a:solidFill>
            <a:srgbClr val="EEF1F7"/>
          </a:solidFill>
          <a:ln w="15875">
            <a:solidFill>
              <a:srgbClr val="266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O 전문</a:t>
            </a:r>
          </a:p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(작업 지시)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441448" y="1847088"/>
            <a:ext cx="0" cy="201167"/>
          </a:xfrm>
          <a:prstGeom prst="line">
            <a:avLst/>
          </a:prstGeom>
          <a:ln w="19050">
            <a:solidFill>
              <a:srgbClr val="266EB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1783080" y="2048255"/>
            <a:ext cx="1325880" cy="493776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66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작업 생성</a:t>
            </a:r>
          </a:p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JOB_MST 99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41448" y="2624328"/>
            <a:ext cx="0" cy="201168"/>
          </a:xfrm>
          <a:prstGeom prst="line">
            <a:avLst/>
          </a:prstGeom>
          <a:ln w="19050">
            <a:solidFill>
              <a:srgbClr val="266EB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3246120" y="2825496"/>
            <a:ext cx="1325880" cy="493776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66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CV 지시</a:t>
            </a:r>
          </a:p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99 → 10 → 15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904487" y="3401568"/>
            <a:ext cx="0" cy="201168"/>
          </a:xfrm>
          <a:prstGeom prst="line">
            <a:avLst/>
          </a:prstGeom>
          <a:ln w="19050">
            <a:solidFill>
              <a:srgbClr val="266EB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3246120" y="3602736"/>
            <a:ext cx="1325880" cy="493776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66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PLC 쓰기</a:t>
            </a:r>
          </a:p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트래킹/목적지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904487" y="4178808"/>
            <a:ext cx="0" cy="201168"/>
          </a:xfrm>
          <a:prstGeom prst="line">
            <a:avLst/>
          </a:prstGeom>
          <a:ln w="19050">
            <a:solidFill>
              <a:srgbClr val="266EB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3246120" y="4379976"/>
            <a:ext cx="1325880" cy="493776"/>
          </a:xfrm>
          <a:prstGeom prst="roundRect">
            <a:avLst/>
          </a:prstGeom>
          <a:solidFill>
            <a:srgbClr val="EEF1F7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컨베이어 이송</a:t>
            </a:r>
          </a:p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→ RGV 픽업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09160" y="2825496"/>
            <a:ext cx="1325880" cy="493776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66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RGV 지시</a:t>
            </a:r>
          </a:p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15 → 35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367528" y="3401568"/>
            <a:ext cx="0" cy="201168"/>
          </a:xfrm>
          <a:prstGeom prst="line">
            <a:avLst/>
          </a:prstGeom>
          <a:ln w="19050">
            <a:solidFill>
              <a:srgbClr val="266EB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4709160" y="3602736"/>
            <a:ext cx="1325880" cy="493776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66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반송지시 전송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367528" y="4178808"/>
            <a:ext cx="0" cy="201168"/>
          </a:xfrm>
          <a:prstGeom prst="line">
            <a:avLst/>
          </a:prstGeom>
          <a:ln w="19050">
            <a:solidFill>
              <a:srgbClr val="266EB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4709160" y="4379976"/>
            <a:ext cx="1325880" cy="493776"/>
          </a:xfrm>
          <a:prstGeom prst="roundRect">
            <a:avLst/>
          </a:prstGeom>
          <a:solidFill>
            <a:srgbClr val="EEF1F7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RGV 반송</a:t>
            </a:r>
          </a:p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통로로 하역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72200" y="4379976"/>
            <a:ext cx="1325880" cy="493776"/>
          </a:xfrm>
          <a:prstGeom prst="roundRect">
            <a:avLst/>
          </a:prstGeom>
          <a:solidFill>
            <a:srgbClr val="EEF1F7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하역 완료 신호</a:t>
            </a:r>
          </a:p>
        </p:txBody>
      </p:sp>
      <p:cxnSp>
        <p:nvCxnSpPr>
          <p:cNvPr id="30" name="Connector 29"/>
          <p:cNvCxnSpPr/>
          <p:nvPr/>
        </p:nvCxnSpPr>
        <p:spPr>
          <a:xfrm flipV="1">
            <a:off x="6830568" y="4178808"/>
            <a:ext cx="0" cy="201168"/>
          </a:xfrm>
          <a:prstGeom prst="line">
            <a:avLst/>
          </a:prstGeom>
          <a:ln w="19050">
            <a:solidFill>
              <a:srgbClr val="2E864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6172200" y="3602736"/>
            <a:ext cx="1325880" cy="493776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E86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완료 관측 · Ack</a:t>
            </a:r>
          </a:p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COMPLETE_RD</a:t>
            </a:r>
          </a:p>
        </p:txBody>
      </p:sp>
      <p:cxnSp>
        <p:nvCxnSpPr>
          <p:cNvPr id="32" name="Connector 31"/>
          <p:cNvCxnSpPr/>
          <p:nvPr/>
        </p:nvCxnSpPr>
        <p:spPr>
          <a:xfrm flipV="1">
            <a:off x="6830568" y="3401568"/>
            <a:ext cx="0" cy="201168"/>
          </a:xfrm>
          <a:prstGeom prst="line">
            <a:avLst/>
          </a:prstGeom>
          <a:ln w="19050">
            <a:solidFill>
              <a:srgbClr val="2E864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6172200" y="2825496"/>
            <a:ext cx="1325880" cy="493776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E86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35 → 39</a:t>
            </a:r>
          </a:p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→ 15/16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635240" y="2825496"/>
            <a:ext cx="1325880" cy="493776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66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크레인 지시</a:t>
            </a:r>
          </a:p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→ 25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8293608" y="3401568"/>
            <a:ext cx="0" cy="201168"/>
          </a:xfrm>
          <a:prstGeom prst="line">
            <a:avLst/>
          </a:prstGeom>
          <a:ln w="19050">
            <a:solidFill>
              <a:srgbClr val="266EB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7635240" y="3602736"/>
            <a:ext cx="1325880" cy="493776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66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반송지시 전송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8293608" y="4178808"/>
            <a:ext cx="0" cy="201168"/>
          </a:xfrm>
          <a:prstGeom prst="line">
            <a:avLst/>
          </a:prstGeom>
          <a:ln w="19050">
            <a:solidFill>
              <a:srgbClr val="266EB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7635240" y="4379976"/>
            <a:ext cx="1325880" cy="493776"/>
          </a:xfrm>
          <a:prstGeom prst="roundRect">
            <a:avLst/>
          </a:prstGeom>
          <a:solidFill>
            <a:srgbClr val="EEF1F7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크레인 적재</a:t>
            </a:r>
          </a:p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셀에 저장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098280" y="4379976"/>
            <a:ext cx="1143000" cy="493776"/>
          </a:xfrm>
          <a:prstGeom prst="roundRect">
            <a:avLst/>
          </a:prstGeom>
          <a:solidFill>
            <a:srgbClr val="EEF1F7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완료 신호</a:t>
            </a:r>
          </a:p>
        </p:txBody>
      </p:sp>
      <p:cxnSp>
        <p:nvCxnSpPr>
          <p:cNvPr id="40" name="Connector 39"/>
          <p:cNvCxnSpPr/>
          <p:nvPr/>
        </p:nvCxnSpPr>
        <p:spPr>
          <a:xfrm flipV="1">
            <a:off x="9665207" y="4178808"/>
            <a:ext cx="0" cy="201168"/>
          </a:xfrm>
          <a:prstGeom prst="line">
            <a:avLst/>
          </a:prstGeom>
          <a:ln w="19050">
            <a:solidFill>
              <a:srgbClr val="2E864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ounded Rectangle 40"/>
          <p:cNvSpPr/>
          <p:nvPr/>
        </p:nvSpPr>
        <p:spPr>
          <a:xfrm>
            <a:off x="9098280" y="3602736"/>
            <a:ext cx="1143000" cy="493776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E86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완료 관측 · Ack</a:t>
            </a:r>
          </a:p>
        </p:txBody>
      </p:sp>
      <p:cxnSp>
        <p:nvCxnSpPr>
          <p:cNvPr id="42" name="Connector 41"/>
          <p:cNvCxnSpPr/>
          <p:nvPr/>
        </p:nvCxnSpPr>
        <p:spPr>
          <a:xfrm flipV="1">
            <a:off x="9665207" y="3401568"/>
            <a:ext cx="0" cy="201168"/>
          </a:xfrm>
          <a:prstGeom prst="line">
            <a:avLst/>
          </a:prstGeom>
          <a:ln w="19050">
            <a:solidFill>
              <a:srgbClr val="2E864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9098280" y="2825496"/>
            <a:ext cx="1143000" cy="493776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E86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25 → 09</a:t>
            </a:r>
          </a:p>
        </p:txBody>
      </p:sp>
      <p:cxnSp>
        <p:nvCxnSpPr>
          <p:cNvPr id="44" name="Connector 43"/>
          <p:cNvCxnSpPr/>
          <p:nvPr/>
        </p:nvCxnSpPr>
        <p:spPr>
          <a:xfrm flipV="1">
            <a:off x="9665207" y="2624328"/>
            <a:ext cx="0" cy="201168"/>
          </a:xfrm>
          <a:prstGeom prst="line">
            <a:avLst/>
          </a:prstGeom>
          <a:ln w="19050">
            <a:solidFill>
              <a:srgbClr val="2E864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ounded Rectangle 44"/>
          <p:cNvSpPr/>
          <p:nvPr/>
        </p:nvSpPr>
        <p:spPr>
          <a:xfrm>
            <a:off x="9098280" y="2048255"/>
            <a:ext cx="1143000" cy="493776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E86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F 전문 보고</a:t>
            </a:r>
          </a:p>
        </p:txBody>
      </p:sp>
      <p:cxnSp>
        <p:nvCxnSpPr>
          <p:cNvPr id="46" name="Connector 45"/>
          <p:cNvCxnSpPr/>
          <p:nvPr/>
        </p:nvCxnSpPr>
        <p:spPr>
          <a:xfrm flipV="1">
            <a:off x="9665207" y="1847088"/>
            <a:ext cx="0" cy="201167"/>
          </a:xfrm>
          <a:prstGeom prst="line">
            <a:avLst/>
          </a:prstGeom>
          <a:ln w="19050">
            <a:solidFill>
              <a:srgbClr val="2E864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ounded Rectangle 46"/>
          <p:cNvSpPr/>
          <p:nvPr/>
        </p:nvSpPr>
        <p:spPr>
          <a:xfrm>
            <a:off x="10378440" y="1271016"/>
            <a:ext cx="1234440" cy="493776"/>
          </a:xfrm>
          <a:prstGeom prst="roundRect">
            <a:avLst/>
          </a:prstGeom>
          <a:solidFill>
            <a:srgbClr val="EEF1F7"/>
          </a:solidFill>
          <a:ln w="15875">
            <a:solidFill>
              <a:srgbClr val="266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응답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0378440" y="2048255"/>
            <a:ext cx="1234440" cy="493776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E86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작업 삭제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10241280" y="1517904"/>
            <a:ext cx="137160" cy="0"/>
          </a:xfrm>
          <a:prstGeom prst="line">
            <a:avLst/>
          </a:prstGeom>
          <a:ln w="19050">
            <a:solidFill>
              <a:srgbClr val="2E864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10991088" y="1847088"/>
            <a:ext cx="0" cy="201167"/>
          </a:xfrm>
          <a:prstGeom prst="line">
            <a:avLst/>
          </a:prstGeom>
          <a:ln w="19050">
            <a:solidFill>
              <a:srgbClr val="2E864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TextBox 50"/>
          <p:cNvSpPr txBox="1"/>
          <p:nvPr/>
        </p:nvSpPr>
        <p:spPr>
          <a:xfrm>
            <a:off x="457200" y="6419088"/>
            <a:ext cx="640080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</a:rPr>
              <a:t>LG 화학 1동 ECS  |  입고 플로우 다이어그램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247120" y="6419088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/>
            <a:r>
              <a:rPr sz="900" b="0">
                <a:solidFill>
                  <a:srgbClr val="595959"/>
                </a:solidFill>
                <a:latin typeface="맑은 고딕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/>
            <a:r>
              <a:rPr sz="2400" b="1">
                <a:solidFill>
                  <a:srgbClr val="1E2761"/>
                </a:solidFill>
                <a:latin typeface="맑은 고딕"/>
              </a:rPr>
              <a:t>출고 플로우차트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49808"/>
            <a:ext cx="1124712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입고의 역순이다. 크레인이 먼저 움직이고, 출고대 RGV측 트랙에 실물이 기록되면 완료다.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480560" y="1143000"/>
            <a:ext cx="3566160" cy="502920"/>
          </a:xfrm>
          <a:prstGeom prst="roundRect">
            <a:avLst/>
          </a:prstGeom>
          <a:solidFill>
            <a:srgbClr val="EEF1F7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>
                <a:solidFill>
                  <a:srgbClr val="1E2761"/>
                </a:solidFill>
                <a:latin typeface="맑은 고딕"/>
              </a:rPr>
              <a:t>시작 : 상위 O 전문(출발 셀 · 도착 작업대)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86000" y="1261872"/>
            <a:ext cx="205740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/>
            <a:r>
              <a:rPr sz="1000" b="1">
                <a:solidFill>
                  <a:srgbClr val="266EBE"/>
                </a:solidFill>
                <a:latin typeface="맑은 고딕"/>
              </a:rPr>
              <a:t>상위 통신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263640" y="1645920"/>
            <a:ext cx="0" cy="137160"/>
          </a:xfrm>
          <a:prstGeom prst="line">
            <a:avLst/>
          </a:prstGeom>
          <a:ln w="19050">
            <a:solidFill>
              <a:srgbClr val="266EB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4480560" y="1783080"/>
            <a:ext cx="3566160" cy="502920"/>
          </a:xfrm>
          <a:prstGeom prst="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>
                <a:solidFill>
                  <a:srgbClr val="1E2761"/>
                </a:solidFill>
                <a:latin typeface="맑은 고딕"/>
              </a:rPr>
              <a:t>작업 생성 (99) → 크레인 구동대기 (20)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0" y="1901952"/>
            <a:ext cx="205740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/>
            <a:r>
              <a:rPr sz="1000" b="1">
                <a:solidFill>
                  <a:srgbClr val="266EBE"/>
                </a:solidFill>
                <a:latin typeface="맑은 고딕"/>
              </a:rPr>
              <a:t>스케줄러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263640" y="2286000"/>
            <a:ext cx="0" cy="137160"/>
          </a:xfrm>
          <a:prstGeom prst="line">
            <a:avLst/>
          </a:prstGeom>
          <a:ln w="19050">
            <a:solidFill>
              <a:srgbClr val="266EB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4480560" y="2423160"/>
            <a:ext cx="3566160" cy="530352"/>
          </a:xfrm>
          <a:prstGeom prst="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>
                <a:solidFill>
                  <a:srgbClr val="1E2761"/>
                </a:solidFill>
                <a:latin typeface="맑은 고딕"/>
              </a:rPr>
              <a:t>크레인 반송 (20 → 25 → 29)</a:t>
            </a:r>
          </a:p>
          <a:p>
            <a:pPr algn="ctr"/>
            <a:r>
              <a:rPr sz="1100" b="1">
                <a:solidFill>
                  <a:srgbClr val="1E2761"/>
                </a:solidFill>
                <a:latin typeface="맑은 고딕"/>
              </a:rPr>
              <a:t>랙 셀 → S/C측 트랙 · 상위 1차 완료보고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0" y="2542032"/>
            <a:ext cx="205740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/>
            <a:r>
              <a:rPr sz="1000" b="1">
                <a:solidFill>
                  <a:srgbClr val="266EBE"/>
                </a:solidFill>
                <a:latin typeface="맑은 고딕"/>
              </a:rPr>
              <a:t>스케줄러 · 크레인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263640" y="2953512"/>
            <a:ext cx="0" cy="109728"/>
          </a:xfrm>
          <a:prstGeom prst="line">
            <a:avLst/>
          </a:prstGeom>
          <a:ln w="19050">
            <a:solidFill>
              <a:srgbClr val="266EB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4480560" y="3063240"/>
            <a:ext cx="3566160" cy="502920"/>
          </a:xfrm>
          <a:prstGeom prst="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>
                <a:solidFill>
                  <a:srgbClr val="1E2761"/>
                </a:solidFill>
                <a:latin typeface="맑은 고딕"/>
              </a:rPr>
              <a:t>H/S 트랙 착지 확인 (29 → 16)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86000" y="3182112"/>
            <a:ext cx="205740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/>
            <a:r>
              <a:rPr sz="1000" b="1">
                <a:solidFill>
                  <a:srgbClr val="266EBE"/>
                </a:solidFill>
                <a:latin typeface="맑은 고딕"/>
              </a:rPr>
              <a:t>스케줄러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6263640" y="3566160"/>
            <a:ext cx="0" cy="137160"/>
          </a:xfrm>
          <a:prstGeom prst="line">
            <a:avLst/>
          </a:prstGeom>
          <a:ln w="19050">
            <a:solidFill>
              <a:srgbClr val="266EB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/>
          <p:cNvSpPr/>
          <p:nvPr/>
        </p:nvSpPr>
        <p:spPr>
          <a:xfrm>
            <a:off x="4480560" y="3703320"/>
            <a:ext cx="3566160" cy="530352"/>
          </a:xfrm>
          <a:prstGeom prst="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>
                <a:solidFill>
                  <a:srgbClr val="1E2761"/>
                </a:solidFill>
                <a:latin typeface="맑은 고딕"/>
              </a:rPr>
              <a:t>RGV 반송 (16 → 35 → 39)</a:t>
            </a:r>
          </a:p>
          <a:p>
            <a:pPr algn="ctr"/>
            <a:r>
              <a:rPr sz="1100" b="1">
                <a:solidFill>
                  <a:srgbClr val="1E2761"/>
                </a:solidFill>
                <a:latin typeface="맑은 고딕"/>
              </a:rPr>
              <a:t>통로 → 출고대 RGV측 트랙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3822191"/>
            <a:ext cx="205740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/>
            <a:r>
              <a:rPr sz="1000" b="1">
                <a:solidFill>
                  <a:srgbClr val="266EBE"/>
                </a:solidFill>
                <a:latin typeface="맑은 고딕"/>
              </a:rPr>
              <a:t>스케줄러 · RGV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263640" y="4233672"/>
            <a:ext cx="0" cy="109728"/>
          </a:xfrm>
          <a:prstGeom prst="line">
            <a:avLst/>
          </a:prstGeom>
          <a:ln w="19050">
            <a:solidFill>
              <a:srgbClr val="266EB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4480560" y="4343400"/>
            <a:ext cx="3566160" cy="502920"/>
          </a:xfrm>
          <a:prstGeom prst="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>
                <a:solidFill>
                  <a:srgbClr val="1E2761"/>
                </a:solidFill>
                <a:latin typeface="맑은 고딕"/>
              </a:rPr>
              <a:t>도착 트랙 작업번호 기록 확인 (39 → 09)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86000" y="4462272"/>
            <a:ext cx="205740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/>
            <a:r>
              <a:rPr sz="1000" b="1">
                <a:solidFill>
                  <a:srgbClr val="266EBE"/>
                </a:solidFill>
                <a:latin typeface="맑은 고딕"/>
              </a:rPr>
              <a:t>스케줄러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263640" y="4846320"/>
            <a:ext cx="0" cy="137160"/>
          </a:xfrm>
          <a:prstGeom prst="line">
            <a:avLst/>
          </a:prstGeom>
          <a:ln w="19050">
            <a:solidFill>
              <a:srgbClr val="266EB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4480560" y="4983480"/>
            <a:ext cx="3566160" cy="502920"/>
          </a:xfrm>
          <a:prstGeom prst="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>
                <a:solidFill>
                  <a:srgbClr val="1E2761"/>
                </a:solidFill>
                <a:latin typeface="맑은 고딕"/>
              </a:rPr>
              <a:t>상위 F 전문 보고 → 응답 수신 시 삭제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6000" y="5102352"/>
            <a:ext cx="205740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/>
            <a:r>
              <a:rPr sz="1000" b="1">
                <a:solidFill>
                  <a:srgbClr val="266EBE"/>
                </a:solidFill>
                <a:latin typeface="맑은 고딕"/>
              </a:rPr>
              <a:t>상위 통신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263640" y="5486400"/>
            <a:ext cx="0" cy="137160"/>
          </a:xfrm>
          <a:prstGeom prst="line">
            <a:avLst/>
          </a:prstGeom>
          <a:ln w="19050">
            <a:solidFill>
              <a:srgbClr val="266EB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4480560" y="5623560"/>
            <a:ext cx="3566160" cy="502920"/>
          </a:xfrm>
          <a:prstGeom prst="roundRect">
            <a:avLst/>
          </a:prstGeom>
          <a:solidFill>
            <a:srgbClr val="EEF1F7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>
                <a:solidFill>
                  <a:srgbClr val="1E2761"/>
                </a:solidFill>
                <a:latin typeface="맑은 고딕"/>
              </a:rPr>
              <a:t>출고대에서 지게차 반출 (ECS 책임 밖)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86000" y="5742432"/>
            <a:ext cx="205740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/>
            <a:r>
              <a:rPr sz="1000" b="1">
                <a:solidFill>
                  <a:srgbClr val="266EBE"/>
                </a:solidFill>
                <a:latin typeface="맑은 고딕"/>
              </a:rPr>
              <a:t>작업자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1143000"/>
            <a:ext cx="3291840" cy="32004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맑은 고딕"/>
              </a:rPr>
              <a:t>■ 출고 작업대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03920" y="1508760"/>
            <a:ext cx="32918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126 원부자재 불출대 (C/V#13, 로직1)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03920" y="1801368"/>
            <a:ext cx="32918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129 피킹 작업대 (C/V#14, 로직2)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03920" y="2093976"/>
            <a:ext cx="32918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122 입출고 겸용대 (C/V#11, 로직3)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503920" y="2487168"/>
            <a:ext cx="3291840" cy="960120"/>
          </a:xfrm>
          <a:prstGeom prst="roundRect">
            <a:avLst/>
          </a:prstGeom>
          <a:solidFill>
            <a:srgbClr val="EEF1F7"/>
          </a:solidFill>
          <a:ln w="15875">
            <a:solidFill>
              <a:srgbClr val="C87A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950" b="1">
                <a:solidFill>
                  <a:srgbClr val="C87A0E"/>
                </a:solidFill>
                <a:latin typeface="맑은 고딕"/>
              </a:rPr>
              <a:t>크레인 출고 지시 전 확인</a:t>
            </a:r>
          </a:p>
          <a:p>
            <a:pPr algn="ctr"/>
            <a:r>
              <a:rPr sz="950" b="1">
                <a:solidFill>
                  <a:srgbClr val="C87A0E"/>
                </a:solidFill>
                <a:latin typeface="맑은 고딕"/>
              </a:rPr>
              <a:t>크레인 유휴 · 출고 H/S ON · 하차 트랙 빔</a:t>
            </a:r>
          </a:p>
          <a:p>
            <a:pPr algn="ctr"/>
            <a:r>
              <a:rPr sz="950" b="1">
                <a:solidFill>
                  <a:srgbClr val="C87A0E"/>
                </a:solidFill>
                <a:latin typeface="맑은 고딕"/>
              </a:rPr>
              <a:t>같은 크레인 출고가 CV 구간에 2건 미만</a:t>
            </a:r>
          </a:p>
          <a:p>
            <a:pPr algn="ctr"/>
            <a:r>
              <a:rPr sz="950" b="1">
                <a:solidFill>
                  <a:srgbClr val="C87A0E"/>
                </a:solidFill>
                <a:latin typeface="맑은 고딕"/>
              </a:rPr>
              <a:t>크레인당 사이클 1건 · 1호기는 출고 사용권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03920" y="3611880"/>
            <a:ext cx="3291840" cy="32004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맑은 고딕"/>
              </a:rPr>
              <a:t>■ 상태 코드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03920" y="3977639"/>
            <a:ext cx="32918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99 신규   20 크레인 대기   25 구동중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4270248"/>
            <a:ext cx="32918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29 크레인 완료(출고 1차 - 랙 셀 해제)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03920" y="4562855"/>
            <a:ext cx="32918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16 통로CV 구동중   35 · 39 RGV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03920" y="4855464"/>
            <a:ext cx="32918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09 완료 → 응답 시 삭제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03920" y="5148072"/>
            <a:ext cx="32918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※ 출고대 신호 경로 : 15 → 19 → 09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6419088"/>
            <a:ext cx="640080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</a:rPr>
              <a:t>LG 화학 1동 ECS  |  출고 플로우차트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47120" y="6419088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/>
            <a:r>
              <a:rPr sz="900" b="0">
                <a:solidFill>
                  <a:srgbClr val="595959"/>
                </a:solidFill>
                <a:latin typeface="맑은 고딕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/>
            <a:r>
              <a:rPr sz="2400" b="1">
                <a:solidFill>
                  <a:srgbClr val="1E2761"/>
                </a:solidFill>
                <a:latin typeface="맑은 고딕"/>
              </a:rPr>
              <a:t>출고 플로우 다이어그램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49808"/>
            <a:ext cx="1124712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누가 무엇을 하는지 시간 순서(왼쪽 → 오른쪽)로 본 흐름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1247120" cy="658368"/>
          </a:xfrm>
          <a:prstGeom prst="rect">
            <a:avLst/>
          </a:prstGeom>
          <a:solidFill>
            <a:srgbClr val="EEF1F7"/>
          </a:solidFill>
          <a:ln w="9525">
            <a:solidFill>
              <a:srgbClr val="B6BF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548640" y="1389888"/>
            <a:ext cx="137160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100" b="1">
                <a:solidFill>
                  <a:srgbClr val="1E2761"/>
                </a:solidFill>
                <a:latin typeface="맑은 고딕"/>
              </a:rPr>
              <a:t>WMS / IMS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965960"/>
            <a:ext cx="11247120" cy="658368"/>
          </a:xfrm>
          <a:prstGeom prst="rect">
            <a:avLst/>
          </a:prstGeom>
          <a:solidFill>
            <a:srgbClr val="EEF1F7"/>
          </a:solidFill>
          <a:ln w="9525">
            <a:solidFill>
              <a:srgbClr val="B6BF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548640" y="2167128"/>
            <a:ext cx="137160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100" b="1">
                <a:solidFill>
                  <a:srgbClr val="1E2761"/>
                </a:solidFill>
                <a:latin typeface="맑은 고딕"/>
              </a:rPr>
              <a:t>상위 통신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743200"/>
            <a:ext cx="11247120" cy="658368"/>
          </a:xfrm>
          <a:prstGeom prst="rect">
            <a:avLst/>
          </a:prstGeom>
          <a:solidFill>
            <a:srgbClr val="EEF1F7"/>
          </a:solidFill>
          <a:ln w="9525">
            <a:solidFill>
              <a:srgbClr val="B6BF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548640" y="2944368"/>
            <a:ext cx="137160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100" b="1">
                <a:solidFill>
                  <a:srgbClr val="1E2761"/>
                </a:solidFill>
                <a:latin typeface="맑은 고딕"/>
              </a:rPr>
              <a:t>스케줄러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520440"/>
            <a:ext cx="11247120" cy="658368"/>
          </a:xfrm>
          <a:prstGeom prst="rect">
            <a:avLst/>
          </a:prstGeom>
          <a:solidFill>
            <a:srgbClr val="EEF1F7"/>
          </a:solidFill>
          <a:ln w="9525">
            <a:solidFill>
              <a:srgbClr val="B6BF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548640" y="3721608"/>
            <a:ext cx="137160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100" b="1">
                <a:solidFill>
                  <a:srgbClr val="1E2761"/>
                </a:solidFill>
                <a:latin typeface="맑은 고딕"/>
              </a:rPr>
              <a:t>설비 통신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297680"/>
            <a:ext cx="11247120" cy="658368"/>
          </a:xfrm>
          <a:prstGeom prst="rect">
            <a:avLst/>
          </a:prstGeom>
          <a:solidFill>
            <a:srgbClr val="EEF1F7"/>
          </a:solidFill>
          <a:ln w="9525">
            <a:solidFill>
              <a:srgbClr val="B6BF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548640" y="4498848"/>
            <a:ext cx="137160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100" b="1">
                <a:solidFill>
                  <a:srgbClr val="1E2761"/>
                </a:solidFill>
                <a:latin typeface="맑은 고딕"/>
              </a:rPr>
              <a:t>설비 / PLC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120640"/>
            <a:ext cx="11247120" cy="11887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· 출고는 크레인이 먼저 움직인다. 크레인이 통로에 내려놓으면 컨베이어와 RGV 가 출고대까지 이어 나른다.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· 크레인 완료(29) 때 상위에 1차 완료보고를 보낸다(랙 셀 해제). 상태는 그대로 두고 작업은 계속 진행한다.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· RTV 완료만으로 끝내지 않는다. 출고대 RGV측 트랙에 작업번호가 실제로 기록된 것을 확인한 뒤 09 로 완료한다.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783080" y="1271016"/>
            <a:ext cx="1325880" cy="493776"/>
          </a:xfrm>
          <a:prstGeom prst="roundRect">
            <a:avLst/>
          </a:prstGeom>
          <a:solidFill>
            <a:srgbClr val="EEF1F7"/>
          </a:solidFill>
          <a:ln w="15875">
            <a:solidFill>
              <a:srgbClr val="266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O 전문</a:t>
            </a:r>
          </a:p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(출고 지시)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441448" y="1847088"/>
            <a:ext cx="0" cy="201167"/>
          </a:xfrm>
          <a:prstGeom prst="line">
            <a:avLst/>
          </a:prstGeom>
          <a:ln w="19050">
            <a:solidFill>
              <a:srgbClr val="266EB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1783080" y="2048255"/>
            <a:ext cx="1325880" cy="493776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66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작업 생성</a:t>
            </a:r>
          </a:p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JOB_MST 99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41448" y="2624328"/>
            <a:ext cx="0" cy="201168"/>
          </a:xfrm>
          <a:prstGeom prst="line">
            <a:avLst/>
          </a:prstGeom>
          <a:ln w="19050">
            <a:solidFill>
              <a:srgbClr val="266EB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3246120" y="2825496"/>
            <a:ext cx="1325880" cy="493776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66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크레인 지시</a:t>
            </a:r>
          </a:p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99 → 20 → 25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904487" y="3401568"/>
            <a:ext cx="0" cy="201168"/>
          </a:xfrm>
          <a:prstGeom prst="line">
            <a:avLst/>
          </a:prstGeom>
          <a:ln w="19050">
            <a:solidFill>
              <a:srgbClr val="266EB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3246120" y="3602736"/>
            <a:ext cx="1325880" cy="493776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66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반송지시 전송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904487" y="4178808"/>
            <a:ext cx="0" cy="201168"/>
          </a:xfrm>
          <a:prstGeom prst="line">
            <a:avLst/>
          </a:prstGeom>
          <a:ln w="19050">
            <a:solidFill>
              <a:srgbClr val="266EB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3246120" y="4379976"/>
            <a:ext cx="1325880" cy="493776"/>
          </a:xfrm>
          <a:prstGeom prst="roundRect">
            <a:avLst/>
          </a:prstGeom>
          <a:solidFill>
            <a:srgbClr val="EEF1F7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크레인 출고</a:t>
            </a:r>
          </a:p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셀 → 트랙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709160" y="4379976"/>
            <a:ext cx="1325880" cy="493776"/>
          </a:xfrm>
          <a:prstGeom prst="roundRect">
            <a:avLst/>
          </a:prstGeom>
          <a:solidFill>
            <a:srgbClr val="EEF1F7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완료 신호</a:t>
            </a:r>
          </a:p>
        </p:txBody>
      </p:sp>
      <p:cxnSp>
        <p:nvCxnSpPr>
          <p:cNvPr id="25" name="Connector 24"/>
          <p:cNvCxnSpPr/>
          <p:nvPr/>
        </p:nvCxnSpPr>
        <p:spPr>
          <a:xfrm flipV="1">
            <a:off x="5367528" y="4178808"/>
            <a:ext cx="0" cy="201168"/>
          </a:xfrm>
          <a:prstGeom prst="line">
            <a:avLst/>
          </a:prstGeom>
          <a:ln w="19050">
            <a:solidFill>
              <a:srgbClr val="2E864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4709160" y="3602736"/>
            <a:ext cx="1325880" cy="493776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E86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완료 관측 · Ack</a:t>
            </a:r>
          </a:p>
        </p:txBody>
      </p:sp>
      <p:cxnSp>
        <p:nvCxnSpPr>
          <p:cNvPr id="27" name="Connector 26"/>
          <p:cNvCxnSpPr/>
          <p:nvPr/>
        </p:nvCxnSpPr>
        <p:spPr>
          <a:xfrm flipV="1">
            <a:off x="5367528" y="3401568"/>
            <a:ext cx="0" cy="201168"/>
          </a:xfrm>
          <a:prstGeom prst="line">
            <a:avLst/>
          </a:prstGeom>
          <a:ln w="19050">
            <a:solidFill>
              <a:srgbClr val="2E864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4709160" y="2825496"/>
            <a:ext cx="1325880" cy="493776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E86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25 → 29</a:t>
            </a:r>
          </a:p>
        </p:txBody>
      </p:sp>
      <p:cxnSp>
        <p:nvCxnSpPr>
          <p:cNvPr id="29" name="Connector 28"/>
          <p:cNvCxnSpPr/>
          <p:nvPr/>
        </p:nvCxnSpPr>
        <p:spPr>
          <a:xfrm flipV="1">
            <a:off x="5367528" y="2624328"/>
            <a:ext cx="0" cy="201168"/>
          </a:xfrm>
          <a:prstGeom prst="line">
            <a:avLst/>
          </a:prstGeom>
          <a:ln w="19050">
            <a:solidFill>
              <a:srgbClr val="2E864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4709160" y="2048255"/>
            <a:ext cx="1325880" cy="493776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E86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1차 완료보고 F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72200" y="2825496"/>
            <a:ext cx="1325880" cy="493776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66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착지 29 → 16</a:t>
            </a:r>
          </a:p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RGV 지시 → 35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830568" y="3401568"/>
            <a:ext cx="0" cy="201168"/>
          </a:xfrm>
          <a:prstGeom prst="line">
            <a:avLst/>
          </a:prstGeom>
          <a:ln w="19050">
            <a:solidFill>
              <a:srgbClr val="266EB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6172200" y="3602736"/>
            <a:ext cx="1325880" cy="493776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66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반송지시 전송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830568" y="4178808"/>
            <a:ext cx="0" cy="201168"/>
          </a:xfrm>
          <a:prstGeom prst="line">
            <a:avLst/>
          </a:prstGeom>
          <a:ln w="19050">
            <a:solidFill>
              <a:srgbClr val="266EB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/>
          <p:cNvSpPr/>
          <p:nvPr/>
        </p:nvSpPr>
        <p:spPr>
          <a:xfrm>
            <a:off x="6172200" y="4379976"/>
            <a:ext cx="1325880" cy="493776"/>
          </a:xfrm>
          <a:prstGeom prst="roundRect">
            <a:avLst/>
          </a:prstGeom>
          <a:solidFill>
            <a:srgbClr val="EEF1F7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RGV 반송</a:t>
            </a:r>
          </a:p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→ 출고대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635240" y="4379976"/>
            <a:ext cx="1325880" cy="493776"/>
          </a:xfrm>
          <a:prstGeom prst="roundRect">
            <a:avLst/>
          </a:prstGeom>
          <a:solidFill>
            <a:srgbClr val="EEF1F7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하역 완료 신호</a:t>
            </a:r>
          </a:p>
        </p:txBody>
      </p:sp>
      <p:cxnSp>
        <p:nvCxnSpPr>
          <p:cNvPr id="37" name="Connector 36"/>
          <p:cNvCxnSpPr/>
          <p:nvPr/>
        </p:nvCxnSpPr>
        <p:spPr>
          <a:xfrm flipV="1">
            <a:off x="8293608" y="4178808"/>
            <a:ext cx="0" cy="201168"/>
          </a:xfrm>
          <a:prstGeom prst="line">
            <a:avLst/>
          </a:prstGeom>
          <a:ln w="19050">
            <a:solidFill>
              <a:srgbClr val="2E864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7635240" y="3602736"/>
            <a:ext cx="1325880" cy="493776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E86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완료 관측 · Ack</a:t>
            </a:r>
          </a:p>
        </p:txBody>
      </p:sp>
      <p:cxnSp>
        <p:nvCxnSpPr>
          <p:cNvPr id="39" name="Connector 38"/>
          <p:cNvCxnSpPr/>
          <p:nvPr/>
        </p:nvCxnSpPr>
        <p:spPr>
          <a:xfrm flipV="1">
            <a:off x="8293608" y="3401568"/>
            <a:ext cx="0" cy="201168"/>
          </a:xfrm>
          <a:prstGeom prst="line">
            <a:avLst/>
          </a:prstGeom>
          <a:ln w="19050">
            <a:solidFill>
              <a:srgbClr val="2E864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7635240" y="2825496"/>
            <a:ext cx="1325880" cy="493776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E86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35 → 39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9098280" y="4379976"/>
            <a:ext cx="1143000" cy="493776"/>
          </a:xfrm>
          <a:prstGeom prst="roundRect">
            <a:avLst/>
          </a:prstGeom>
          <a:solidFill>
            <a:srgbClr val="EEF1F7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트랙 작업번호</a:t>
            </a:r>
          </a:p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기록</a:t>
            </a:r>
          </a:p>
        </p:txBody>
      </p:sp>
      <p:cxnSp>
        <p:nvCxnSpPr>
          <p:cNvPr id="42" name="Connector 41"/>
          <p:cNvCxnSpPr/>
          <p:nvPr/>
        </p:nvCxnSpPr>
        <p:spPr>
          <a:xfrm flipV="1">
            <a:off x="9665207" y="4178808"/>
            <a:ext cx="0" cy="201168"/>
          </a:xfrm>
          <a:prstGeom prst="line">
            <a:avLst/>
          </a:prstGeom>
          <a:ln w="19050">
            <a:solidFill>
              <a:srgbClr val="2E864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9098280" y="3602736"/>
            <a:ext cx="1143000" cy="493776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E86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기록 관측</a:t>
            </a:r>
          </a:p>
        </p:txBody>
      </p:sp>
      <p:cxnSp>
        <p:nvCxnSpPr>
          <p:cNvPr id="44" name="Connector 43"/>
          <p:cNvCxnSpPr/>
          <p:nvPr/>
        </p:nvCxnSpPr>
        <p:spPr>
          <a:xfrm flipV="1">
            <a:off x="9665207" y="3401568"/>
            <a:ext cx="0" cy="201168"/>
          </a:xfrm>
          <a:prstGeom prst="line">
            <a:avLst/>
          </a:prstGeom>
          <a:ln w="19050">
            <a:solidFill>
              <a:srgbClr val="2E864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ounded Rectangle 44"/>
          <p:cNvSpPr/>
          <p:nvPr/>
        </p:nvSpPr>
        <p:spPr>
          <a:xfrm>
            <a:off x="9098280" y="2825496"/>
            <a:ext cx="1143000" cy="493776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E86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39 → 09</a:t>
            </a:r>
          </a:p>
        </p:txBody>
      </p:sp>
      <p:cxnSp>
        <p:nvCxnSpPr>
          <p:cNvPr id="46" name="Connector 45"/>
          <p:cNvCxnSpPr/>
          <p:nvPr/>
        </p:nvCxnSpPr>
        <p:spPr>
          <a:xfrm flipV="1">
            <a:off x="9665207" y="2624328"/>
            <a:ext cx="0" cy="201168"/>
          </a:xfrm>
          <a:prstGeom prst="line">
            <a:avLst/>
          </a:prstGeom>
          <a:ln w="19050">
            <a:solidFill>
              <a:srgbClr val="2E864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ounded Rectangle 46"/>
          <p:cNvSpPr/>
          <p:nvPr/>
        </p:nvSpPr>
        <p:spPr>
          <a:xfrm>
            <a:off x="9098280" y="2048255"/>
            <a:ext cx="1143000" cy="493776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E86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F 전문 보고</a:t>
            </a:r>
          </a:p>
        </p:txBody>
      </p:sp>
      <p:cxnSp>
        <p:nvCxnSpPr>
          <p:cNvPr id="48" name="Connector 47"/>
          <p:cNvCxnSpPr/>
          <p:nvPr/>
        </p:nvCxnSpPr>
        <p:spPr>
          <a:xfrm flipV="1">
            <a:off x="9665207" y="1847088"/>
            <a:ext cx="0" cy="201167"/>
          </a:xfrm>
          <a:prstGeom prst="line">
            <a:avLst/>
          </a:prstGeom>
          <a:ln w="19050">
            <a:solidFill>
              <a:srgbClr val="2E864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ounded Rectangle 48"/>
          <p:cNvSpPr/>
          <p:nvPr/>
        </p:nvSpPr>
        <p:spPr>
          <a:xfrm>
            <a:off x="10378440" y="1271016"/>
            <a:ext cx="1234440" cy="493776"/>
          </a:xfrm>
          <a:prstGeom prst="roundRect">
            <a:avLst/>
          </a:prstGeom>
          <a:solidFill>
            <a:srgbClr val="EEF1F7"/>
          </a:solidFill>
          <a:ln w="15875">
            <a:solidFill>
              <a:srgbClr val="266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응답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0378440" y="2048255"/>
            <a:ext cx="1234440" cy="493776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E86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작업 삭제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10241280" y="1517904"/>
            <a:ext cx="137160" cy="0"/>
          </a:xfrm>
          <a:prstGeom prst="line">
            <a:avLst/>
          </a:prstGeom>
          <a:ln w="19050">
            <a:solidFill>
              <a:srgbClr val="2E864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10991088" y="1847088"/>
            <a:ext cx="0" cy="201167"/>
          </a:xfrm>
          <a:prstGeom prst="line">
            <a:avLst/>
          </a:prstGeom>
          <a:ln w="19050">
            <a:solidFill>
              <a:srgbClr val="2E864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457200" y="6419088"/>
            <a:ext cx="640080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</a:rPr>
              <a:t>LG 화학 1동 ECS  |  출고 플로우 다이어그램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247120" y="6419088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/>
            <a:r>
              <a:rPr sz="900" b="0">
                <a:solidFill>
                  <a:srgbClr val="595959"/>
                </a:solidFill>
                <a:latin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/>
            <a:r>
              <a:rPr sz="2400" b="1">
                <a:solidFill>
                  <a:srgbClr val="1E2761"/>
                </a:solidFill>
                <a:latin typeface="맑은 고딕"/>
              </a:rPr>
              <a:t>S/C#1 통로(C/V#2) 방향 전환 - 통로 사용권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49808"/>
            <a:ext cx="1124712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입고 드롭(103→104)과 출고 반출(104→103)이 한 통로를 쓴다. 현장 설정 [CNF] CV2_DIR_MODE=2 : 지시를 낼 때만 방향을 바꾼다.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356616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100" b="1">
                <a:solidFill>
                  <a:srgbClr val="1E2761"/>
                </a:solidFill>
                <a:latin typeface="맑은 고딕"/>
              </a:rPr>
              <a:t>출고 - DriveSC (크레인 1호기 출고 후보 20)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417320"/>
            <a:ext cx="2377440" cy="475488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7A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900" b="1">
                <a:solidFill>
                  <a:srgbClr val="1E2761"/>
                </a:solidFill>
                <a:latin typeface="맑은 고딕"/>
              </a:rPr>
              <a:t>입고 사용권 또는 입고 예약?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834640" y="1655064"/>
            <a:ext cx="320040" cy="0"/>
          </a:xfrm>
          <a:prstGeom prst="line">
            <a:avLst/>
          </a:prstGeom>
          <a:ln w="15875">
            <a:solidFill>
              <a:srgbClr val="B02E2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3182112" y="1536192"/>
            <a:ext cx="114300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850" b="1">
                <a:solidFill>
                  <a:srgbClr val="B02E2E"/>
                </a:solidFill>
                <a:latin typeface="맑은 고딕"/>
              </a:rPr>
              <a:t>있음 → 보류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645920" y="1892808"/>
            <a:ext cx="0" cy="164592"/>
          </a:xfrm>
          <a:prstGeom prst="line">
            <a:avLst/>
          </a:prstGeom>
          <a:ln w="15875">
            <a:solidFill>
              <a:srgbClr val="266EB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57200" y="2057400"/>
            <a:ext cx="2377440" cy="475488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7A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900" b="1">
                <a:solidFill>
                  <a:srgbClr val="1E2761"/>
                </a:solidFill>
                <a:latin typeface="맑은 고딕"/>
              </a:rPr>
              <a:t>CV2_FAIR=1 이고</a:t>
            </a:r>
          </a:p>
          <a:p>
            <a:pPr algn="ctr"/>
            <a:r>
              <a:rPr sz="900" b="1">
                <a:solidFill>
                  <a:srgbClr val="1E2761"/>
                </a:solidFill>
                <a:latin typeface="맑은 고딕"/>
              </a:rPr>
              <a:t>입고가 더 오래 기다림?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834640" y="2295144"/>
            <a:ext cx="320040" cy="0"/>
          </a:xfrm>
          <a:prstGeom prst="line">
            <a:avLst/>
          </a:prstGeom>
          <a:ln w="15875">
            <a:solidFill>
              <a:srgbClr val="B02E2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3182112" y="2176272"/>
            <a:ext cx="114300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850" b="1">
                <a:solidFill>
                  <a:srgbClr val="B02E2E"/>
                </a:solidFill>
                <a:latin typeface="맑은 고딕"/>
              </a:rPr>
              <a:t>예 → 보류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645920" y="2532888"/>
            <a:ext cx="0" cy="164592"/>
          </a:xfrm>
          <a:prstGeom prst="line">
            <a:avLst/>
          </a:prstGeom>
          <a:ln w="15875">
            <a:solidFill>
              <a:srgbClr val="266EB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57200" y="2697480"/>
            <a:ext cx="2377440" cy="475488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66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900" b="1">
                <a:solidFill>
                  <a:srgbClr val="1E2761"/>
                </a:solidFill>
                <a:latin typeface="맑은 고딕"/>
              </a:rPr>
              <a:t>출고 예약 (20초)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645920" y="3172968"/>
            <a:ext cx="0" cy="164592"/>
          </a:xfrm>
          <a:prstGeom prst="line">
            <a:avLst/>
          </a:prstGeom>
          <a:ln w="15875">
            <a:solidFill>
              <a:srgbClr val="266EB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457200" y="3337560"/>
            <a:ext cx="2377440" cy="475488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66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900" b="1">
                <a:solidFill>
                  <a:srgbClr val="1E2761"/>
                </a:solidFill>
                <a:latin typeface="맑은 고딕"/>
              </a:rPr>
              <a:t>통로 방향 ≠ 출고?</a:t>
            </a:r>
          </a:p>
          <a:p>
            <a:pPr algn="ctr"/>
            <a:r>
              <a:rPr sz="900" b="1">
                <a:solidFill>
                  <a:srgbClr val="1E2761"/>
                </a:solidFill>
                <a:latin typeface="맑은 고딕"/>
              </a:rPr>
              <a:t>→ DIR(1) 기록, 다음 사이클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645920" y="3813048"/>
            <a:ext cx="0" cy="164591"/>
          </a:xfrm>
          <a:prstGeom prst="line">
            <a:avLst/>
          </a:prstGeom>
          <a:ln w="15875">
            <a:solidFill>
              <a:srgbClr val="266EB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457200" y="3977640"/>
            <a:ext cx="2377440" cy="475488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E86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900" b="1">
                <a:solidFill>
                  <a:srgbClr val="1E2761"/>
                </a:solidFill>
                <a:latin typeface="맑은 고딕"/>
              </a:rPr>
              <a:t>출고 H/S ON → 크레인 지시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1645920" y="4453128"/>
            <a:ext cx="0" cy="164592"/>
          </a:xfrm>
          <a:prstGeom prst="line">
            <a:avLst/>
          </a:prstGeom>
          <a:ln w="15875">
            <a:solidFill>
              <a:srgbClr val="266EB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457200" y="4617720"/>
            <a:ext cx="2377440" cy="475488"/>
          </a:xfrm>
          <a:prstGeom prst="roundRect">
            <a:avLst/>
          </a:prstGeom>
          <a:solidFill>
            <a:srgbClr val="EEF1F7"/>
          </a:solidFill>
          <a:ln w="15875">
            <a:solidFill>
              <a:srgbClr val="2E86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900" b="1">
                <a:solidFill>
                  <a:srgbClr val="1E2761"/>
                </a:solidFill>
                <a:latin typeface="맑은 고딕"/>
              </a:rPr>
              <a:t>25 = 출고 사용권</a:t>
            </a:r>
          </a:p>
          <a:p>
            <a:pPr algn="ctr"/>
            <a:r>
              <a:rPr sz="900" b="1">
                <a:solidFill>
                  <a:srgbClr val="1E2761"/>
                </a:solidFill>
                <a:latin typeface="맑은 고딕"/>
              </a:rPr>
              <a:t>(25 · 29 · 16, 35+통로 위 실물)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870448"/>
            <a:ext cx="3566160" cy="45720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50" b="1">
                <a:solidFill>
                  <a:srgbClr val="2E864B"/>
                </a:solidFill>
                <a:latin typeface="맑은 고딕"/>
              </a:rPr>
              <a:t>풀림 : RTV 가 출고 화물을 싣고 통로를 벗어날 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60520" y="1097280"/>
            <a:ext cx="3749039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100" b="1">
                <a:solidFill>
                  <a:srgbClr val="1E2761"/>
                </a:solidFill>
                <a:latin typeface="맑은 고딕"/>
              </a:rPr>
              <a:t>입고 - DriveRGV (1호기행 입고 후보 15/16)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60520" y="1417320"/>
            <a:ext cx="2377440" cy="475488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7A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900" b="1">
                <a:solidFill>
                  <a:srgbClr val="1E2761"/>
                </a:solidFill>
                <a:latin typeface="맑은 고딕"/>
              </a:rPr>
              <a:t>출고 사용권 또는 출고 예약?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537960" y="1655064"/>
            <a:ext cx="320040" cy="0"/>
          </a:xfrm>
          <a:prstGeom prst="line">
            <a:avLst/>
          </a:prstGeom>
          <a:ln w="15875">
            <a:solidFill>
              <a:srgbClr val="B02E2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6885432" y="1536192"/>
            <a:ext cx="114300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850" b="1">
                <a:solidFill>
                  <a:srgbClr val="B02E2E"/>
                </a:solidFill>
                <a:latin typeface="맑은 고딕"/>
              </a:rPr>
              <a:t>있음 → 보류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349240" y="1892808"/>
            <a:ext cx="0" cy="164592"/>
          </a:xfrm>
          <a:prstGeom prst="line">
            <a:avLst/>
          </a:prstGeom>
          <a:ln w="15875">
            <a:solidFill>
              <a:srgbClr val="266EB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4160520" y="2057400"/>
            <a:ext cx="2377440" cy="475488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7A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900" b="1">
                <a:solidFill>
                  <a:srgbClr val="1E2761"/>
                </a:solidFill>
                <a:latin typeface="맑은 고딕"/>
              </a:rPr>
              <a:t>FAIR=0 : 대기 출고 + 1호기 정상?</a:t>
            </a:r>
          </a:p>
          <a:p>
            <a:pPr algn="ctr"/>
            <a:r>
              <a:rPr sz="900" b="1">
                <a:solidFill>
                  <a:srgbClr val="1E2761"/>
                </a:solidFill>
                <a:latin typeface="맑은 고딕"/>
              </a:rPr>
              <a:t>FAIR=1 : 출고가 더 오래?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537960" y="2295144"/>
            <a:ext cx="320040" cy="0"/>
          </a:xfrm>
          <a:prstGeom prst="line">
            <a:avLst/>
          </a:prstGeom>
          <a:ln w="15875">
            <a:solidFill>
              <a:srgbClr val="B02E2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885432" y="2176272"/>
            <a:ext cx="114300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850" b="1">
                <a:solidFill>
                  <a:srgbClr val="B02E2E"/>
                </a:solidFill>
                <a:latin typeface="맑은 고딕"/>
              </a:rPr>
              <a:t>예 → 양보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349240" y="2532888"/>
            <a:ext cx="0" cy="164592"/>
          </a:xfrm>
          <a:prstGeom prst="line">
            <a:avLst/>
          </a:prstGeom>
          <a:ln w="15875">
            <a:solidFill>
              <a:srgbClr val="266EB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4160520" y="2697480"/>
            <a:ext cx="2377440" cy="475488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66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900" b="1">
                <a:solidFill>
                  <a:srgbClr val="1E2761"/>
                </a:solidFill>
                <a:latin typeface="맑은 고딕"/>
              </a:rPr>
              <a:t>입고 예약 (20초)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349240" y="3172968"/>
            <a:ext cx="0" cy="164592"/>
          </a:xfrm>
          <a:prstGeom prst="line">
            <a:avLst/>
          </a:prstGeom>
          <a:ln w="15875">
            <a:solidFill>
              <a:srgbClr val="266EB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4160520" y="3337560"/>
            <a:ext cx="2377440" cy="475488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66EB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900" b="1">
                <a:solidFill>
                  <a:srgbClr val="1E2761"/>
                </a:solidFill>
                <a:latin typeface="맑은 고딕"/>
              </a:rPr>
              <a:t>통로 방향 ≠ 입고?</a:t>
            </a:r>
          </a:p>
          <a:p>
            <a:pPr algn="ctr"/>
            <a:r>
              <a:rPr sz="900" b="1">
                <a:solidFill>
                  <a:srgbClr val="1E2761"/>
                </a:solidFill>
                <a:latin typeface="맑은 고딕"/>
              </a:rPr>
              <a:t>→ DIR(0) 기록, 다음 사이클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5349240" y="3813048"/>
            <a:ext cx="0" cy="164591"/>
          </a:xfrm>
          <a:prstGeom prst="line">
            <a:avLst/>
          </a:prstGeom>
          <a:ln w="15875">
            <a:solidFill>
              <a:srgbClr val="266EB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4160520" y="3977640"/>
            <a:ext cx="2377440" cy="475488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E86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900" b="1">
                <a:solidFill>
                  <a:srgbClr val="1E2761"/>
                </a:solidFill>
                <a:latin typeface="맑은 고딕"/>
              </a:rPr>
              <a:t>출발·도착 H/S ON → RTV 지시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349240" y="4453128"/>
            <a:ext cx="0" cy="164592"/>
          </a:xfrm>
          <a:prstGeom prst="line">
            <a:avLst/>
          </a:prstGeom>
          <a:ln w="15875">
            <a:solidFill>
              <a:srgbClr val="266EB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4160520" y="4617720"/>
            <a:ext cx="2377440" cy="475488"/>
          </a:xfrm>
          <a:prstGeom prst="roundRect">
            <a:avLst/>
          </a:prstGeom>
          <a:solidFill>
            <a:srgbClr val="EEF1F7"/>
          </a:solidFill>
          <a:ln w="15875">
            <a:solidFill>
              <a:srgbClr val="2E86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900" b="1">
                <a:solidFill>
                  <a:srgbClr val="1E2761"/>
                </a:solidFill>
                <a:latin typeface="맑은 고딕"/>
              </a:rPr>
              <a:t>35 = 입고 사용권</a:t>
            </a:r>
          </a:p>
          <a:p>
            <a:pPr algn="ctr"/>
            <a:r>
              <a:rPr sz="900" b="1">
                <a:solidFill>
                  <a:srgbClr val="1E2761"/>
                </a:solidFill>
                <a:latin typeface="맑은 고딕"/>
              </a:rPr>
              <a:t>(35 · 39, 16/15+통로 위 실물)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60520" y="5870448"/>
            <a:ext cx="3749039" cy="45720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50" b="1">
                <a:solidFill>
                  <a:srgbClr val="2E864B"/>
                </a:solidFill>
                <a:latin typeface="맑은 고딕"/>
              </a:rPr>
              <a:t>풀림 : 크레인 1호기에 입고 지시(25)를 줄 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92440" y="1097280"/>
            <a:ext cx="3749039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100" b="1">
                <a:solidFill>
                  <a:srgbClr val="1E2761"/>
                </a:solidFill>
                <a:latin typeface="맑은 고딕"/>
              </a:rPr>
              <a:t>■ 전환 방식 [CNF] CV2_DIR_MODE</a:t>
            </a:r>
          </a:p>
        </p:txBody>
      </p:sp>
      <p:graphicFrame>
        <p:nvGraphicFramePr>
          <p:cNvPr id="39" name="Table 38"/>
          <p:cNvGraphicFramePr>
            <a:graphicFrameLocks noGrp="1"/>
          </p:cNvGraphicFramePr>
          <p:nvPr/>
        </p:nvGraphicFramePr>
        <p:xfrm>
          <a:off x="8092440" y="1389888"/>
          <a:ext cx="365760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20"/>
                <a:gridCol w="3154680"/>
              </a:tblGrid>
              <a:tr h="27432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값</a:t>
                      </a:r>
                    </a:p>
                  </a:txBody>
                  <a:tcPr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동작</a:t>
                      </a:r>
                    </a:p>
                  </a:txBody>
                  <a:tcPr marT="18288" marB="18288">
                    <a:solidFill>
                      <a:srgbClr val="1E276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22222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22222"/>
                          </a:solidFill>
                          <a:latin typeface="맑은 고딕"/>
                        </a:rPr>
                        <a:t>종전 - 입고 진행 → 출고 진행 → 대기 순 수시 전환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22222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marT="18288" marB="18288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22222"/>
                          </a:solidFill>
                          <a:latin typeface="맑은 고딕"/>
                        </a:rPr>
                        <a:t>교착 때만 (코드 기본값) - 현재 방향 작업이 없으면 전환, 크레인 25 가 아니고 CV2_STALL_SEC(60초) 무진행이면 강제 전환(DIRF)</a:t>
                      </a:r>
                    </a:p>
                  </a:txBody>
                  <a:tcPr marT="18288" marB="18288">
                    <a:solidFill>
                      <a:srgbClr val="EEF1F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22222"/>
                          </a:solidFill>
                          <a:latin typeface="맑은 고딕"/>
                        </a:rPr>
                        <a:t>2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22222"/>
                          </a:solidFill>
                          <a:latin typeface="맑은 고딕"/>
                        </a:rPr>
                        <a:t>통로 사용권 (현장 설정) - 왼쪽 흐름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0" name="TextBox 39"/>
          <p:cNvSpPr txBox="1"/>
          <p:nvPr/>
        </p:nvSpPr>
        <p:spPr>
          <a:xfrm>
            <a:off x="8092440" y="3063240"/>
            <a:ext cx="3749039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100" b="1">
                <a:solidFill>
                  <a:srgbClr val="1E2761"/>
                </a:solidFill>
                <a:latin typeface="맑은 고딕"/>
              </a:rPr>
              <a:t>■ 방향 지시 (CV_DATA.CMD_RQ_ID)</a:t>
            </a:r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8092440" y="3355848"/>
          <a:ext cx="374904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94360"/>
                <a:gridCol w="3154680"/>
              </a:tblGrid>
              <a:tr h="256032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ID</a:t>
                      </a:r>
                    </a:p>
                  </a:txBody>
                  <a:tcPr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맑은 고딕"/>
                        </a:rPr>
                        <a:t>의미 / 설비 통신 처리</a:t>
                      </a:r>
                    </a:p>
                  </a:txBody>
                  <a:tcPr marT="18288" marB="18288">
                    <a:solidFill>
                      <a:srgbClr val="1E2761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22222"/>
                          </a:solidFill>
                          <a:latin typeface="맑은 고딕"/>
                        </a:rPr>
                        <a:t>DIR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22222"/>
                          </a:solidFill>
                          <a:latin typeface="맑은 고딕"/>
                        </a:rPr>
                        <a:t>일반 - 현재 방향 화물이 남아 있으면 보류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22222"/>
                          </a:solidFill>
                          <a:latin typeface="맑은 고딕"/>
                        </a:rPr>
                        <a:t>DIRF</a:t>
                      </a:r>
                    </a:p>
                  </a:txBody>
                  <a:tcPr marT="18288" marB="18288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22222"/>
                          </a:solidFill>
                          <a:latin typeface="맑은 고딕"/>
                        </a:rPr>
                        <a:t>교착 해제 - 화물 보류 없이 즉시</a:t>
                      </a:r>
                    </a:p>
                  </a:txBody>
                  <a:tcPr marT="18288" marB="18288">
                    <a:solidFill>
                      <a:srgbClr val="EEF1F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22222"/>
                          </a:solidFill>
                          <a:latin typeface="맑은 고딕"/>
                        </a:rPr>
                        <a:t>DIRW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22222"/>
                          </a:solidFill>
                          <a:latin typeface="맑은 고딕"/>
                        </a:rPr>
                        <a:t>HOST 입고 복귀 - 빈 뒤 DIR 로 승격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22222"/>
                          </a:solidFill>
                          <a:latin typeface="맑은 고딕"/>
                        </a:rPr>
                        <a:t>DIRM</a:t>
                      </a:r>
                    </a:p>
                  </a:txBody>
                  <a:tcPr marT="18288" marB="18288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solidFill>
                            <a:srgbClr val="222222"/>
                          </a:solidFill>
                          <a:latin typeface="맑은 고딕"/>
                        </a:rPr>
                        <a:t>운전 화면 수동 - 즉시, 자동 지시 120초 억제</a:t>
                      </a:r>
                    </a:p>
                  </a:txBody>
                  <a:tcPr marT="18288" marB="18288">
                    <a:solidFill>
                      <a:srgbClr val="EEF1F7"/>
                    </a:solidFill>
                  </a:tcPr>
                </a:tc>
              </a:tr>
            </a:tbl>
          </a:graphicData>
        </a:graphic>
      </p:graphicFrame>
      <p:sp>
        <p:nvSpPr>
          <p:cNvPr id="42" name="Rounded Rectangle 41"/>
          <p:cNvSpPr/>
          <p:nvPr/>
        </p:nvSpPr>
        <p:spPr>
          <a:xfrm>
            <a:off x="8092440" y="5029200"/>
            <a:ext cx="3749039" cy="1280160"/>
          </a:xfrm>
          <a:prstGeom prst="roundRect">
            <a:avLst/>
          </a:prstGeom>
          <a:solidFill>
            <a:srgbClr val="EEF1F7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000" b="1">
                <a:solidFill>
                  <a:srgbClr val="1E2761"/>
                </a:solidFill>
                <a:latin typeface="맑은 고딕"/>
              </a:rPr>
              <a:t>함께 동작하는 보호</a:t>
            </a:r>
          </a:p>
          <a:p>
            <a:pPr algn="ctr"/>
            <a:r>
              <a:rPr sz="900" b="0">
                <a:solidFill>
                  <a:srgbClr val="595959"/>
                </a:solidFill>
                <a:latin typeface="맑은 고딕"/>
              </a:rPr>
              <a:t>· 크레인당 사이클 1건 지시 (09-16 교착 방지)</a:t>
            </a:r>
          </a:p>
          <a:p>
            <a:pPr algn="ctr"/>
            <a:r>
              <a:rPr sz="900" b="0">
                <a:solidFill>
                  <a:srgbClr val="595959"/>
                </a:solidFill>
                <a:latin typeface="맑은 고딕"/>
              </a:rPr>
              <a:t>· 통로에 입고 화물·RTV 1호기행 입고 지시 → 1호기 출고 보류</a:t>
            </a:r>
          </a:p>
          <a:p>
            <a:pPr algn="ctr"/>
            <a:r>
              <a:rPr sz="900" b="0">
                <a:solidFill>
                  <a:srgbClr val="595959"/>
                </a:solidFill>
                <a:latin typeface="맑은 고딕"/>
              </a:rPr>
              <a:t>· 1호기 출고 25/29/16 · 통로 출고 화물 → 1호기행 입고 보류</a:t>
            </a:r>
          </a:p>
          <a:p>
            <a:pPr algn="ctr"/>
            <a:r>
              <a:rPr sz="900" b="0">
                <a:solidFill>
                  <a:srgbClr val="595959"/>
                </a:solidFill>
                <a:latin typeface="맑은 고딕"/>
              </a:rPr>
              <a:t>· CV2_FAIR 0 = 출고 우선(현장) / 1 = 번갈아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" y="6419088"/>
            <a:ext cx="640080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</a:rPr>
              <a:t>LG 화학 1동 ECS  |  C/V#2 통로 사용권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247120" y="6419088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/>
            <a:r>
              <a:rPr sz="900" b="0">
                <a:solidFill>
                  <a:srgbClr val="595959"/>
                </a:solidFill>
                <a:latin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/>
            <a:r>
              <a:rPr sz="2400" b="1">
                <a:solidFill>
                  <a:srgbClr val="1E2761"/>
                </a:solidFill>
                <a:latin typeface="맑은 고딕"/>
              </a:rPr>
              <a:t>겸용 입출고대(122) 입고 전환 보호 · 모드 전환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49808"/>
            <a:ext cx="1124712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출고 화물이 막 도착한 순간 입고로 뒤집히면 벨트가 화물을 121 로 되끌어 갇힌다(09-16 실측). 입고(0) 전환은 모든 경로가 아래 검사를 지난다.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530352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맑은 고딕"/>
              </a:rPr>
              <a:t>IsDualStnClearForInbound(122)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481328"/>
            <a:ext cx="3566160" cy="502920"/>
          </a:xfrm>
          <a:prstGeom prst="roundRect">
            <a:avLst/>
          </a:prstGeom>
          <a:solidFill>
            <a:srgbClr val="EEF1F7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입고 전환 요청</a:t>
            </a:r>
          </a:p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(자동 복귀 · HOST DIRW 승격 · RequestCvDirection)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240280" y="1984248"/>
            <a:ext cx="0" cy="182880"/>
          </a:xfrm>
          <a:prstGeom prst="line">
            <a:avLst/>
          </a:prstGeom>
          <a:ln w="15875">
            <a:solidFill>
              <a:srgbClr val="266EB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457200" y="2167128"/>
            <a:ext cx="3566160" cy="5029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7A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121 · 122 화물 센서 0, 트래킹 0 ?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023360" y="2418588"/>
            <a:ext cx="320040" cy="0"/>
          </a:xfrm>
          <a:prstGeom prst="line">
            <a:avLst/>
          </a:prstGeom>
          <a:ln w="15875">
            <a:solidFill>
              <a:srgbClr val="B02E2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370832" y="2299716"/>
            <a:ext cx="114300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850" b="1">
                <a:solidFill>
                  <a:srgbClr val="B02E2E"/>
                </a:solidFill>
                <a:latin typeface="맑은 고딕"/>
              </a:rPr>
              <a:t>아니오 → 보류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240280" y="2670048"/>
            <a:ext cx="0" cy="182880"/>
          </a:xfrm>
          <a:prstGeom prst="line">
            <a:avLst/>
          </a:prstGeom>
          <a:ln w="15875">
            <a:solidFill>
              <a:srgbClr val="266EB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457200" y="2852928"/>
            <a:ext cx="3566160" cy="5029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7A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빈 상태가 3초 이상 연속 관측?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023360" y="3104388"/>
            <a:ext cx="320040" cy="0"/>
          </a:xfrm>
          <a:prstGeom prst="line">
            <a:avLst/>
          </a:prstGeom>
          <a:ln w="15875">
            <a:solidFill>
              <a:srgbClr val="B02E2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370832" y="2985516"/>
            <a:ext cx="114300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850" b="1">
                <a:solidFill>
                  <a:srgbClr val="B02E2E"/>
                </a:solidFill>
                <a:latin typeface="맑은 고딕"/>
              </a:rPr>
              <a:t>아니오 → 대기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240280" y="3355848"/>
            <a:ext cx="0" cy="182880"/>
          </a:xfrm>
          <a:prstGeom prst="line">
            <a:avLst/>
          </a:prstGeom>
          <a:ln w="15875">
            <a:solidFill>
              <a:srgbClr val="266EB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457200" y="3538728"/>
            <a:ext cx="3566160" cy="5029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7A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122 행 출고가 15초 안에 완료(09/19/39)?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023360" y="3790188"/>
            <a:ext cx="320040" cy="0"/>
          </a:xfrm>
          <a:prstGeom prst="line">
            <a:avLst/>
          </a:prstGeom>
          <a:ln w="15875">
            <a:solidFill>
              <a:srgbClr val="B02E2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4370832" y="3671316"/>
            <a:ext cx="114300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850" b="1">
                <a:solidFill>
                  <a:srgbClr val="B02E2E"/>
                </a:solidFill>
                <a:latin typeface="맑은 고딕"/>
              </a:rPr>
              <a:t>예 → 보류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240280" y="4041648"/>
            <a:ext cx="0" cy="182880"/>
          </a:xfrm>
          <a:prstGeom prst="line">
            <a:avLst/>
          </a:prstGeom>
          <a:ln w="15875">
            <a:solidFill>
              <a:srgbClr val="266EB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457200" y="4224528"/>
            <a:ext cx="3566160" cy="5029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87A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작업대로 오는 출고 진행 중?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023360" y="4475988"/>
            <a:ext cx="320040" cy="0"/>
          </a:xfrm>
          <a:prstGeom prst="line">
            <a:avLst/>
          </a:prstGeom>
          <a:ln w="15875">
            <a:solidFill>
              <a:srgbClr val="B02E2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370832" y="4357116"/>
            <a:ext cx="114300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850" b="1">
                <a:solidFill>
                  <a:srgbClr val="B02E2E"/>
                </a:solidFill>
                <a:latin typeface="맑은 고딕"/>
              </a:rPr>
              <a:t>예 → 보류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240280" y="4727448"/>
            <a:ext cx="0" cy="182880"/>
          </a:xfrm>
          <a:prstGeom prst="line">
            <a:avLst/>
          </a:prstGeom>
          <a:ln w="15875">
            <a:solidFill>
              <a:srgbClr val="266EB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457200" y="4910328"/>
            <a:ext cx="3566160" cy="502920"/>
          </a:xfrm>
          <a:prstGeom prst="roundRect">
            <a:avLst/>
          </a:prstGeom>
          <a:solidFill>
            <a:srgbClr val="EEF1F7"/>
          </a:solidFill>
          <a:ln w="15875">
            <a:solidFill>
              <a:srgbClr val="2E86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950" b="1">
                <a:solidFill>
                  <a:srgbClr val="1E2761"/>
                </a:solidFill>
                <a:latin typeface="맑은 고딕"/>
              </a:rPr>
              <a:t>DIR(0) 기록 → 설비 통신이 방향 워드 기록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1143000"/>
            <a:ext cx="548640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맑은 고딕"/>
              </a:rPr>
              <a:t>■ 상위 모드 전환(M 전문)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1481328"/>
            <a:ext cx="548640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WMS 가 101(122) 또는 110(103)의 모드를 보낸다.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1755648"/>
            <a:ext cx="548640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출고(1) : 즉시 CMD_RQ_ID=DIR 로 기록.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2029968"/>
            <a:ext cx="548640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입고(0) : DIRW(대기)로 기록 → IO_TASK PromotePendingDirection 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0" y="2304288"/>
            <a:ext cx="548640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  작업대와 짝 트랙이 비고, 122 는 위 검사를 통과하면 DIR 로 승격.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9360" y="2743200"/>
            <a:ext cx="548640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맑은 고딕"/>
              </a:rPr>
              <a:t>■ 겸용대 CV 지시 보류 (DriveCV)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9360" y="3081528"/>
            <a:ext cx="548640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122 로 오는 출고가 RTV 에 지시돼 있으면 122 발 입고 CV 지시 보류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3355848"/>
            <a:ext cx="548640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1호기 출고가 끝나지 않았으면 122 발 1호기행 입고 CV 지시 보류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0" y="3630168"/>
            <a:ext cx="548640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122 행 출고 CV 지시 전에 방향이 입고면 출고(1)로 먼저 전환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09360" y="4069080"/>
            <a:ext cx="548640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맑은 고딕"/>
              </a:rPr>
              <a:t>■ 수동 전환 우선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09360" y="4407408"/>
            <a:ext cx="548640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운전 화면에서 방향 칸을 더블클릭하면 DIRM 으로 즉시 기록된다.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0" y="4681728"/>
            <a:ext cx="548640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그 뒤 [CNF] MANUAL_DIR_HOLD_SEC(기본 120초) 동안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09360" y="4956048"/>
            <a:ext cx="548640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  자동 방향 지시(RequestCvDirection)를 내지 않는다.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419088"/>
            <a:ext cx="640080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</a:rPr>
              <a:t>LG 화학 1동 ECS  |  겸용대 보호 · 모드 전환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247120" y="6419088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/>
            <a:r>
              <a:rPr sz="900" b="0">
                <a:solidFill>
                  <a:srgbClr val="595959"/>
                </a:solidFill>
                <a:latin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/>
            <a:r>
              <a:rPr sz="2400" b="1">
                <a:solidFill>
                  <a:srgbClr val="1E2761"/>
                </a:solidFill>
                <a:latin typeface="맑은 고딕"/>
              </a:rPr>
              <a:t>피킹 작업대 흐름 (102)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49808"/>
            <a:ext cx="1124712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129(출고)와 130(재입고)은 물리적으로 한 자리다. IMS 는 둘을 하나의 작업대 102 로 본다.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1371600"/>
            <a:ext cx="2286000" cy="8229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200" b="1">
                <a:solidFill>
                  <a:srgbClr val="1E2761"/>
                </a:solidFill>
                <a:latin typeface="맑은 고딕"/>
              </a:rPr>
              <a:t>출고 흐름</a:t>
            </a:r>
          </a:p>
          <a:p>
            <a:pPr algn="ctr"/>
            <a:r>
              <a:rPr sz="1200" b="1">
                <a:solidFill>
                  <a:srgbClr val="1E2761"/>
                </a:solidFill>
                <a:latin typeface="맑은 고딕"/>
              </a:rPr>
              <a:t>랙 → 129 도착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840480" y="1371600"/>
            <a:ext cx="2286000" cy="822960"/>
          </a:xfrm>
          <a:prstGeom prst="roundRect">
            <a:avLst/>
          </a:prstGeom>
          <a:solidFill>
            <a:srgbClr val="EEF1F7"/>
          </a:solidFill>
          <a:ln w="15875">
            <a:solidFill>
              <a:srgbClr val="C87A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200" b="1">
                <a:solidFill>
                  <a:srgbClr val="C87A0E"/>
                </a:solidFill>
                <a:latin typeface="맑은 고딕"/>
              </a:rPr>
              <a:t>작업자 피킹</a:t>
            </a:r>
          </a:p>
          <a:p>
            <a:pPr algn="ctr"/>
            <a:r>
              <a:rPr sz="1200" b="1">
                <a:solidFill>
                  <a:srgbClr val="C87A0E"/>
                </a:solidFill>
                <a:latin typeface="맑은 고딕"/>
              </a:rPr>
              <a:t>필요 수량만 꺼냄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766560" y="1371600"/>
            <a:ext cx="2286000" cy="8229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2E86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200" b="1">
                <a:solidFill>
                  <a:srgbClr val="2E864B"/>
                </a:solidFill>
                <a:latin typeface="맑은 고딕"/>
              </a:rPr>
              <a:t>PLC 인계</a:t>
            </a:r>
          </a:p>
          <a:p>
            <a:pPr algn="ctr"/>
            <a:r>
              <a:rPr sz="1200" b="1">
                <a:solidFill>
                  <a:srgbClr val="2E864B"/>
                </a:solidFill>
                <a:latin typeface="맑은 고딕"/>
              </a:rPr>
              <a:t>#30 ON → #29 OFF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692640" y="1371600"/>
            <a:ext cx="2011680" cy="82296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200" b="1">
                <a:solidFill>
                  <a:srgbClr val="1E2761"/>
                </a:solidFill>
                <a:latin typeface="맑은 고딕"/>
              </a:rPr>
              <a:t>재입고 흐름</a:t>
            </a:r>
          </a:p>
          <a:p>
            <a:pPr algn="ctr"/>
            <a:r>
              <a:rPr sz="1200" b="1">
                <a:solidFill>
                  <a:srgbClr val="1E2761"/>
                </a:solidFill>
                <a:latin typeface="맑은 고딕"/>
              </a:rPr>
              <a:t>130 → 131 → 랙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200400" y="1783080"/>
            <a:ext cx="640080" cy="0"/>
          </a:xfrm>
          <a:prstGeom prst="line">
            <a:avLst/>
          </a:prstGeom>
          <a:ln w="19050">
            <a:solidFill>
              <a:srgbClr val="266EB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6126480" y="1783080"/>
            <a:ext cx="640080" cy="0"/>
          </a:xfrm>
          <a:prstGeom prst="line">
            <a:avLst/>
          </a:prstGeom>
          <a:ln w="19050">
            <a:solidFill>
              <a:srgbClr val="266EB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9052560" y="1783080"/>
            <a:ext cx="640080" cy="0"/>
          </a:xfrm>
          <a:prstGeom prst="line">
            <a:avLst/>
          </a:prstGeom>
          <a:ln w="19050">
            <a:solidFill>
              <a:srgbClr val="266EB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914400" y="2606040"/>
            <a:ext cx="10789920" cy="36576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PLC 사양(시나리오 슬라이드 13)에 적힌 인계 순서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3017520"/>
            <a:ext cx="10515600" cy="32918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① 화물이 #29 에 도착 → W.O 비트 ON, 트래킹 유지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364991"/>
            <a:ext cx="10515600" cy="32918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② PLC Unload Request #2 ON → ECS Ack ON   (작업자 피킹 구간)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712463"/>
            <a:ext cx="10515600" cy="32918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③ 반출 완료 → PLC Unload Complete #2 ON → ECS Ack ON → 양쪽 OFF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059935"/>
            <a:ext cx="10515600" cy="32918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④ Pallet Exist #30 ON   (아직 #29 도 ON)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4407408"/>
            <a:ext cx="10515600" cy="32918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⑤ Pallet Exist #29 OFF   ※ 사양 주석 : "출고 영역 #29 bit 만 지움"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" y="4892040"/>
            <a:ext cx="10789920" cy="1234440"/>
          </a:xfrm>
          <a:prstGeom prst="roundRect">
            <a:avLst/>
          </a:prstGeom>
          <a:solidFill>
            <a:srgbClr val="EEF1F7"/>
          </a:solidFill>
          <a:ln w="15875">
            <a:solidFill>
              <a:srgbClr val="C87A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200" b="1">
                <a:solidFill>
                  <a:srgbClr val="C87A0E"/>
                </a:solidFill>
                <a:latin typeface="맑은 고딕"/>
              </a:rPr>
              <a:t>운영 기준</a:t>
            </a:r>
          </a:p>
          <a:p>
            <a:pPr algn="ctr"/>
            <a:r>
              <a:rPr sz="1100" b="0">
                <a:solidFill>
                  <a:srgbClr val="595959"/>
                </a:solidFill>
                <a:latin typeface="맑은 고딕"/>
              </a:rPr>
              <a:t>· 재입고는 상위의 새 O 전문(출발 102 → 내부 130)으로 시작한다. RGV 픽업 트랙은 131 이다(C/V#15 슬롯 순서 131,132,130).</a:t>
            </a:r>
          </a:p>
          <a:p>
            <a:pPr algn="ctr"/>
            <a:r>
              <a:rPr sz="1100" b="0">
                <a:solidFill>
                  <a:srgbClr val="595959"/>
                </a:solidFill>
                <a:latin typeface="맑은 고딕"/>
              </a:rPr>
              <a:t>· 상위 보고 시 129 · 130 은 모두 102 로 되돌린다.</a:t>
            </a:r>
          </a:p>
          <a:p>
            <a:pPr algn="ctr"/>
            <a:r>
              <a:rPr sz="1100" b="0">
                <a:solidFill>
                  <a:srgbClr val="595959"/>
                </a:solidFill>
                <a:latin typeface="맑은 고딕"/>
              </a:rPr>
              <a:t>· 피킹대 라인은 3칸이라 입고 드롭 판정이 칸 단위로 3-deep 이 된다.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19088"/>
            <a:ext cx="640080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</a:rPr>
              <a:t>LG 화학 1동 ECS  |  피킹 작업대 흐름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47120" y="6419088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/>
            <a:r>
              <a:rPr sz="900" b="0">
                <a:solidFill>
                  <a:srgbClr val="595959"/>
                </a:solidFill>
                <a:latin typeface="맑은 고딕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/>
            <a:r>
              <a:rPr sz="2400" b="1">
                <a:solidFill>
                  <a:srgbClr val="1E2761"/>
                </a:solidFill>
                <a:latin typeface="맑은 고딕"/>
              </a:rPr>
              <a:t>알람 · 에러 흐름 (PLC 알람 리스트 2026-09-17)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49808"/>
            <a:ext cx="1124712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PLC 알람을 설비 통신이 코드로 바꿔 DB 에 남기고, 상위 통신이 E 전문으로 보고한다. 스케줄러는 에러 설비에 지시하지 않는다.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234440"/>
            <a:ext cx="1965960" cy="960120"/>
          </a:xfrm>
          <a:prstGeom prst="roundRect">
            <a:avLst/>
          </a:prstGeom>
          <a:solidFill>
            <a:srgbClr val="EEF1F7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200" b="1">
                <a:solidFill>
                  <a:srgbClr val="1E2761"/>
                </a:solidFill>
                <a:latin typeface="맑은 고딕"/>
              </a:rPr>
              <a:t>설비 / PLC</a:t>
            </a:r>
          </a:p>
          <a:p>
            <a:pPr algn="ctr"/>
            <a:r>
              <a:rPr sz="900" b="0">
                <a:solidFill>
                  <a:srgbClr val="595959"/>
                </a:solidFill>
                <a:latin typeface="맑은 고딕"/>
              </a:rPr>
              <a:t>알람코드 워드</a:t>
            </a:r>
          </a:p>
          <a:p>
            <a:pPr algn="ctr"/>
            <a:r>
              <a:rPr sz="900" b="0">
                <a:solidFill>
                  <a:srgbClr val="595959"/>
                </a:solidFill>
                <a:latin typeface="맑은 고딕"/>
              </a:rPr>
              <a:t>알람 비트 M55xx·M56xx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423160" y="1709928"/>
            <a:ext cx="365760" cy="0"/>
          </a:xfrm>
          <a:prstGeom prst="line">
            <a:avLst/>
          </a:prstGeom>
          <a:ln w="22225">
            <a:solidFill>
              <a:srgbClr val="B02E2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2788920" y="1234440"/>
            <a:ext cx="1965960" cy="9601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200" b="1">
                <a:solidFill>
                  <a:srgbClr val="1E2761"/>
                </a:solidFill>
                <a:latin typeface="맑은 고딕"/>
              </a:rPr>
              <a:t>설비 통신</a:t>
            </a:r>
          </a:p>
          <a:p>
            <a:pPr algn="ctr"/>
            <a:r>
              <a:rPr sz="900" b="0">
                <a:solidFill>
                  <a:srgbClr val="595959"/>
                </a:solidFill>
                <a:latin typeface="맑은 고딕"/>
              </a:rPr>
              <a:t>WCS_TASK_CV</a:t>
            </a:r>
          </a:p>
          <a:p>
            <a:pPr algn="ctr"/>
            <a:r>
              <a:rPr sz="900" b="0">
                <a:solidFill>
                  <a:srgbClr val="595959"/>
                </a:solidFill>
                <a:latin typeface="맑은 고딕"/>
              </a:rPr>
              <a:t>VehThread · CvThread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754879" y="1709928"/>
            <a:ext cx="365761" cy="0"/>
          </a:xfrm>
          <a:prstGeom prst="line">
            <a:avLst/>
          </a:prstGeom>
          <a:ln w="22225">
            <a:solidFill>
              <a:srgbClr val="B02E2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120640" y="1234440"/>
            <a:ext cx="1965960" cy="960120"/>
          </a:xfrm>
          <a:prstGeom prst="roundRect">
            <a:avLst/>
          </a:prstGeom>
          <a:solidFill>
            <a:srgbClr val="1E2761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DB</a:t>
            </a:r>
          </a:p>
          <a:p>
            <a:pPr algn="ctr"/>
            <a:r>
              <a:rPr sz="900" b="0">
                <a:solidFill>
                  <a:srgbClr val="FFFFFF"/>
                </a:solidFill>
                <a:latin typeface="맑은 고딕"/>
              </a:rPr>
              <a:t>ERR_CODE_RD / ERROR_CODE</a:t>
            </a:r>
          </a:p>
          <a:p>
            <a:pPr algn="ctr"/>
            <a:r>
              <a:rPr sz="900" b="0">
                <a:solidFill>
                  <a:srgbClr val="FFFFFF"/>
                </a:solidFill>
                <a:latin typeface="맑은 고딕"/>
              </a:rPr>
              <a:t>EQP_ERR_HIS 이력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086600" y="1709928"/>
            <a:ext cx="365760" cy="0"/>
          </a:xfrm>
          <a:prstGeom prst="line">
            <a:avLst/>
          </a:prstGeom>
          <a:ln w="22225">
            <a:solidFill>
              <a:srgbClr val="B02E2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452360" y="1234440"/>
            <a:ext cx="1965960" cy="96012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200" b="1">
                <a:solidFill>
                  <a:srgbClr val="1E2761"/>
                </a:solidFill>
                <a:latin typeface="맑은 고딕"/>
              </a:rPr>
              <a:t>상위 통신</a:t>
            </a:r>
          </a:p>
          <a:p>
            <a:pPr algn="ctr"/>
            <a:r>
              <a:rPr sz="900" b="0">
                <a:solidFill>
                  <a:srgbClr val="595959"/>
                </a:solidFill>
                <a:latin typeface="맑은 고딕"/>
              </a:rPr>
              <a:t>GetErrorReport</a:t>
            </a:r>
          </a:p>
          <a:p>
            <a:pPr algn="ctr"/>
            <a:r>
              <a:rPr sz="900" b="0">
                <a:solidFill>
                  <a:srgbClr val="595959"/>
                </a:solidFill>
                <a:latin typeface="맑은 고딕"/>
              </a:rPr>
              <a:t>HOST_ERR_SEND_YN=N 대상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418320" y="1709928"/>
            <a:ext cx="365760" cy="0"/>
          </a:xfrm>
          <a:prstGeom prst="line">
            <a:avLst/>
          </a:prstGeom>
          <a:ln w="22225">
            <a:solidFill>
              <a:srgbClr val="B02E2E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784080" y="1234440"/>
            <a:ext cx="1965960" cy="960120"/>
          </a:xfrm>
          <a:prstGeom prst="roundRect">
            <a:avLst/>
          </a:prstGeom>
          <a:solidFill>
            <a:srgbClr val="EEF1F7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200" b="1">
                <a:solidFill>
                  <a:srgbClr val="1E2761"/>
                </a:solidFill>
                <a:latin typeface="맑은 고딕"/>
              </a:rPr>
              <a:t>WMS / IMS</a:t>
            </a:r>
          </a:p>
          <a:p>
            <a:pPr algn="ctr"/>
            <a:r>
              <a:rPr sz="900" b="0">
                <a:solidFill>
                  <a:srgbClr val="595959"/>
                </a:solidFill>
                <a:latin typeface="맑은 고딕"/>
              </a:rPr>
              <a:t>E 전문 수신</a:t>
            </a:r>
          </a:p>
          <a:p>
            <a:pPr algn="ctr"/>
            <a:r>
              <a:rPr sz="900" b="0">
                <a:solidFill>
                  <a:srgbClr val="595959"/>
                </a:solidFill>
                <a:latin typeface="맑은 고딕"/>
              </a:rPr>
              <a:t>ErrorKind · 코드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457200" y="2468880"/>
          <a:ext cx="11292839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2743200"/>
                <a:gridCol w="3108960"/>
                <a:gridCol w="3977639"/>
              </a:tblGrid>
              <a:tr h="274320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</a:rPr>
                        <a:t>설비</a:t>
                      </a:r>
                    </a:p>
                  </a:txBody>
                  <a:tcPr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</a:rPr>
                        <a:t>PLC 신호</a:t>
                      </a:r>
                    </a:p>
                  </a:txBody>
                  <a:tcPr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</a:rPr>
                        <a:t>DB 기록</a:t>
                      </a:r>
                    </a:p>
                  </a:txBody>
                  <a:tcPr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</a:rPr>
                        <a:t>비고</a:t>
                      </a:r>
                    </a:p>
                  </a:txBody>
                  <a:tcPr marT="18288" marB="18288">
                    <a:solidFill>
                      <a:srgbClr val="1E276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22222"/>
                          </a:solidFill>
                          <a:latin typeface="맑은 고딕"/>
                        </a:rPr>
                        <a:t>스태커 크레인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22222"/>
                          </a:solidFill>
                          <a:latin typeface="맑은 고딕"/>
                        </a:rPr>
                        <a:t>알람코드 워드 (SC_ERR_CODE_BLOCK=0 상시)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22222"/>
                          </a:solidFill>
                          <a:latin typeface="맑은 고딕"/>
                        </a:rPr>
                        <a:t>SC_DATA_LGLS.ERR_CODE_RD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22222"/>
                          </a:solidFill>
                          <a:latin typeface="맑은 고딕"/>
                        </a:rPr>
                        <a:t>코드표 EQP_ECD_MST 구분 SC_LGLS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22222"/>
                          </a:solidFill>
                          <a:latin typeface="맑은 고딕"/>
                        </a:rPr>
                        <a:t>메인 C/V</a:t>
                      </a:r>
                    </a:p>
                  </a:txBody>
                  <a:tcPr marT="18288" marB="18288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22222"/>
                          </a:solidFill>
                          <a:latin typeface="맑은 고딕"/>
                        </a:rPr>
                        <a:t>과부하 비트 M5501 ~ M550D</a:t>
                      </a:r>
                    </a:p>
                  </a:txBody>
                  <a:tcPr marT="18288" marB="18288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22222"/>
                          </a:solidFill>
                          <a:latin typeface="맑은 고딕"/>
                        </a:rPr>
                        <a:t>CV_DATA.ERROR_CODE '0119' ~ '0131'</a:t>
                      </a:r>
                    </a:p>
                  </a:txBody>
                  <a:tcPr marT="18288" marB="18288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22222"/>
                          </a:solidFill>
                          <a:latin typeface="맑은 고딕"/>
                        </a:rPr>
                        <a:t>CvThread.CvMainAlarmBits - 비트 OFF 면 그 코드일 때만 0</a:t>
                      </a:r>
                    </a:p>
                  </a:txBody>
                  <a:tcPr marT="18288" marB="18288">
                    <a:solidFill>
                      <a:srgbClr val="EEF1F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22222"/>
                          </a:solidFill>
                          <a:latin typeface="맑은 고딕"/>
                        </a:rPr>
                        <a:t>RGV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22222"/>
                          </a:solidFill>
                          <a:latin typeface="맑은 고딕"/>
                        </a:rPr>
                        <a:t>알람 비트 M5601 ~ M560F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22222"/>
                          </a:solidFill>
                          <a:latin typeface="맑은 고딕"/>
                        </a:rPr>
                        <a:t>RTV_DATA_LGLS.ERR_CODE_RD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22222"/>
                          </a:solidFill>
                          <a:latin typeface="맑은 고딕"/>
                        </a:rPr>
                        <a:t>VehThread.ReadRgvAlarmBitCode - 코드 워드가 0 일 때 사용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22222"/>
                          </a:solidFill>
                          <a:latin typeface="맑은 고딕"/>
                        </a:rPr>
                        <a:t>공통</a:t>
                      </a:r>
                    </a:p>
                  </a:txBody>
                  <a:tcPr marT="18288" marB="18288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22222"/>
                          </a:solidFill>
                          <a:latin typeface="맑은 고딕"/>
                        </a:rPr>
                        <a:t>-</a:t>
                      </a:r>
                    </a:p>
                  </a:txBody>
                  <a:tcPr marT="18288" marB="18288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22222"/>
                          </a:solidFill>
                          <a:latin typeface="맑은 고딕"/>
                        </a:rPr>
                        <a:t>EQP_ERR_HIS</a:t>
                      </a:r>
                    </a:p>
                  </a:txBody>
                  <a:tcPr marT="18288" marB="18288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22222"/>
                          </a:solidFill>
                          <a:latin typeface="맑은 고딕"/>
                        </a:rPr>
                        <a:t>운전 화면 [설비에러이력]. [CNF] MAIN_ALM_BITS=0 이면 비트 읽기 끔</a:t>
                      </a:r>
                    </a:p>
                  </a:txBody>
                  <a:tcPr marT="18288" marB="18288">
                    <a:solidFill>
                      <a:srgbClr val="EEF1F7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457200" y="4617720"/>
            <a:ext cx="548640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200" b="1">
                <a:solidFill>
                  <a:srgbClr val="1E2761"/>
                </a:solidFill>
                <a:latin typeface="맑은 고딕"/>
              </a:rPr>
              <a:t>■ 크레인 에러 ErrorKind (EcsComA.ini [Host])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57200" y="4937760"/>
          <a:ext cx="557784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188720"/>
                <a:gridCol w="2377440"/>
              </a:tblGrid>
              <a:tr h="274320"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코드</a:t>
                      </a:r>
                    </a:p>
                  </a:txBody>
                  <a:tcPr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ErrorKind</a:t>
                      </a:r>
                    </a:p>
                  </a:txBody>
                  <a:tcPr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 b="1">
                          <a:solidFill>
                            <a:srgbClr val="FFFFFF"/>
                          </a:solidFill>
                          <a:latin typeface="맑은 고딕"/>
                        </a:rPr>
                        <a:t>의미</a:t>
                      </a:r>
                    </a:p>
                  </a:txBody>
                  <a:tcPr marT="18288" marB="18288">
                    <a:solidFill>
                      <a:srgbClr val="1E2761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222"/>
                          </a:solidFill>
                          <a:latin typeface="맑은 고딕"/>
                        </a:rPr>
                        <a:t>73 · 74 (ScDualCodes)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222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222"/>
                          </a:solidFill>
                          <a:latin typeface="맑은 고딕"/>
                        </a:rPr>
                        <a:t>좌 · 우측 렉 이중입고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222"/>
                          </a:solidFill>
                          <a:latin typeface="맑은 고딕"/>
                        </a:rPr>
                        <a:t>75 (ScEmptyCodes)</a:t>
                      </a:r>
                    </a:p>
                  </a:txBody>
                  <a:tcPr marT="18288" marB="18288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222"/>
                          </a:solidFill>
                          <a:latin typeface="맑은 고딕"/>
                        </a:rPr>
                        <a:t>3</a:t>
                      </a:r>
                    </a:p>
                  </a:txBody>
                  <a:tcPr marT="18288" marB="18288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222"/>
                          </a:solidFill>
                          <a:latin typeface="맑은 고딕"/>
                        </a:rPr>
                        <a:t>공출고</a:t>
                      </a:r>
                    </a:p>
                  </a:txBody>
                  <a:tcPr marT="18288" marB="18288">
                    <a:solidFill>
                      <a:srgbClr val="EEF1F7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222"/>
                          </a:solidFill>
                          <a:latin typeface="맑은 고딕"/>
                        </a:rPr>
                        <a:t>그 밖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222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50">
                          <a:solidFill>
                            <a:srgbClr val="222222"/>
                          </a:solidFill>
                          <a:latin typeface="맑은 고딕"/>
                        </a:rPr>
                        <a:t>기계적 에러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Rounded Rectangle 15"/>
          <p:cNvSpPr/>
          <p:nvPr/>
        </p:nvSpPr>
        <p:spPr>
          <a:xfrm>
            <a:off x="6309360" y="4617720"/>
            <a:ext cx="5440680" cy="1691640"/>
          </a:xfrm>
          <a:prstGeom prst="roundRect">
            <a:avLst/>
          </a:prstGeom>
          <a:solidFill>
            <a:srgbClr val="EEF1F7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50" b="1">
                <a:solidFill>
                  <a:srgbClr val="1E2761"/>
                </a:solidFill>
                <a:latin typeface="맑은 고딕"/>
              </a:rPr>
              <a:t>스케줄러의 처리</a:t>
            </a:r>
          </a:p>
          <a:p>
            <a:pPr algn="ctr"/>
            <a:r>
              <a:rPr sz="1000" b="0">
                <a:solidFill>
                  <a:srgbClr val="595959"/>
                </a:solidFill>
                <a:latin typeface="맑은 고딕"/>
              </a:rPr>
              <a:t>· MonitorAlarm : 새 알람 코드를 로그로만 남긴다.</a:t>
            </a:r>
          </a:p>
          <a:p>
            <a:pPr algn="ctr"/>
            <a:r>
              <a:rPr sz="1000" b="0">
                <a:solidFill>
                  <a:srgbClr val="595959"/>
                </a:solidFill>
                <a:latin typeface="맑은 고딕"/>
              </a:rPr>
              <a:t>· DriveSC / DriveRGV / DriveCV 는 에러 코드가 있는 설비에 지시하지 않는다.</a:t>
            </a:r>
          </a:p>
          <a:p>
            <a:pPr algn="ctr"/>
            <a:r>
              <a:rPr sz="1000" b="0">
                <a:solidFill>
                  <a:srgbClr val="595959"/>
                </a:solidFill>
                <a:latin typeface="맑은 고딕"/>
              </a:rPr>
              <a:t>· 이중입고·공출고 작업상태 처리(MarkErrorJobStatus)와</a:t>
            </a:r>
          </a:p>
          <a:p>
            <a:pPr algn="ctr"/>
            <a:r>
              <a:rPr sz="1000" b="0">
                <a:solidFill>
                  <a:srgbClr val="595959"/>
                </a:solidFill>
                <a:latin typeface="맑은 고딕"/>
              </a:rPr>
              <a:t>  재지정 재개(ResumeRedirectedJobs)는 호출하지 않는다.</a:t>
            </a:r>
          </a:p>
          <a:p>
            <a:pPr algn="ctr"/>
            <a:r>
              <a:rPr sz="1000" b="0">
                <a:solidFill>
                  <a:srgbClr val="B02E2E"/>
                </a:solidFill>
                <a:latin typeface="맑은 고딕"/>
              </a:rPr>
              <a:t>  "이 현장 없음"(사용자 확인 2026-09-16) - 정의만 보존.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19088"/>
            <a:ext cx="640080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</a:rPr>
              <a:t>LG 화학 1동 ECS  |  알람 · 에러 흐름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47120" y="6419088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/>
            <a:r>
              <a:rPr sz="900" b="0">
                <a:solidFill>
                  <a:srgbClr val="595959"/>
                </a:solidFill>
                <a:latin typeface="맑은 고딕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l"/>
            <a:r>
              <a:rPr sz="2400" b="1">
                <a:solidFill>
                  <a:srgbClr val="1E2761"/>
                </a:solidFill>
                <a:latin typeface="맑은 고딕"/>
              </a:rPr>
              <a:t>예외 처리 흐름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749808"/>
            <a:ext cx="1124712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완료는 설비 신호로만 판정한다. 자동으로 밀어내지 않고, 멈춘 작업은 경고를 남겨 사람이 처리한다.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097280"/>
            <a:ext cx="5394960" cy="36576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이중입고(73/74) · 공출고(75)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81328"/>
            <a:ext cx="5212080" cy="292608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050" b="1">
                <a:solidFill>
                  <a:srgbClr val="C87A0E"/>
                </a:solidFill>
                <a:latin typeface="맑은 고딕"/>
              </a:rPr>
              <a:t>→ 이 현장은 작업상태 자동 처리를 쓰지 않는다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874519"/>
            <a:ext cx="5212080" cy="347472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① 크레인 알람코드 → SC_DATA_LGLS.ERR_CODE_RD, EQP_ERR_HIS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240279"/>
            <a:ext cx="5212080" cy="347472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② 상위에 E 전문 보고 (ErrorKind 1 / 3)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606039"/>
            <a:ext cx="5212080" cy="347472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③ 에러가 난 크레인에는 새 지시를 내지 않는다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971800"/>
            <a:ext cx="5212080" cy="347472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④ 08/07(에러) · 06/05(재지정) 상태 전환은 하지 않는다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337560"/>
            <a:ext cx="5212080" cy="347472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⑤ 운전자가 설비와 작업을 확인해 처리한다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1097280"/>
            <a:ext cx="5394960" cy="36576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작업 체류 (설비 무응답)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60" y="1481328"/>
            <a:ext cx="5212080" cy="292608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050" b="1">
                <a:solidFill>
                  <a:srgbClr val="C87A0E"/>
                </a:solidFill>
                <a:latin typeface="맑은 고딕"/>
              </a:rPr>
              <a:t>→ 체류 복구(시간 기반 자동 완료)는 2026-09-17 폐기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7960" y="1874519"/>
            <a:ext cx="5212080" cy="347472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① CheckStalledJobs : 1분마다, 300초 이상 멈춘 작업 경고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240279"/>
            <a:ext cx="5212080" cy="347472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([CNF] JOB_STALL_WARN_SEC, 0 = 감시 끔)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60" y="2606039"/>
            <a:ext cx="5212080" cy="347472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② 상태를 자동으로 바꾸지 않는다 - 실물 위치를 잃지 않기 위함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2971800"/>
            <a:ext cx="5212080" cy="347472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③ 사람이 화물을 제자리에 옮긴 뒤 [강제완료]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60" y="3337560"/>
            <a:ext cx="5212080" cy="347472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(S/C 25 → 29, RTV 35 → 39, 설비가 화물을 들고 있으면 거부)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913632"/>
            <a:ext cx="11109960" cy="868680"/>
          </a:xfrm>
          <a:prstGeom prst="roundRect">
            <a:avLst/>
          </a:prstGeom>
          <a:solidFill>
            <a:srgbClr val="EEF1F7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50" b="1">
                <a:solidFill>
                  <a:srgbClr val="1E2761"/>
                </a:solidFill>
                <a:latin typeface="맑은 고딕"/>
              </a:rPr>
              <a:t>설비 에러 해제는 운전 화면의 기능이 아니다</a:t>
            </a:r>
          </a:p>
          <a:p>
            <a:pPr algn="ctr"/>
            <a:r>
              <a:rPr sz="1050" b="0">
                <a:solidFill>
                  <a:srgbClr val="595959"/>
                </a:solidFill>
                <a:latin typeface="맑은 고딕"/>
              </a:rPr>
              <a:t>S/C · RGV 에러는 설비(조작반)에서 해제한다. 설비가 알람 해제를 알리면 설비 통신이 Ack 하고 에러 코드를 내린다.</a:t>
            </a:r>
          </a:p>
          <a:p>
            <a:pPr algn="ctr"/>
            <a:r>
              <a:rPr sz="1050" b="0">
                <a:solidFill>
                  <a:srgbClr val="595959"/>
                </a:solidFill>
                <a:latin typeface="맑은 고딕"/>
              </a:rPr>
              <a:t>[환경설정] 의 "시간 기반 자동 처리" 는 기본 사용 안 함이다. 켰을 때만 경과시간으로 완료를 추정한다.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864608"/>
            <a:ext cx="11064240" cy="36576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그 밖의 정체와 조치</a:t>
            </a:r>
          </a:p>
        </p:txBody>
      </p:sp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640080" y="5138928"/>
          <a:ext cx="1106424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7132320"/>
              </a:tblGrid>
              <a:tr h="219456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</a:rPr>
                        <a:t>상황</a:t>
                      </a:r>
                    </a:p>
                  </a:txBody>
                  <a:tcPr marT="18288" marB="18288"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FFFFFF"/>
                          </a:solidFill>
                          <a:latin typeface="맑은 고딕"/>
                        </a:rPr>
                        <a:t>조치</a:t>
                      </a:r>
                    </a:p>
                  </a:txBody>
                  <a:tcPr marT="18288" marB="18288">
                    <a:solidFill>
                      <a:srgbClr val="1E2761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22222"/>
                          </a:solidFill>
                          <a:latin typeface="맑은 고딕"/>
                        </a:rPr>
                        <a:t>작업 삭제 뒤 RTV/크레인에 지시 흔적이 남음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22222"/>
                          </a:solidFill>
                          <a:latin typeface="맑은 고딕"/>
                        </a:rPr>
                        <a:t>SweepOrphanVehicleData 가 자동 정리 (지시 소비 · 차상 빔 · 유휴 · 작업 없음)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22222"/>
                          </a:solidFill>
                          <a:latin typeface="맑은 고딕"/>
                        </a:rPr>
                        <a:t>상위 완료 응답이 오지 않음</a:t>
                      </a:r>
                    </a:p>
                  </a:txBody>
                  <a:tcPr marT="18288" marB="18288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22222"/>
                          </a:solidFill>
                          <a:latin typeface="맑은 고딕"/>
                        </a:rPr>
                        <a:t>09 로 유지, EcsComA.ini [Host] RE_REPORT_09_SEC(기본 60초) 간격 재보고</a:t>
                      </a:r>
                    </a:p>
                  </a:txBody>
                  <a:tcPr marT="18288" marB="18288">
                    <a:solidFill>
                      <a:srgbClr val="EEF1F7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22222"/>
                          </a:solidFill>
                          <a:latin typeface="맑은 고딕"/>
                        </a:rPr>
                        <a:t>상태바 EQUIP / HOST / SCH 빨강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22222"/>
                          </a:solidFill>
                          <a:latin typeface="맑은 고딕"/>
                        </a:rPr>
                        <a:t>해당 서버 프로그램 재기동 (지시는 DB 에 남아 이어서 진행된다)</a:t>
                      </a:r>
                    </a:p>
                  </a:txBody>
                  <a:tcPr marT="18288" marB="18288">
                    <a:solidFill>
                      <a:srgbClr val="FFFFFF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22222"/>
                          </a:solidFill>
                          <a:latin typeface="맑은 고딕"/>
                        </a:rPr>
                        <a:t>C/V#2 통로 방향이 한쪽에 묶임</a:t>
                      </a:r>
                    </a:p>
                  </a:txBody>
                  <a:tcPr marT="18288" marB="18288"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222222"/>
                          </a:solidFill>
                          <a:latin typeface="맑은 고딕"/>
                        </a:rPr>
                        <a:t>CV2_DIR_MODE 확인. 필요 시 운전 화면에서 방향 칸 더블클릭(수동 전환)</a:t>
                      </a:r>
                    </a:p>
                  </a:txBody>
                  <a:tcPr marT="18288" marB="18288">
                    <a:solidFill>
                      <a:srgbClr val="EEF1F7"/>
                    </a:solidFill>
                  </a:tcPr>
                </a:tc>
              </a:tr>
            </a:tbl>
          </a:graphicData>
        </a:graphic>
      </p:graphicFrame>
      <p:sp>
        <p:nvSpPr>
          <p:cNvPr id="21" name="TextBox 20"/>
          <p:cNvSpPr txBox="1"/>
          <p:nvPr/>
        </p:nvSpPr>
        <p:spPr>
          <a:xfrm>
            <a:off x="457200" y="6419088"/>
            <a:ext cx="640080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l"/>
            <a:r>
              <a:rPr sz="900" b="0">
                <a:solidFill>
                  <a:srgbClr val="595959"/>
                </a:solidFill>
                <a:latin typeface="맑은 고딕"/>
              </a:rPr>
              <a:t>LG 화학 1동 ECS  |  예외 처리 흐름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47120" y="6419088"/>
            <a:ext cx="548640" cy="27432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r"/>
            <a:r>
              <a:rPr sz="900" b="0">
                <a:solidFill>
                  <a:srgbClr val="595959"/>
                </a:solidFill>
                <a:latin typeface="맑은 고딕"/>
              </a:rP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