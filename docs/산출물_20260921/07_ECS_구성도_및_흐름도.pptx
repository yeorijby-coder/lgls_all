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10058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ECS 시스템 구성도 및 업무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맑은 고딕"/>
              </a:rPr>
              <a:t>ECS Renewal   ·   작성일 2026-09-21   ·   Ver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최종판 - 현장 기본 시험 완료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문서 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일자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작성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2026-09-05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최초 작성 (시스템 구성도, 입고·출고 플로우차트/다이어그램, 피킹, 예외) - 파일명 07_WCS_구성도_및_흐름도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2026-09-21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최종판 - 명칭 ECS 통일, 작업상태 전이 현행화(11/21/30/31 폐기, 16 추가, 입고 25→09), C/V#2 통로 사용권·겸용대 보호·알람 흐름 추가, 이중입고/공출고 작업상태 처리 미사용 반영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문서 이력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시스템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모든 프로그램은 DB(LGLS_MCS_IO)를 매개로 구동한다. 화살표는 데이터가 흐르는 방향이다.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194560" cy="7315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상위 시스템</a:t>
            </a:r>
          </a:p>
          <a:p>
            <a:pPr algn="ctr"/>
            <a:r>
              <a:rPr sz="1000" b="0">
                <a:solidFill>
                  <a:srgbClr val="595959"/>
                </a:solidFill>
                <a:latin typeface="맑은 고딕"/>
              </a:rPr>
              <a:t>WMS / 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219456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상위 통신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219456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스케줄러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7" name="Magnetic Disk 6"/>
          <p:cNvSpPr/>
          <p:nvPr/>
        </p:nvSpPr>
        <p:spPr>
          <a:xfrm>
            <a:off x="4434840" y="3063240"/>
            <a:ext cx="2468880" cy="1234440"/>
          </a:xfrm>
          <a:prstGeom prst="flowChartMagneticDisk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DB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Microsoft SQL Server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LGLS_MCS_IO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029200"/>
            <a:ext cx="219456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설비 통신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WCS_TASK_CV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91840"/>
            <a:ext cx="23774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운전 화면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Ecs.exe (Client)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029200"/>
            <a:ext cx="2377440" cy="77724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설비 / PLC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XGT · C/V · S/C · RGV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743200"/>
            <a:ext cx="0" cy="54864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11680" y="2743200"/>
            <a:ext cx="0" cy="54864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3675887"/>
            <a:ext cx="13258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240280"/>
            <a:ext cx="0" cy="8229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06440" y="2240280"/>
            <a:ext cx="0" cy="8229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69280" y="4297680"/>
            <a:ext cx="0" cy="73152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06440" y="4297680"/>
            <a:ext cx="0" cy="73152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03720" y="3675887"/>
            <a:ext cx="150876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5413248"/>
            <a:ext cx="164592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66560" y="5596128"/>
            <a:ext cx="164592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114800"/>
            <a:ext cx="2194560" cy="2194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O/R/M/D 수신 · S/E/F 송신 · TCP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623560"/>
            <a:ext cx="1508760" cy="21945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XGT 1소켓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188720"/>
            <a:ext cx="420624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각 프로그램의 역할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상위 통신 : WMS/IMS 전문을 작업(JOB_MST)으로 바꾸고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상태·완료·에러를 되보고한다. 완료 응답을 받으면 삭제.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스케줄러 : 작업 상태를 진행시키고 설비 지시(_OD)와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방향 지시(CMD_RQ_ID=DIR)를 쓴다.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설비 통신 : PLC 를 읽어 _RD·알람 코드를 쓰고, 지시를 PLC 에 전송.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운전 화면 : DB 를 보여주고 수동 지시·설정을 DB 에 기록한다.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설비와 직접 통신하지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356616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한 줄 요약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프로그램끼리 직접 부르지 않는다.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모두 DB 를 통해 주고받으므로,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하나가 죽어도 지시와 상태는 DB 에 남는다.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시스템 구성도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입고 플로우차트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상태(JOB_STATUS)를 따라가는 판단 흐름. 로직1(124) 기준이며 로직2(130)·로직3(122)은 출발 트랙만 다르다.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143000"/>
            <a:ext cx="356616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시작 : 입고대에 파렛트 적재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63640" y="16459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480560" y="178308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상위 O 전문 수신 · 작업 생성 (99 →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0195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 · 스케줄러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63640" y="228600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480560" y="2423160"/>
            <a:ext cx="35661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입고대 CV 이송 지시 (10 → 15)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RGV 픽업 트랙 도착 확인 (15 유지)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4203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295351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80560" y="3063240"/>
            <a:ext cx="35661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RGV 반송 (15 → 35 → 39)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픽업 트랙 → 크레인 통로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18211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RGV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359359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80560" y="370332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도착 트랙 실물 확인 (39 → 15 또는 16)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22191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20624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480560" y="4343400"/>
            <a:ext cx="35661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크레인 반송 (→ 25)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S/C측 트랙 → 랙 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6227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크레인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63640" y="487375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480560" y="498348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크레인 완료 신호 → 입고 완료 (25 → 09)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0235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63640" y="548640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80560" y="5623560"/>
            <a:ext cx="356616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상위 F 전문 보고 → 응답 수신 시 삭제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74243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143000"/>
            <a:ext cx="329184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RGV 지시 전 확인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508760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① 드롭칸 비어 있음 (칸 단위 2-deep)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810512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② 출발·도착 트랙 H/S 신호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112264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③ RTV 자동·유휴, 다른 작업 반송 중 아님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414015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④ 픽업 트랙 화물 = 이 작업의 화물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715768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⑤ 도착 트랙에 착지 기록 대기(39) 작업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017520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⑥ 1호기행 : C/V#2 입고 사용권 확보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3383280"/>
            <a:ext cx="3291840" cy="54864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하나라도 아니면 지시하지 않고</a:t>
            </a:r>
          </a:p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로그에 보류 사유를 남긴다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114800"/>
            <a:ext cx="329184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상태 코드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480560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99 신규   10 CV 구동대기   15 CV 구동중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773168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16 통로CV 구동중 ([CNF] IN_HS_STATUS=16)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065776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35 RGV 구동중   39 RGV 구동완료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358384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25 크레인 구동중   09 완료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650992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※ 11 · 21 · 30 · 31 은 폐기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입고 플로우차트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입고 플로우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누가 무엇을 하는지 시간 순서(왼쪽 → 오른쪽)로 본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solidFill>
            <a:srgbClr val="EFE9E1"/>
          </a:solidFill>
          <a:ln w="9525">
            <a:solidFill>
              <a:srgbClr val="B0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WMS / IMS   (외부 시스템)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11247120" cy="658368"/>
          </a:xfrm>
          <a:prstGeom prst="rect">
            <a:avLst/>
          </a:prstGeom>
          <a:solidFill>
            <a:srgbClr val="E3EDF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상위 통신   (ECS)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47120" cy="658368"/>
          </a:xfrm>
          <a:prstGeom prst="rect">
            <a:avLst/>
          </a:prstGeom>
          <a:solidFill>
            <a:srgbClr val="E3EDF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스케줄러   (ECS)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47120" cy="658368"/>
          </a:xfrm>
          <a:prstGeom prst="rect">
            <a:avLst/>
          </a:prstGeom>
          <a:solidFill>
            <a:srgbClr val="E3EDF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통신   (ECS)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EFE9E1"/>
          </a:solidFill>
          <a:ln w="9525">
            <a:solidFill>
              <a:srgbClr val="B0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49884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/ PLC   (외부 설비)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스케줄러는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설비에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직접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말하지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않는다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지시를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DB(_OD)에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쓰면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PLC 로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전송한다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올린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신호는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통신이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관측해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Ack 를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돌려주고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DB(_RD)에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남긴다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스케줄러는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그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값과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위치를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보고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올린다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입고는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크레인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즉시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09(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)가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되고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응답을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받으면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작업이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삭제된다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응답이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없으면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RE_REPORT_09_SEC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간격으로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재보고한다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127101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 전문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(작업 지시)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41448" y="1847088"/>
            <a:ext cx="0" cy="201167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83080" y="2048255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 생성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JOB_MST 99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41448" y="262432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CV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99 → 10 → 15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04487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4612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PLC 쓰기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트래킹/목적지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04487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4612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컨베이어 이송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→ RGV 픽업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→ 35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67528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67528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0916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반송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통로로 하역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하역 완료 신호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830568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7220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COMPLETE_RD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830568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35 → 39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→ 15/16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→ 25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93608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3524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93608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3524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적재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셀에 저장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4379976"/>
            <a:ext cx="114300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신호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665207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98280" y="360273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665207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98280" y="282549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25 → 09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665207" y="262432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098280" y="2048255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F 전문 보고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665207" y="1847088"/>
            <a:ext cx="0" cy="201167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378440" y="1271016"/>
            <a:ext cx="123444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응답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78440" y="2048255"/>
            <a:ext cx="123444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 삭제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241280" y="1517904"/>
            <a:ext cx="13716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91088" y="1847088"/>
            <a:ext cx="0" cy="201167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입고 플로우 다이어그램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1965960"/>
            <a:ext cx="68580" cy="2212848"/>
          </a:xfrm>
          <a:prstGeom prst="round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C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출고 플로우차트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입고의 역순이다. 크레인이 먼저 움직이고, 출고대 RGV측 트랙에 실물이 기록되면 완료다.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143000"/>
            <a:ext cx="356616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시작 : 상위 O 전문(출발 셀 · 도착 작업대)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26187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63640" y="16459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480560" y="178308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작업 생성 (99) → 크레인 구동대기 (20)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0195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228600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80560" y="2423160"/>
            <a:ext cx="35661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크레인 반송 (20 → 25 → 29)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랙 셀 → S/C측 트랙 · 상위 1차 완료보고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4203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크레인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63640" y="295351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80560" y="306324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H/S 트랙 착지 확인 (29 → 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8211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356616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480560" y="3703320"/>
            <a:ext cx="35661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RGV 반송 (16 → 35 → 39)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통로 → 출고대 RGV측 트랙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822191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RGV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3640" y="423367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80560" y="434340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도착 트랙 작업번호 기록 확인 (39 → 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46227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48463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480560" y="4983480"/>
            <a:ext cx="356616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상위 F 전문 보고 → 응답 수신 시 삭제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10235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3640" y="548640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80560" y="5623560"/>
            <a:ext cx="356616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출고대에서 지게차 반출 (ECS 책임 밖)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42432"/>
            <a:ext cx="2057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작업자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143000"/>
            <a:ext cx="329184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출고 작업대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508760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126 원부자재 불출대 (C/V#13, 로직1)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801368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129 피킹 작업대 (C/V#14, 로직2)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093976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122 입출고 겸용대 (C/V#11, 로직3)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487168"/>
            <a:ext cx="3291840" cy="9601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C87A0E"/>
                </a:solidFill>
                <a:latin typeface="맑은 고딕"/>
              </a:rPr>
              <a:t>크레인 출고 지시 전 확인</a:t>
            </a:r>
          </a:p>
          <a:p>
            <a:pPr algn="ctr"/>
            <a:r>
              <a:rPr sz="950" b="1">
                <a:solidFill>
                  <a:srgbClr val="C87A0E"/>
                </a:solidFill>
                <a:latin typeface="맑은 고딕"/>
              </a:rPr>
              <a:t>크레인 유휴 · 출고 H/S ON · 하차 트랙 빔</a:t>
            </a:r>
          </a:p>
          <a:p>
            <a:pPr algn="ctr"/>
            <a:r>
              <a:rPr sz="950" b="1">
                <a:solidFill>
                  <a:srgbClr val="C87A0E"/>
                </a:solidFill>
                <a:latin typeface="맑은 고딕"/>
              </a:rPr>
              <a:t>같은 크레인 출고가 CV 구간에 2건 미만</a:t>
            </a:r>
          </a:p>
          <a:p>
            <a:pPr algn="ctr"/>
            <a:r>
              <a:rPr sz="950" b="1">
                <a:solidFill>
                  <a:srgbClr val="C87A0E"/>
                </a:solidFill>
                <a:latin typeface="맑은 고딕"/>
              </a:rPr>
              <a:t>크레인당 사이클 1건 · 1호기는 출고 사용권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11880"/>
            <a:ext cx="329184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상태 코드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77639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99 신규   20 크레인 대기   25 구동중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70248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29 크레인 완료(출고 1차 - 랙 셀 해제)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562855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16 통로CV 구동중   35 · 39 RGV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55464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09 완료 → 응답 시 삭제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148072"/>
            <a:ext cx="32918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※ 출고대 신호 경로 : 15 → 19 →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출고 플로우차트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출고 플로우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누가 무엇을 하는지 시간 순서(왼쪽 → 오른쪽)로 본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solidFill>
            <a:srgbClr val="EFE9E1"/>
          </a:solidFill>
          <a:ln w="9525">
            <a:solidFill>
              <a:srgbClr val="B0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WMS / IMS   (외부 시스템)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11247120" cy="658368"/>
          </a:xfrm>
          <a:prstGeom prst="rect">
            <a:avLst/>
          </a:prstGeom>
          <a:solidFill>
            <a:srgbClr val="E3EDF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상위 통신   (ECS)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47120" cy="658368"/>
          </a:xfrm>
          <a:prstGeom prst="rect">
            <a:avLst/>
          </a:prstGeom>
          <a:solidFill>
            <a:srgbClr val="E3EDF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스케줄러   (ECS)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47120" cy="658368"/>
          </a:xfrm>
          <a:prstGeom prst="rect">
            <a:avLst/>
          </a:prstGeom>
          <a:solidFill>
            <a:srgbClr val="E3EDF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통신   (ECS)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EFE9E1"/>
          </a:solidFill>
          <a:ln w="9525">
            <a:solidFill>
              <a:srgbClr val="B0A6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498848"/>
            <a:ext cx="13716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/ PLC   (외부 설비)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출고는 크레인이 먼저 움직인다. 크레인이 통로에 내려놓으면 컨베이어와 RGV 가 출고대까지 이어 나른다.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크레인 완료(29) 때 상위에 1차 완료보고를 보낸다(랙 셀 해제). 상태는 그대로 두고 작업은 계속 진행한다.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RTV 완료만으로 끝내지 않는다. 출고대 RGV측 트랙에 작업번호가 실제로 기록된 것을 확인한 뒤 09 로 완료한다.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127101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 전문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(출고 지시)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41448" y="1847088"/>
            <a:ext cx="0" cy="201167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83080" y="2048255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 생성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JOB_MST 99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41448" y="262432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99 → 20 → 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04487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4612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04487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4612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출고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셀 → 트랙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신호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367528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367528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0916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25 → 29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367528" y="262432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09160" y="2048255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1차 완료보고 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착지 29 → 16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지시 → 35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30568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30568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17220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반송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→ 출고대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하역 완료 신호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293608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3524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293608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3524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35 → 39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4379976"/>
            <a:ext cx="114300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트랙 작업번호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기록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665207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98280" y="360273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기록 관측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665207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098280" y="282549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39 → 09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665207" y="262432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098280" y="2048255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F 전문 보고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9665207" y="1847088"/>
            <a:ext cx="0" cy="201167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378440" y="1271016"/>
            <a:ext cx="123444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응답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78440" y="2048255"/>
            <a:ext cx="123444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 삭제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41280" y="1517904"/>
            <a:ext cx="13716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991088" y="1847088"/>
            <a:ext cx="0" cy="201167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출고 플로우 다이어그램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1965960"/>
            <a:ext cx="68580" cy="2212848"/>
          </a:xfrm>
          <a:prstGeom prst="roundRect">
            <a:avLst/>
          </a:prstGeom>
          <a:solidFill>
            <a:srgbClr val="1E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C</a:t>
            </a:r>
          </a:p>
          <a:p>
            <a:pPr algn="ctr"/>
            <a:r>
              <a:rPr sz="800" b="1">
                <a:solidFill>
                  <a:srgbClr val="FFFFFF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S/C#1 통로(C/V#2) 방향 전환 - 통로 사용권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입고 드롭(103→104)과 출고 반출(104→103)이 한 통로를 쓴다. 현장 설정 [CNF] CV2_DIR_MODE=2 : 지시를 낼 때만 방향을 바꾼다.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56616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출고 - DriveSC (크레인 1호기 출고 후보 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입고 사용권 또는 입고 예약?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1655064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82112" y="1536192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있음 → 보류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189280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05740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CV2_FAIR=1 이고</a:t>
            </a:r>
          </a:p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입고가 더 오래 기다림?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295144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82112" y="2176272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예 → 보류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45920" y="253288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269748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출고 예약 (20초)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317296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33756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통로 방향 ≠ 출고?</a:t>
            </a:r>
          </a:p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→ DIR(1) 기록, 다음 사이클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813048"/>
            <a:ext cx="0" cy="164591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397764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출고 H/S ON → 크레인 지시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45920" y="445312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617720"/>
            <a:ext cx="2377440" cy="475488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25 = 출고 사용권</a:t>
            </a:r>
          </a:p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(25 · 29 · 16, 35+통로 위 실물)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70448"/>
            <a:ext cx="356616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50" b="1">
                <a:solidFill>
                  <a:srgbClr val="2E864B"/>
                </a:solidFill>
                <a:latin typeface="맑은 고딕"/>
              </a:rPr>
              <a:t>풀림 : RTV 가 출고 화물을 싣고 통로를 벗어날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1097280"/>
            <a:ext cx="37490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입고 - DriveRGV (1호기행 입고 후보 15/16)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41732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출고 사용권 또는 출고 예약?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37960" y="1655064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85432" y="1536192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있음 → 보류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49240" y="189280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205740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FAIR=0 : 대기 출고 + 1호기 정상?</a:t>
            </a:r>
          </a:p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FAIR=1 : 출고가 더 오래?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37960" y="2295144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85432" y="2176272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예 → 양보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49240" y="253288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60520" y="269748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입고 예약 (20초)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9240" y="317296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60520" y="333756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통로 방향 ≠ 입고?</a:t>
            </a:r>
          </a:p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→ DIR(0) 기록, 다음 사이클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49240" y="3813048"/>
            <a:ext cx="0" cy="164591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160520" y="3977640"/>
            <a:ext cx="237744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출발·도착 H/S ON → RTV 지시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49240" y="4453128"/>
            <a:ext cx="0" cy="164592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160520" y="4617720"/>
            <a:ext cx="2377440" cy="475488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35 = 입고 사용권</a:t>
            </a:r>
          </a:p>
          <a:p>
            <a:pPr algn="ctr"/>
            <a:r>
              <a:rPr sz="900" b="1">
                <a:solidFill>
                  <a:srgbClr val="1E2761"/>
                </a:solidFill>
                <a:latin typeface="맑은 고딕"/>
              </a:rPr>
              <a:t>(35 · 39, 16/15+통로 위 실물)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870448"/>
            <a:ext cx="37490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50" b="1">
                <a:solidFill>
                  <a:srgbClr val="2E864B"/>
                </a:solidFill>
                <a:latin typeface="맑은 고딕"/>
              </a:rPr>
              <a:t>풀림 : 크레인 1호기에 입고 지시(25)를 줄 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097280"/>
            <a:ext cx="37490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■ 전환 방식 [CNF] CV2_DIR_MODE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8092440" y="1389888"/>
          <a:ext cx="3657600" cy="1248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동작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종전 - 입고 진행 → 출고 진행 → 대기 순 수시 전환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교착 때만 (코드 기본값) - 현재 방향 작업이 없으면 전환, 크레인 25 가 아니고 CV2_STALL_SEC(60초) 무진행이면 강제 전환(DIRF)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통로 사용권 (현장 설정) - 왼쪽 흐름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■ 방향 지시 (CV_DATA.CMD_RQ_ID)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092440" y="3355848"/>
          <a:ext cx="37490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의미 / 설비 통신 처리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DIR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일반 - 현재 방향 화물이 남아 있으면 보류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DIRF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교착 해제 - 화물 보류 없이 즉시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DIRW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HOST 입고 복귀 - 빈 뒤 DIR 로 승격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DIRM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22222"/>
                          </a:solidFill>
                          <a:latin typeface="맑은 고딕"/>
                        </a:rPr>
                        <a:t>운전 화면 수동 - 즉시, 자동 지시 120초 억제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8092440" y="5029200"/>
            <a:ext cx="3749039" cy="128016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맑은 고딕"/>
              </a:rPr>
              <a:t>함께 동작하는 보호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· 크레인당 사이클 1건 지시 (09-16 교착 방지)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· 통로에 입고 화물·RTV 1호기행 입고 지시 → 1호기 출고 보류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· 1호기 출고 25/29/16 · 통로 출고 화물 → 1호기행 입고 보류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· CV2_FAIR 0 = 출고 우선(현장) / 1 = 번갈아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C/V#2 통로 사용권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겸용 입출고대(122) 입고 전환 보호 · 모드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출고 화물이 막 도착한 순간 입고로 뒤집히면 벨트가 화물을 121 로 되끌어 갇힌다(09-16 실측). 입고(0) 전환은 모든 경로가 아래 검사를 지난다.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3035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IsDualStnClearForInbound(122)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356616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입고 전환 요청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(자동 복귀 · HOST DIRW 승격 · RequestCvDirection)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1984248"/>
            <a:ext cx="0" cy="182880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167128"/>
            <a:ext cx="35661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121 · 122 화물 센서 0, 트래킹 0 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2418588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70832" y="2299716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아니오 → 보류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670048"/>
            <a:ext cx="0" cy="182880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852928"/>
            <a:ext cx="35661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빈 상태가 3초 이상 연속 관측?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3104388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70832" y="2985516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아니오 → 대기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0280" y="3355848"/>
            <a:ext cx="0" cy="182880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538728"/>
            <a:ext cx="35661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122 행 출고가 15초 안에 완료(09/19/39)?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23360" y="3790188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70832" y="3671316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예 → 보류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40280" y="4041648"/>
            <a:ext cx="0" cy="182880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7200" y="4224528"/>
            <a:ext cx="356616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작업대로 오는 출고 진행 중?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4475988"/>
            <a:ext cx="320040" cy="0"/>
          </a:xfrm>
          <a:prstGeom prst="line">
            <a:avLst/>
          </a:prstGeom>
          <a:ln w="1587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70832" y="4357116"/>
            <a:ext cx="1143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850" b="1">
                <a:solidFill>
                  <a:srgbClr val="B02E2E"/>
                </a:solidFill>
                <a:latin typeface="맑은 고딕"/>
              </a:rPr>
              <a:t>예 → 보류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4727448"/>
            <a:ext cx="0" cy="182880"/>
          </a:xfrm>
          <a:prstGeom prst="line">
            <a:avLst/>
          </a:prstGeom>
          <a:ln w="15875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4910328"/>
            <a:ext cx="356616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DIR(0) 기록 → 설비 통신이 방향 워드 기록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143000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상위 모드 전환(M 전문)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48132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WMS 가 101(122) 또는 110(103)의 모드를 보낸다.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75564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출고(1) : 즉시 CMD_RQ_ID=DIR 로 기록.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02996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입고(0) : DIRW(대기)로 기록 → IO_TASK PromotePendingDirection 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30428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작업대와 짝 트랙이 비고, 122 는 위 검사를 통과하면 DIR 로 승격.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743200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겸용대 CV 지시 보류 (DriveCV)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08152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122 로 오는 출고가 RTV 에 지시돼 있으면 122 발 입고 CV 지시 보류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35584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1호기 출고가 끝나지 않았으면 122 발 1호기행 입고 CV 지시 보류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3016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122 행 출고 CV 지시 전에 방향이 입고면 출고(1)로 먼저 전환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69080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수동 전환 우선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40740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운전 화면에서 방향 칸을 더블클릭하면 DIRM 으로 즉시 기록된다.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8172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 뒤 [CNF] MANUAL_DIR_HOLD_SEC(기본 120초) 동안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956048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  자동 방향 지시(RequestCvDirection)를 내지 않는다.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겸용대 보호 · 모드 전환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피킹 작업대 흐름 (102)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129(출고)와 130(재입고)은 물리적으로 한 자리다. IMS 는 둘을 하나의 작업대 102 로 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2860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출고 흐름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랙 → 129 도착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371600"/>
            <a:ext cx="2286000" cy="82296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C87A0E"/>
                </a:solidFill>
                <a:latin typeface="맑은 고딕"/>
              </a:rPr>
              <a:t>작업자 피킹</a:t>
            </a:r>
          </a:p>
          <a:p>
            <a:pPr algn="ctr"/>
            <a:r>
              <a:rPr sz="1200" b="1">
                <a:solidFill>
                  <a:srgbClr val="C87A0E"/>
                </a:solidFill>
                <a:latin typeface="맑은 고딕"/>
              </a:rPr>
              <a:t>필요 수량만 꺼냄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71600"/>
            <a:ext cx="22860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2E864B"/>
                </a:solidFill>
                <a:latin typeface="맑은 고딕"/>
              </a:rPr>
              <a:t>PLC 인계</a:t>
            </a:r>
          </a:p>
          <a:p>
            <a:pPr algn="ctr"/>
            <a:r>
              <a:rPr sz="1200" b="1">
                <a:solidFill>
                  <a:srgbClr val="2E864B"/>
                </a:solidFill>
                <a:latin typeface="맑은 고딕"/>
              </a:rPr>
              <a:t>#30 ON → #29 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37160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재입고 흐름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130 → 131 → 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783080"/>
            <a:ext cx="6400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6480" y="1783080"/>
            <a:ext cx="6400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783080"/>
            <a:ext cx="6400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606040"/>
            <a:ext cx="1078992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PLC 사양(시나리오 슬라이드 13)에 적힌 인계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105156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화물이 #29 에 도착 → W.O 비트 ON, 트래킹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64991"/>
            <a:ext cx="105156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PLC Unload Request #2 ON → ECS Ack ON   (작업자 피킹 구간)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12463"/>
            <a:ext cx="105156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반출 완료 → PLC Unload Complete #2 ON → ECS Ack ON → 양쪽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9935"/>
            <a:ext cx="105156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Pallet Exist #30 ON   (아직 #29 도 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07408"/>
            <a:ext cx="1051560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⑤ Pallet Exist #29 OFF   ※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사양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주석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: "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출고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영역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#29 bit 만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지움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92040"/>
            <a:ext cx="10789920" cy="123444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 dirty="0" err="1">
                <a:solidFill>
                  <a:srgbClr val="C87A0E"/>
                </a:solidFill>
                <a:latin typeface="맑은 고딕"/>
              </a:rPr>
              <a:t>운영</a:t>
            </a:r>
            <a:r>
              <a:rPr sz="1200" b="1" dirty="0">
                <a:solidFill>
                  <a:srgbClr val="C87A0E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C87A0E"/>
                </a:solidFill>
                <a:latin typeface="맑은 고딕"/>
              </a:rPr>
              <a:t>기준</a:t>
            </a:r>
            <a:endParaRPr sz="1200" b="1" dirty="0">
              <a:solidFill>
                <a:srgbClr val="C87A0E"/>
              </a:solidFill>
              <a:latin typeface="맑은 고딕"/>
            </a:endParaRPr>
          </a:p>
          <a:p>
            <a:pPr algn="ctr"/>
            <a:r>
              <a:rPr sz="11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재입고는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상위의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새 O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전문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출발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102 →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내부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130)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으로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시작한다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 RGV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픽업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트랙은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131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이다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(C/V#15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슬롯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순서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131,132,130).</a:t>
            </a:r>
          </a:p>
          <a:p>
            <a:pPr algn="ctr"/>
            <a:r>
              <a:rPr sz="11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보고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시 129 · 130 은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모두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102 로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되돌린다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ctr"/>
            <a:r>
              <a:rPr sz="11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피킹대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라인은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3칸이라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입고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드롭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판정이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칸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단위로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3-deep 이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된다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피킹 작업대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알람 · 에러 흐름 (PLC 알람 리스트 2026-09-17)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PLC 알람을 설비 통신이 코드로 바꿔 DB 에 남기고, 상위 통신이 E 전문으로 보고한다. 스케줄러는 에러 설비에 지시하지 않는다.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965960" cy="9601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 dirty="0" err="1">
                <a:solidFill>
                  <a:srgbClr val="1E2761"/>
                </a:solidFill>
                <a:latin typeface="맑은 고딕"/>
              </a:rPr>
              <a:t>설비</a:t>
            </a:r>
            <a:r>
              <a:rPr sz="1200" b="1" dirty="0">
                <a:solidFill>
                  <a:srgbClr val="1E2761"/>
                </a:solidFill>
                <a:latin typeface="맑은 고딕"/>
              </a:rPr>
              <a:t> / PLC</a:t>
            </a:r>
          </a:p>
          <a:p>
            <a:pPr algn="ctr"/>
            <a:r>
              <a:rPr sz="900" b="0" dirty="0" err="1">
                <a:solidFill>
                  <a:srgbClr val="595959"/>
                </a:solidFill>
                <a:latin typeface="맑은 고딕"/>
              </a:rPr>
              <a:t>알람코드</a:t>
            </a:r>
            <a:r>
              <a:rPr sz="9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맑은 고딕"/>
              </a:rPr>
              <a:t>워드</a:t>
            </a:r>
            <a:endParaRPr sz="900" b="0" dirty="0">
              <a:solidFill>
                <a:srgbClr val="595959"/>
              </a:solidFill>
              <a:latin typeface="맑은 고딕"/>
            </a:endParaRPr>
          </a:p>
          <a:p>
            <a:pPr algn="ctr"/>
            <a:r>
              <a:rPr sz="900" b="0" dirty="0" err="1">
                <a:solidFill>
                  <a:srgbClr val="595959"/>
                </a:solidFill>
                <a:latin typeface="맑은 고딕"/>
              </a:rPr>
              <a:t>알람</a:t>
            </a:r>
            <a:r>
              <a:rPr sz="9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맑은 고딕"/>
              </a:rPr>
              <a:t>비트</a:t>
            </a:r>
            <a:r>
              <a:rPr sz="900" b="0" dirty="0">
                <a:solidFill>
                  <a:srgbClr val="595959"/>
                </a:solidFill>
                <a:latin typeface="맑은 고딕"/>
              </a:rPr>
              <a:t> M55xx·M56xx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23160" y="1709928"/>
            <a:ext cx="365760" cy="0"/>
          </a:xfrm>
          <a:prstGeom prst="line">
            <a:avLst/>
          </a:prstGeom>
          <a:ln w="2222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23444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설비 통신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WCS_TASK_CV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VehThread · CvThread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79" y="1709928"/>
            <a:ext cx="365761" cy="0"/>
          </a:xfrm>
          <a:prstGeom prst="line">
            <a:avLst/>
          </a:prstGeom>
          <a:ln w="2222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0640" y="1234440"/>
            <a:ext cx="1965960" cy="96012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DB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ERR_CODE_RD / ERROR_CODE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EQP_ERR_HIS 이력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1709928"/>
            <a:ext cx="365760" cy="0"/>
          </a:xfrm>
          <a:prstGeom prst="line">
            <a:avLst/>
          </a:prstGeom>
          <a:ln w="2222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52360" y="1234440"/>
            <a:ext cx="196596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 dirty="0" err="1">
                <a:solidFill>
                  <a:srgbClr val="1E2761"/>
                </a:solidFill>
                <a:latin typeface="맑은 고딕"/>
              </a:rPr>
              <a:t>상위</a:t>
            </a:r>
            <a:r>
              <a:rPr sz="120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E2761"/>
                </a:solidFill>
                <a:latin typeface="맑은 고딕"/>
              </a:rPr>
              <a:t>통신</a:t>
            </a:r>
            <a:endParaRPr sz="1200" b="1" dirty="0">
              <a:solidFill>
                <a:srgbClr val="1E2761"/>
              </a:solidFill>
              <a:latin typeface="맑은 고딕"/>
            </a:endParaRPr>
          </a:p>
          <a:p>
            <a:pPr algn="ctr"/>
            <a:r>
              <a:rPr sz="900" b="0" dirty="0" err="1">
                <a:solidFill>
                  <a:srgbClr val="595959"/>
                </a:solidFill>
                <a:latin typeface="맑은 고딕"/>
              </a:rPr>
              <a:t>GetErrorReport</a:t>
            </a:r>
            <a:endParaRPr sz="900" b="0" dirty="0">
              <a:solidFill>
                <a:srgbClr val="595959"/>
              </a:solidFill>
              <a:latin typeface="맑은 고딕"/>
            </a:endParaRPr>
          </a:p>
          <a:p>
            <a:pPr algn="ctr"/>
            <a:r>
              <a:rPr sz="900" b="0" dirty="0">
                <a:solidFill>
                  <a:srgbClr val="595959"/>
                </a:solidFill>
                <a:latin typeface="맑은 고딕"/>
              </a:rPr>
              <a:t>HOST_ERR_SEND_YN=N </a:t>
            </a:r>
            <a:r>
              <a:rPr sz="900" b="0" dirty="0" err="1">
                <a:solidFill>
                  <a:srgbClr val="595959"/>
                </a:solidFill>
                <a:latin typeface="맑은 고딕"/>
              </a:rPr>
              <a:t>대상</a:t>
            </a:r>
            <a:endParaRPr sz="900" b="0" dirty="0">
              <a:solidFill>
                <a:srgbClr val="595959"/>
              </a:solidFill>
              <a:latin typeface="맑은 고딕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1709928"/>
            <a:ext cx="365760" cy="0"/>
          </a:xfrm>
          <a:prstGeom prst="line">
            <a:avLst/>
          </a:prstGeom>
          <a:ln w="22225">
            <a:solidFill>
              <a:srgbClr val="B02E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84080" y="1234440"/>
            <a:ext cx="1965960" cy="9601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 dirty="0">
                <a:solidFill>
                  <a:srgbClr val="1E2761"/>
                </a:solidFill>
                <a:latin typeface="맑은 고딕"/>
              </a:rPr>
              <a:t>WMS / IMS</a:t>
            </a:r>
          </a:p>
          <a:p>
            <a:pPr algn="ctr"/>
            <a:r>
              <a:rPr sz="900" b="0" dirty="0">
                <a:solidFill>
                  <a:srgbClr val="595959"/>
                </a:solidFill>
                <a:latin typeface="맑은 고딕"/>
              </a:rPr>
              <a:t>E </a:t>
            </a:r>
            <a:r>
              <a:rPr sz="900" b="0" dirty="0" err="1">
                <a:solidFill>
                  <a:srgbClr val="595959"/>
                </a:solidFill>
                <a:latin typeface="맑은 고딕"/>
              </a:rPr>
              <a:t>전문</a:t>
            </a:r>
            <a:r>
              <a:rPr sz="9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595959"/>
                </a:solidFill>
                <a:latin typeface="맑은 고딕"/>
              </a:rPr>
              <a:t>수신</a:t>
            </a:r>
            <a:endParaRPr sz="900" b="0" dirty="0">
              <a:solidFill>
                <a:srgbClr val="595959"/>
              </a:solidFill>
              <a:latin typeface="맑은 고딕"/>
            </a:endParaRPr>
          </a:p>
          <a:p>
            <a:pPr algn="ctr"/>
            <a:r>
              <a:rPr sz="900" b="0" dirty="0" err="1">
                <a:solidFill>
                  <a:srgbClr val="595959"/>
                </a:solidFill>
                <a:latin typeface="맑은 고딕"/>
              </a:rPr>
              <a:t>ErrorKind</a:t>
            </a:r>
            <a:r>
              <a:rPr sz="900" b="0" dirty="0">
                <a:solidFill>
                  <a:srgbClr val="595959"/>
                </a:solidFill>
                <a:latin typeface="맑은 고딕"/>
              </a:rPr>
              <a:t> · </a:t>
            </a:r>
            <a:r>
              <a:rPr sz="900" b="0" dirty="0" err="1">
                <a:solidFill>
                  <a:srgbClr val="595959"/>
                </a:solidFill>
                <a:latin typeface="맑은 고딕"/>
              </a:rPr>
              <a:t>코드</a:t>
            </a:r>
            <a:endParaRPr sz="900" b="0" dirty="0">
              <a:solidFill>
                <a:srgbClr val="595959"/>
              </a:solidFill>
              <a:latin typeface="맑은 고딕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468880"/>
          <a:ext cx="112928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설비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PLC 신호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DB 기록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스태커 크레인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알람코드 워드 (SC_ERR_CODE_BLOCK=0 상시)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SC_DATA_LGLS.ERR_CODE_RD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코드표 EQP_ECD_MST 구분 SC_LGLS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메인 C/V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과부하 비트 M5501 ~ M550D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CV_DATA.ERROR_CODE '0119' ~ '0131'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CvThread.CvMainAlarmBits - 비트 OFF 면 그 코드일 때만 0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RGV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알람 비트 M5601 ~ M560F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RTV_DATA_LGLS.ERR_CODE_RD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VehThread.ReadRgvAlarmBitCode - 코드 워드가 0 일 때 사용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EQP_ERR_HIS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운전 화면 [설비에러이력]. [CNF] MAIN_ALM_BITS=0 이면 비트 읽기 끔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크레인 에러 ErrorKind (EcsComA.ini [Host])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937760"/>
          <a:ext cx="5577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ErrorKind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73 · 74 (ScDualCodes)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좌 · 우측 렉 이중입고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222222"/>
                          </a:solidFill>
                          <a:latin typeface="맑은 고딕"/>
                        </a:rPr>
                        <a:t>75 (</a:t>
                      </a:r>
                      <a:r>
                        <a:rPr sz="9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ScEmptyCodes</a:t>
                      </a:r>
                      <a:r>
                        <a:rPr sz="95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공출고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그 밖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기계적</a:t>
                      </a:r>
                      <a:r>
                        <a:rPr sz="95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에러</a:t>
                      </a:r>
                      <a:endParaRPr sz="95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09360" y="4617720"/>
            <a:ext cx="5440680" cy="169164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 dirty="0" err="1">
                <a:solidFill>
                  <a:srgbClr val="1E2761"/>
                </a:solidFill>
                <a:latin typeface="맑은 고딕"/>
              </a:rPr>
              <a:t>스케줄러의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처리</a:t>
            </a:r>
            <a:endParaRPr sz="1150" b="1" dirty="0">
              <a:solidFill>
                <a:srgbClr val="1E2761"/>
              </a:solidFill>
              <a:latin typeface="맑은 고딕"/>
            </a:endParaRPr>
          </a:p>
          <a:p>
            <a:pPr algn="ctr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MonitorAlarm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: 새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알람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코드를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로그로만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남긴다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ctr"/>
            <a:r>
              <a:rPr sz="1000" b="0" dirty="0">
                <a:solidFill>
                  <a:srgbClr val="595959"/>
                </a:solidFill>
                <a:latin typeface="맑은 고딕"/>
              </a:rPr>
              <a:t>·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DriveSC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DriveRGV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/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DriveCV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는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에러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코드가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있는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설비에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지시하지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95959"/>
                </a:solidFill>
                <a:latin typeface="맑은 고딕"/>
              </a:rPr>
              <a:t>않는다</a:t>
            </a:r>
            <a:r>
              <a:rPr sz="100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알람 · 에러 흐름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예외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완료는 설비 신호로만 판정한다. 자동으로 밀어내지 않고, 멈춘 작업은 경고를 남겨 사람이 처리한다.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이중입고(73/74) · 공출고(75)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50" b="1">
                <a:solidFill>
                  <a:srgbClr val="C87A0E"/>
                </a:solidFill>
                <a:latin typeface="맑은 고딕"/>
              </a:rPr>
              <a:t>→ 이 현장은 작업상태 자동 처리를 쓰지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크레인 알람코드 → SC_DATA_LGLS.ERR_CODE_RD, EQP_ERR_HIS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79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상위에 E 전문 보고 (ErrorKind 1 /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39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에러가 난 크레인에는 새 지시를 내지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08/07(에러) · 06/05(재지정) 상태 전환은 하지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⑤ 운전자가 설비와 작업을 확인해 처리한다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09728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작업 체류 (설비 무응답)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050" b="1" dirty="0">
                <a:solidFill>
                  <a:srgbClr val="C87A0E"/>
                </a:solidFill>
                <a:latin typeface="맑은 고딕"/>
              </a:rPr>
              <a:t>→ 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체류</a:t>
            </a:r>
            <a:r>
              <a:rPr sz="1050" b="1" dirty="0">
                <a:solidFill>
                  <a:srgbClr val="C87A0E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복구</a:t>
            </a:r>
            <a:r>
              <a:rPr sz="1050" b="1" dirty="0">
                <a:solidFill>
                  <a:srgbClr val="C87A0E"/>
                </a:solidFill>
                <a:latin typeface="맑은 고딕"/>
              </a:rPr>
              <a:t>(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시간</a:t>
            </a:r>
            <a:r>
              <a:rPr sz="1050" b="1" dirty="0">
                <a:solidFill>
                  <a:srgbClr val="C87A0E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기반</a:t>
            </a:r>
            <a:r>
              <a:rPr sz="1050" b="1" dirty="0">
                <a:solidFill>
                  <a:srgbClr val="C87A0E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자동</a:t>
            </a:r>
            <a:r>
              <a:rPr sz="1050" b="1" dirty="0">
                <a:solidFill>
                  <a:srgbClr val="C87A0E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완료</a:t>
            </a:r>
            <a:r>
              <a:rPr sz="1050" b="1" dirty="0">
                <a:solidFill>
                  <a:srgbClr val="C87A0E"/>
                </a:solidFill>
                <a:latin typeface="맑은 고딕"/>
              </a:rPr>
              <a:t>)는 2026-09-17 </a:t>
            </a:r>
            <a:r>
              <a:rPr sz="1050" b="1" dirty="0" err="1">
                <a:solidFill>
                  <a:srgbClr val="C87A0E"/>
                </a:solidFill>
                <a:latin typeface="맑은 고딕"/>
              </a:rPr>
              <a:t>폐기</a:t>
            </a:r>
            <a:endParaRPr sz="1050" b="1" dirty="0">
              <a:solidFill>
                <a:srgbClr val="C87A0E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CheckStalledJobs : 1분마다, 300초 이상 멈춘 작업 경고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79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([CNF] JOB_STALL_WARN_SEC, 0 = 감시 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39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②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상태를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자동으로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바꾸지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않는다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-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실물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위치를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잃지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않기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위함</a:t>
            </a:r>
            <a:endParaRPr sz="110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7960" y="2971800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③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사람이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화물을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제자리에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옮긴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뒤 [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강제완료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5212080" cy="34747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맑은 고딕"/>
              </a:rPr>
              <a:t>   (S/C 25 → 29, RTV 35 → 39,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설비가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화물을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들고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있으면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95959"/>
                </a:solidFill>
                <a:latin typeface="맑은 고딕"/>
              </a:rPr>
              <a:t>거부</a:t>
            </a:r>
            <a:r>
              <a:rPr sz="1100" b="0" dirty="0">
                <a:solidFill>
                  <a:srgbClr val="595959"/>
                </a:solidFill>
                <a:latin typeface="맑은 고딕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13632"/>
            <a:ext cx="11109960" cy="86868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50" b="1" dirty="0" err="1">
                <a:solidFill>
                  <a:srgbClr val="1E2761"/>
                </a:solidFill>
                <a:latin typeface="맑은 고딕"/>
              </a:rPr>
              <a:t>설비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에러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해제는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운전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화면의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기능이</a:t>
            </a:r>
            <a:r>
              <a:rPr sz="1150" b="1" dirty="0">
                <a:solidFill>
                  <a:srgbClr val="1E2761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1E2761"/>
                </a:solidFill>
                <a:latin typeface="맑은 고딕"/>
              </a:rPr>
              <a:t>아니다</a:t>
            </a:r>
            <a:endParaRPr sz="1150" b="1" dirty="0">
              <a:solidFill>
                <a:srgbClr val="1E2761"/>
              </a:solidFill>
              <a:latin typeface="맑은 고딕"/>
            </a:endParaRPr>
          </a:p>
          <a:p>
            <a:pPr algn="ctr"/>
            <a:r>
              <a:rPr sz="1050" b="0" dirty="0">
                <a:solidFill>
                  <a:srgbClr val="595959"/>
                </a:solidFill>
                <a:latin typeface="맑은 고딕"/>
              </a:rPr>
              <a:t>S/C · RGV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에러는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조작반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)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에서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해제한다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설비가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알람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해제를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알리면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설비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통신이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Ack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하고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에러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코드를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내린다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</a:t>
            </a:r>
          </a:p>
          <a:p>
            <a:pPr algn="ctr"/>
            <a:r>
              <a:rPr sz="1050" b="0" dirty="0">
                <a:solidFill>
                  <a:srgbClr val="595959"/>
                </a:solidFill>
                <a:latin typeface="맑은 고딕"/>
              </a:rPr>
              <a:t>[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환경설정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] 의 "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시간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기반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자동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처리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" 는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기본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사용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안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함이다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켰을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때만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경과시간으로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완료를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추정한다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1106424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그 밖의 정체와 조치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5138928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작업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삭제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뒤 RTV/</a:t>
                      </a:r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크레인에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지시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흔적이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남음</a:t>
                      </a:r>
                      <a:endParaRPr sz="90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SweepOrphanVehicleData 가 자동 정리 (지시 소비 · 차상 빔 · 유휴 · 작업 없음)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상위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완료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응답이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오지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않음</a:t>
                      </a:r>
                      <a:endParaRPr sz="90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09 로 유지, EcsComA.ini [Host] RE_REPORT_09_SEC(기본 60초) 간격 재보고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상태바 EQUIP / HOST / SCH 빨강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해당 서버 프로그램 재기동 (지시는 DB 에 남아 이어서 진행된다)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  <a:latin typeface="맑은 고딕"/>
                        </a:rPr>
                        <a:t>C/V#2 통로 방향이 한쪽에 묶임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CV2_DIR_MODE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확인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필요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시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운전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화면에서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방향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칸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더블클릭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(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수동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0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전환</a:t>
                      </a:r>
                      <a:r>
                        <a:rPr sz="90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T="18288" marB="18288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6419088"/>
            <a:ext cx="64008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ECS  |  예외 처리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2849</Words>
  <Application>Microsoft Office PowerPoint</Application>
  <PresentationFormat>와이드스크린</PresentationFormat>
  <Paragraphs>401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2026-09-21T13:22:42Z</dcterms:modified>
  <cp:category/>
</cp:coreProperties>
</file>