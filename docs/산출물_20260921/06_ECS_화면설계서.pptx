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83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058400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0">
                <a:solidFill>
                  <a:srgbClr val="CADCFC"/>
                </a:solidFill>
                <a:latin typeface="맑은 고딕"/>
              </a:rPr>
              <a:t>LG 화학 1동 자동창고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0058400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맑은 고딕"/>
              </a:rPr>
              <a:t>ECS 화면설계서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0" dirty="0">
                <a:solidFill>
                  <a:srgbClr val="CADCFC"/>
                </a:solidFill>
                <a:latin typeface="맑은 고딕"/>
              </a:rPr>
              <a:t>ECS Renewal   ·   Ver 1.3   ·   2026-09-21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846320"/>
            <a:ext cx="1005840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dirty="0" err="1">
                <a:solidFill>
                  <a:srgbClr val="CADCFC"/>
                </a:solidFill>
                <a:latin typeface="맑은 고딕"/>
              </a:rPr>
              <a:t>기준</a:t>
            </a:r>
            <a:r>
              <a:rPr sz="1200" b="0" dirty="0">
                <a:solidFill>
                  <a:srgbClr val="CADCFC"/>
                </a:solidFill>
                <a:latin typeface="맑은 고딕"/>
              </a:rPr>
              <a:t> : EXE_NEWUI\WCS_CLIENT\Ecs.exe (Build 2026.09.21 17:13:55) + Ecs.ini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Document history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3754112"/>
              </p:ext>
            </p:extLst>
          </p:nvPr>
        </p:nvGraphicFramePr>
        <p:xfrm>
          <a:off x="640080" y="1280160"/>
          <a:ext cx="10881360" cy="2822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Vers.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Date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Author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Approver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Notes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V1.0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2026-09-03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LGLS ECS Renewal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최초 작성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V1.1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2026-09-09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LGLS ECS Renewal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명칭 ECS 확정, 범례 화면 내장, 판넬 보기 신설, 캡처 갱신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V1.2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2026-09-17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LGLS ECS Renewal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메인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화면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 새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배치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(MAIN_UI=2,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왼쪽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고정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 칸)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전체화면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캡처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,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리본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메뉴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정리</a:t>
                      </a: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,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크레인·RGV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 색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범례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정합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,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레이아웃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그룹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이름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정정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,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작업대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명칭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위치·색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정정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,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리본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 </a:t>
                      </a:r>
                      <a:r>
                        <a:rPr lang="en-US" altLang="ko-KR"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[</a:t>
                      </a:r>
                      <a:r>
                        <a:rPr lang="ko-KR" altLang="en-US"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제품정보</a:t>
                      </a:r>
                      <a:r>
                        <a:rPr lang="en-US" altLang="ko-KR"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]→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[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적재용기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](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적재용기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 끝 4자리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표시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V1.3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2026-09-21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LGLS ECS Renewal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최종판 : 크레인·RGV 상태창 정리(동작상태 파생 항목 제거, 값 칸 통합·확대), 설비 DOWN·수동을 에러색으로, 에러 칸 "[코드]문구" 표시, 상태창 긴 글자 흐름 표시, MANUAL 수동지시 숨김 반영. 캡처 전면 갱신(전체화면)</a:t>
                      </a:r>
                      <a:endParaRPr sz="1100" dirty="0">
                        <a:solidFill>
                          <a:srgbClr val="222222"/>
                        </a:solidFill>
                        <a:latin typeface="맑은 고딕"/>
                      </a:endParaRP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684592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3657600" cy="2554545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 dirty="0" err="1">
                <a:solidFill>
                  <a:srgbClr val="1E2761"/>
                </a:solidFill>
                <a:latin typeface="맑은 고딕"/>
              </a:rPr>
              <a:t>메인</a:t>
            </a:r>
            <a:endParaRPr sz="14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100" b="0" dirty="0">
                <a:solidFill>
                  <a:srgbClr val="595959"/>
                </a:solidFill>
                <a:latin typeface="맑은 고딕"/>
              </a:rPr>
              <a:t>  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메인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화면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(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전체화면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)</a:t>
            </a:r>
          </a:p>
          <a:p>
            <a:pPr algn="l"/>
            <a:r>
              <a:rPr sz="1100" b="0" dirty="0">
                <a:solidFill>
                  <a:srgbClr val="595959"/>
                </a:solidFill>
                <a:latin typeface="맑은 고딕"/>
              </a:rPr>
              <a:t>  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메인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화면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영역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구성</a:t>
            </a:r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100" b="0" dirty="0">
                <a:solidFill>
                  <a:srgbClr val="595959"/>
                </a:solidFill>
                <a:latin typeface="맑은 고딕"/>
              </a:rPr>
              <a:t>  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리본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메뉴</a:t>
            </a:r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100" b="0" dirty="0">
                <a:solidFill>
                  <a:srgbClr val="595959"/>
                </a:solidFill>
                <a:latin typeface="맑은 고딕"/>
              </a:rPr>
              <a:t>  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왼쪽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고정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칸 ①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통신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상태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·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범례</a:t>
            </a:r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100" b="0" dirty="0">
                <a:solidFill>
                  <a:srgbClr val="595959"/>
                </a:solidFill>
                <a:latin typeface="맑은 고딕"/>
              </a:rPr>
              <a:t>  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왼쪽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고정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칸 ②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설비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반송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·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작업정보</a:t>
            </a:r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100" b="0" dirty="0">
                <a:solidFill>
                  <a:srgbClr val="595959"/>
                </a:solidFill>
                <a:latin typeface="맑은 고딕"/>
              </a:rPr>
              <a:t>  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설비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그림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·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마우스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동작</a:t>
            </a:r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 dirty="0" err="1">
                <a:solidFill>
                  <a:srgbClr val="1E2761"/>
                </a:solidFill>
                <a:latin typeface="맑은 고딕"/>
              </a:rPr>
              <a:t>설비</a:t>
            </a:r>
            <a:r>
              <a:rPr sz="1400" b="1" dirty="0">
                <a:solidFill>
                  <a:srgbClr val="1E2761"/>
                </a:solidFill>
                <a:latin typeface="맑은 고딕"/>
              </a:rPr>
              <a:t> </a:t>
            </a:r>
            <a:r>
              <a:rPr sz="1400" b="1" dirty="0" err="1">
                <a:solidFill>
                  <a:srgbClr val="1E2761"/>
                </a:solidFill>
                <a:latin typeface="맑은 고딕"/>
              </a:rPr>
              <a:t>대화상자</a:t>
            </a:r>
            <a:endParaRPr sz="14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100" b="0" dirty="0">
                <a:solidFill>
                  <a:srgbClr val="595959"/>
                </a:solidFill>
                <a:latin typeface="맑은 고딕"/>
              </a:rPr>
              <a:t>   CV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상태</a:t>
            </a:r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100" b="0" dirty="0">
                <a:solidFill>
                  <a:srgbClr val="595959"/>
                </a:solidFill>
                <a:latin typeface="맑은 고딕"/>
              </a:rPr>
              <a:t>   SC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상태</a:t>
            </a:r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100" b="0" dirty="0">
                <a:solidFill>
                  <a:srgbClr val="595959"/>
                </a:solidFill>
                <a:latin typeface="맑은 고딕"/>
              </a:rPr>
              <a:t>   RTV(RGV)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상태</a:t>
            </a:r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343400" y="1097280"/>
            <a:ext cx="3657600" cy="204671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 dirty="0">
                <a:solidFill>
                  <a:srgbClr val="1E2761"/>
                </a:solidFill>
                <a:latin typeface="맑은 고딕"/>
              </a:rPr>
              <a:t>ECS&gt;</a:t>
            </a:r>
            <a:r>
              <a:rPr sz="1400" b="1" dirty="0" err="1">
                <a:solidFill>
                  <a:srgbClr val="1E2761"/>
                </a:solidFill>
                <a:latin typeface="맑은 고딕"/>
              </a:rPr>
              <a:t>환경설정</a:t>
            </a:r>
            <a:endParaRPr sz="14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100" b="0" dirty="0">
                <a:solidFill>
                  <a:srgbClr val="595959"/>
                </a:solidFill>
                <a:latin typeface="맑은 고딕"/>
              </a:rPr>
              <a:t>  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통신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연결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정의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(EQP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정보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)</a:t>
            </a:r>
          </a:p>
          <a:p>
            <a:pPr algn="l"/>
            <a:r>
              <a:rPr sz="1100" b="0" dirty="0">
                <a:solidFill>
                  <a:srgbClr val="595959"/>
                </a:solidFill>
                <a:latin typeface="맑은 고딕"/>
              </a:rPr>
              <a:t>  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로그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삭제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설정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(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이력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삭제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주기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변경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)</a:t>
            </a:r>
          </a:p>
          <a:p>
            <a:pPr algn="l"/>
            <a:r>
              <a:rPr sz="1100" b="0" dirty="0">
                <a:solidFill>
                  <a:srgbClr val="595959"/>
                </a:solidFill>
                <a:latin typeface="맑은 고딕"/>
              </a:rPr>
              <a:t>  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범례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(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색상정보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)</a:t>
            </a: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 dirty="0">
                <a:solidFill>
                  <a:srgbClr val="1E2761"/>
                </a:solidFill>
                <a:latin typeface="맑은 고딕"/>
              </a:rPr>
              <a:t>MANUAL</a:t>
            </a:r>
          </a:p>
          <a:p>
            <a:pPr algn="l"/>
            <a:r>
              <a:rPr sz="1100" b="0" dirty="0">
                <a:solidFill>
                  <a:srgbClr val="595959"/>
                </a:solidFill>
                <a:latin typeface="맑은 고딕"/>
              </a:rPr>
              <a:t>   JOB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수동지시</a:t>
            </a:r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100" b="0" dirty="0">
                <a:solidFill>
                  <a:srgbClr val="595959"/>
                </a:solidFill>
                <a:latin typeface="맑은 고딕"/>
              </a:rPr>
              <a:t>  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크레인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수동작업</a:t>
            </a:r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100" b="0" dirty="0">
                <a:solidFill>
                  <a:srgbClr val="595959"/>
                </a:solidFill>
                <a:latin typeface="맑은 고딕"/>
              </a:rPr>
              <a:t>   RTV(RGV)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수동작업</a:t>
            </a:r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138160" y="1097280"/>
            <a:ext cx="3657600" cy="5212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ECS&gt;뷰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작업정보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찾기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ECS&gt;창고 모니터링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작업번호 / 트랙번호 / 적재용기 표시 전환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LOG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작업 로그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HOST 로그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설비에러이력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유저사용 로그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ECS 프로그램 이력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알람 (경고창)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09728"/>
            <a:ext cx="1161288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맑은 고딕"/>
              </a:rPr>
              <a:t>메인 화면 (창고 모니터링) - 전체화면 1920×1080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4</a:t>
            </a:r>
          </a:p>
        </p:txBody>
      </p:sp>
      <p:pic>
        <p:nvPicPr>
          <p:cNvPr id="6" name="Picture 5" descr="main_full_v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505" y="621792"/>
            <a:ext cx="10641940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메인 화면 영역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931920"/>
            <a:ext cx="5120640" cy="23774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1동 자동창고 전체 배치(랙 10열, 크레인 5대, RGV 1대, C/V#2~#15, 작업대)와 작업 진행을 실시간 표시한다.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실행 : Ecs.exe. 기동 시 [USER] DEFAULT_ID 로 자동 로그인한다.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설비 데이터는 [ETC] COLLECT_INTERVAL_MS=300 주기로 DB 에서 읽는다.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852160" y="1097280"/>
          <a:ext cx="5943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영역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① 제목줄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Ecs V1.0 [Build 시각] [DB:DB명@서버][실행 경로] - 길면 흘러감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② 리본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ECS / MANUAL / LOG 탭 + 오른쪽 끝 통신(EQUIP·HOST·SCH)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③ 통신 상태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설비 통신 / 상위 통신 / 스케줄러 - 정상·느림·끊김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④ 범례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작업 색상 · C/V 상태 · S/C·RGV 상태 · S/C·RGV 레일 (28항목)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⑤ 설비 반송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S/C#1~5, RGV 현재 반송 작업 (2초 갱신)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⑥ 작업정보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진행 중 작업 목록, 탭 7개, 자동 갱신 (2초)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⑦ 설비 그림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C/V·크레인·RGV·랙·작업대·입출고 모드 (EcsLayout1.xml)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852160" y="4389120"/>
            <a:ext cx="5943600" cy="1645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크기 조절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칸 사이 손잡이(점선)를 끌면 크기가 바뀌고 Ecs.ini MAIN_UI_LEFT_W / COMM_H / LEG_H / VEH_H 에 저장된다.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창 크기를 바꾸면 왼쪽 칸 폭도 비례해 다시 저장된다. 기준값 : 1920×1080 최대화에서 LEFT_W=531.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MAIN_UI=2(왼쪽 고정 칸 배치)는 기동 시 한 번 읽는다.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 dirty="0">
                <a:solidFill>
                  <a:srgbClr val="595959"/>
                </a:solidFill>
                <a:latin typeface="맑은 고딕"/>
              </a:rPr>
              <a:t>LG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화학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1동 ECS  | 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화면설계서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 |  Ver 1.3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5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79" y="1097280"/>
            <a:ext cx="5084482" cy="275234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리본 메뉴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11887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맑은 고딕"/>
              </a:rPr>
              <a:t>ECS 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03120"/>
            <a:ext cx="11887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맑은 고딕"/>
              </a:rPr>
              <a:t>MANUAL 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887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맑은 고딕"/>
              </a:rPr>
              <a:t>LOG 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1234440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맑은 고딕"/>
              </a:rPr>
              <a:t>통신 (모든 탭 오른쪽 끝)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7657774"/>
              </p:ext>
            </p:extLst>
          </p:nvPr>
        </p:nvGraphicFramePr>
        <p:xfrm>
          <a:off x="438728" y="3657600"/>
          <a:ext cx="11338560" cy="2414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탭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그룹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버튼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1050" dirty="0">
                          <a:solidFill>
                            <a:srgbClr val="222222"/>
                          </a:solidFill>
                          <a:latin typeface="맑은 고딕"/>
                        </a:rPr>
                        <a:t>ECS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환경설정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통신 연결 정의 · 로그 삭제 설정 · 범례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sz="1050" dirty="0">
                        <a:solidFill>
                          <a:srgbClr val="222222"/>
                        </a:solidFill>
                        <a:latin typeface="맑은 고딕"/>
                      </a:endParaRP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ECS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뷰 / 창고 모니터링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작업정보 · 찾기 / 작업번호 · 트랙번호 · 적재용기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endParaRPr sz="1050" dirty="0">
                        <a:solidFill>
                          <a:srgbClr val="222222"/>
                        </a:solidFill>
                        <a:latin typeface="맑은 고딕"/>
                      </a:endParaRP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MANUAL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수동조작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작업 · 크레인 · RTV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50" dirty="0">
                        <a:solidFill>
                          <a:srgbClr val="222222"/>
                        </a:solidFill>
                        <a:latin typeface="맑은 고딕"/>
                      </a:endParaRP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LOG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로그 / 알람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작업로그 · HOST로그 · 설비에러이력 · 유저사용로그 · ECS프로그램로그 / 알람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공통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통신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EQUIP · HOST · SCH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파랑</a:t>
                      </a:r>
                      <a:r>
                        <a:rPr sz="1050" dirty="0">
                          <a:solidFill>
                            <a:srgbClr val="222222"/>
                          </a:solidFill>
                          <a:latin typeface="맑은 고딕"/>
                        </a:rPr>
                        <a:t>=</a:t>
                      </a:r>
                      <a:r>
                        <a:rPr sz="105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정상</a:t>
                      </a:r>
                      <a:r>
                        <a:rPr sz="1050" dirty="0">
                          <a:solidFill>
                            <a:srgbClr val="222222"/>
                          </a:solidFill>
                          <a:latin typeface="맑은 고딕"/>
                        </a:rPr>
                        <a:t>, </a:t>
                      </a:r>
                      <a:r>
                        <a:rPr sz="105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빨강</a:t>
                      </a:r>
                      <a:r>
                        <a:rPr sz="1050" dirty="0">
                          <a:solidFill>
                            <a:srgbClr val="222222"/>
                          </a:solidFill>
                          <a:latin typeface="맑은 고딕"/>
                        </a:rPr>
                        <a:t>=</a:t>
                      </a:r>
                      <a:r>
                        <a:rPr sz="105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단절</a:t>
                      </a:r>
                      <a:r>
                        <a:rPr sz="1050" dirty="0">
                          <a:solidFill>
                            <a:srgbClr val="222222"/>
                          </a:solidFill>
                          <a:latin typeface="맑은 고딕"/>
                        </a:rPr>
                        <a:t>. </a:t>
                      </a:r>
                      <a:r>
                        <a:rPr sz="105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단절</a:t>
                      </a:r>
                      <a:r>
                        <a:rPr sz="1050" dirty="0">
                          <a:solidFill>
                            <a:srgbClr val="222222"/>
                          </a:solidFill>
                          <a:latin typeface="맑은 고딕"/>
                        </a:rPr>
                        <a:t> 시 </a:t>
                      </a:r>
                      <a:r>
                        <a:rPr sz="105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클릭하면</a:t>
                      </a:r>
                      <a:r>
                        <a:rPr sz="1050" dirty="0">
                          <a:solidFill>
                            <a:srgbClr val="222222"/>
                          </a:solidFill>
                          <a:latin typeface="맑은 고딕"/>
                        </a:rPr>
                        <a:t> </a:t>
                      </a:r>
                      <a:r>
                        <a:rPr sz="105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핑·포트</a:t>
                      </a:r>
                      <a:r>
                        <a:rPr sz="1050" dirty="0">
                          <a:solidFill>
                            <a:srgbClr val="222222"/>
                          </a:solidFill>
                          <a:latin typeface="맑은 고딕"/>
                        </a:rPr>
                        <a:t> </a:t>
                      </a:r>
                      <a:r>
                        <a:rPr sz="105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점검</a:t>
                      </a:r>
                      <a:r>
                        <a:rPr sz="1050" dirty="0">
                          <a:solidFill>
                            <a:srgbClr val="222222"/>
                          </a:solidFill>
                          <a:latin typeface="맑은 고딕"/>
                        </a:rPr>
                        <a:t> </a:t>
                      </a:r>
                      <a:r>
                        <a:rPr sz="105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안내</a:t>
                      </a:r>
                      <a:r>
                        <a:rPr sz="1050" dirty="0">
                          <a:solidFill>
                            <a:srgbClr val="222222"/>
                          </a:solidFill>
                          <a:latin typeface="맑은 고딕"/>
                        </a:rPr>
                        <a:t> (STATUS_POS=RIBBON, COMM_MODE=2)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6</a:t>
            </a:r>
          </a:p>
        </p:txBody>
      </p:sp>
      <p:pic>
        <p:nvPicPr>
          <p:cNvPr id="14" name="Picture 13" descr="ribbon_e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4570" y="960120"/>
            <a:ext cx="5143500" cy="523701"/>
          </a:xfrm>
          <a:prstGeom prst="rect">
            <a:avLst/>
          </a:prstGeom>
        </p:spPr>
      </p:pic>
      <p:pic>
        <p:nvPicPr>
          <p:cNvPr id="15" name="Picture 14" descr="ribbon_man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4570" y="1828800"/>
            <a:ext cx="5143500" cy="523701"/>
          </a:xfrm>
          <a:prstGeom prst="rect">
            <a:avLst/>
          </a:prstGeom>
        </p:spPr>
      </p:pic>
      <p:pic>
        <p:nvPicPr>
          <p:cNvPr id="16" name="Picture 15" descr="ribbon_lo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74570" y="2697480"/>
            <a:ext cx="5143500" cy="523701"/>
          </a:xfrm>
          <a:prstGeom prst="rect">
            <a:avLst/>
          </a:prstGeom>
        </p:spPr>
      </p:pic>
      <p:pic>
        <p:nvPicPr>
          <p:cNvPr id="17" name="Picture 16" descr="ribbon_com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360" y="1554480"/>
            <a:ext cx="1097280" cy="74033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왼쪽 고정 칸 ① 통신 상태 · 범례</a:t>
            </a:r>
          </a:p>
        </p:txBody>
      </p:sp>
      <p:pic>
        <p:nvPicPr>
          <p:cNvPr id="3" name="Picture 2" descr="left_com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5303519" cy="1048604"/>
          </a:xfrm>
          <a:prstGeom prst="rect">
            <a:avLst/>
          </a:prstGeom>
          <a:ln>
            <a:solidFill>
              <a:srgbClr val="C8CEDA"/>
            </a:solidFill>
          </a:ln>
        </p:spPr>
      </p:pic>
      <p:pic>
        <p:nvPicPr>
          <p:cNvPr id="4" name="Picture 3" descr="left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468880"/>
            <a:ext cx="5303519" cy="3065152"/>
          </a:xfrm>
          <a:prstGeom prst="rect">
            <a:avLst/>
          </a:prstGeom>
          <a:ln>
            <a:solidFill>
              <a:srgbClr val="C8CEDA"/>
            </a:solidFill>
          </a:ln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126480" y="1097280"/>
          <a:ext cx="566928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표시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조회 대상(5초)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정상 / 느림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설비 통신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CV_DATA.READ_UPD_DT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10초 / 60초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상위 통신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HOST_IF_LOG.INS_DT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60초 / 300초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스케줄러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JOB_MST.UPD_DT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120초 / 900초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126480" y="2651760"/>
            <a:ext cx="5669280" cy="142346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dirty="0">
                <a:solidFill>
                  <a:srgbClr val="1E2761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범례</a:t>
            </a:r>
            <a:r>
              <a:rPr sz="1300" b="1" dirty="0">
                <a:solidFill>
                  <a:srgbClr val="1E2761"/>
                </a:solidFill>
                <a:latin typeface="맑은 고딕"/>
              </a:rPr>
              <a:t> (28항목, 색 = Ecs.ini [USER] USER_COLOR_*)</a:t>
            </a:r>
          </a:p>
          <a:p>
            <a:pPr algn="l"/>
            <a:r>
              <a:rPr sz="1050" b="0" dirty="0">
                <a:solidFill>
                  <a:srgbClr val="595959"/>
                </a:solidFill>
                <a:latin typeface="맑은 고딕"/>
              </a:rPr>
              <a:t>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작업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색상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10 :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입고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출고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이동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랙투랙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호기간이동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+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반자동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5종</a:t>
            </a:r>
          </a:p>
          <a:p>
            <a:pPr algn="l"/>
            <a:r>
              <a:rPr sz="1050" b="0" dirty="0">
                <a:solidFill>
                  <a:srgbClr val="595959"/>
                </a:solidFill>
                <a:latin typeface="맑은 고딕"/>
              </a:rPr>
              <a:t>· C/V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상태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10 :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입고대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출고대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입고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HS 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출고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HS 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일시정지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에러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수동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통신두절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검색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작업번호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있음</a:t>
            </a:r>
            <a:endParaRPr sz="105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050" b="0" dirty="0">
                <a:solidFill>
                  <a:srgbClr val="595959"/>
                </a:solidFill>
                <a:latin typeface="맑은 고딕"/>
              </a:rPr>
              <a:t>· S/C·RGV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상태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3 :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작업없음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(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정상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) 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미가동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(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수동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) 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에러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-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크레인·RGV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포크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색이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이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범례와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같다</a:t>
            </a:r>
            <a:endParaRPr sz="105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050" b="0" dirty="0">
                <a:solidFill>
                  <a:srgbClr val="595959"/>
                </a:solidFill>
                <a:latin typeface="맑은 고딕"/>
              </a:rPr>
              <a:t>· S/C·RGV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레일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5 :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입고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금지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출고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금지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입출고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정지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레일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에러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작업중</a:t>
            </a:r>
            <a:endParaRPr sz="105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050" b="0" dirty="0">
                <a:solidFill>
                  <a:srgbClr val="595959"/>
                </a:solidFill>
                <a:latin typeface="맑은 고딕"/>
              </a:rPr>
              <a:t>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색은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ECS &gt;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환경설정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&gt;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범례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에서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바꾸며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저장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즉시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반영된다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왼쪽 고정 칸 ② 설비 반송 · 작업정보</a:t>
            </a:r>
          </a:p>
        </p:txBody>
      </p:sp>
      <p:pic>
        <p:nvPicPr>
          <p:cNvPr id="3" name="Picture 2" descr="left_ve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5303519" cy="1653568"/>
          </a:xfrm>
          <a:prstGeom prst="rect">
            <a:avLst/>
          </a:prstGeom>
          <a:ln>
            <a:solidFill>
              <a:srgbClr val="C8CEDA"/>
            </a:solidFill>
          </a:ln>
        </p:spPr>
      </p:pic>
      <p:pic>
        <p:nvPicPr>
          <p:cNvPr id="4" name="Picture 3" descr="left_jo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017520"/>
            <a:ext cx="5303519" cy="3125648"/>
          </a:xfrm>
          <a:prstGeom prst="rect">
            <a:avLst/>
          </a:prstGeom>
          <a:ln>
            <a:solidFill>
              <a:srgbClr val="C8CEDA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126480" y="1097280"/>
            <a:ext cx="5669280" cy="2011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설비 반송 (2초 갱신)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행 : S/C#1 ~ S/C#5, RGV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열 : 작업번호 · 자재 · 팔렛 · 출발(스테이션 + 위치) · 도착(스테이션 + 위치)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크레인·RGV 가 지금 들고 있는 작업을 한눈에 본다.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3108960"/>
            <a:ext cx="5669280" cy="3108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작업정보 (자동 갱신 2초)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탭 : 전체 · 입고 · 출고 · 피킹출고 · 랙투랙 · 호기간이동 · 이동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열 : 작업번호 · 구분 · 상태 · 출발 · 출발위치 · 도착 · 도착위치 · LOT · 제품 · 우선 · 수정시각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상태 표기 예 : [15] CV 구동중 / [16] 통로CV 구동중 / [25] SC 구동중 / [35] RGV 구동중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조건 조회·수정·삭제는 ECS &gt; 뷰 &gt; 작업정보 창에서 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설비 그림 · 마우스 동작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0" y="1097280"/>
          <a:ext cx="594360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동작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대상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결과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클릭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C/V 트랙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CV 상태 창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클릭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크레인 (가로 레일 위 칸)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SC 상태 창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클릭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RGV (세로 레일 위 칸)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RTV 상태 창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더블클릭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입고 모드 / 출고 모드 글자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방향 전환 요청 (확인창)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우클릭 · 휠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-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사용하지 않음 (추후 정의)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852160" y="3291840"/>
            <a:ext cx="5943600" cy="3017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입출고 모드 전환 (더블클릭)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대상 : C/V#11 입출고 겸용대(트랙 122) / C/V#2 S/C#1 통로(트랙 103)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확인창에 PLC 방향 워드 주소를 보여 준다 : DIR_ADDR_CV11=310, DIR_ADDR_CV2=301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확인하면 설비 통신이 즉시 방향을 바꾸고(DIRM), 스케줄러는 MANUAL_DIR_HOLD_SEC(기본 120초) 동안 자동 전환을 멈춘다.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크레인·RGV 색 : 에러 → 미가동(범례 수동색) → 작업없음(범례 정상색) → 작업구분 색. 색을 지우는 시점은 VEH_CLEAR_MODE=3.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트랙 글자는 리본 [창고 모니터링] 선택(작업번호/트랙번호/적재용기)을 따른다.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작업대 명칭은 해당 트랙 왼쪽에 둔다 : 103 제품 입고대(TR#24) · 104 원부자재불출대(TR#26) · 102 피킹 작업대(출고대 TR#29 / 입고대 TR#30) · [101] 입출고대(TR#22).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명칭 글자색 : 입고대 = 범례 입고색, 출고대 = 범례 출고색(범례 변경 시 함께 바뀜), 101 입출고대 = 핑크 고정.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9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97280"/>
            <a:ext cx="5212080" cy="282141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ECS&gt;환경설정 - 통신 연결 정의 (EQP 정보)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eqpinf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226" y="1280160"/>
            <a:ext cx="7285786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환경설정 ▷ 통신 연결 정의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서버 프로그램(EQP=설비 통신, HOST/HOST2=상위 통신, SCH=스케줄러)의 접속 정보와 생존 상태를 조회한다. (EQP_MST)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설비 구분 콤보 : ALL / EQP / HOST / SCH. HOST 를 고르면 HOST2 까지 함께 조회된다.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EQP 대표 행은 마스터 PLC 소켓(IP/PORT) 정의를 나타낸다.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ECS&gt;환경설정 - 로그 삭제 설정 (이력 삭제 주기 변경)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del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20" y="1798320"/>
            <a:ext cx="5029200" cy="381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환경설정 ▷ 로그 삭제 설정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로그 테이블별 보존 주기(일)를 조회·변경한다. (DEL_HIS_SETTING)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행을 클릭하면 그 행의 주기가 (일) 칸에 채워진다.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값을 고쳐 [설정] 을 누르면 변경되고 유저사용 로그에 기록된다. 공백/0 은 설정할 수 없다.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ECS&gt;환경설정 - 범례 (색상정보)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egend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566584"/>
            <a:ext cx="7498079" cy="22734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환경설정 ▷ 범례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메인 화면에서 쓰는 색(작업상태·CV 신호·CV/SC 상태·RAIL·반자동)을 확인·변경한다. 저장하면 Ecs.ini [USER] USER_COLOR_* 에 기록된다.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색을 바꾸면 메인 화면 설비와 왼쪽 범례 칸에 곧바로 반영된다.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크레인·RGV 포크 색도 범례를 따른다 : 작업없음 = 범례 "작업없음(정상)", 미가동 = 범례 "수동" 색 (2026-09-17 정합).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RAIL 색은 정지 사유별로 나뉜다 : 입고금지 / 출고금지 / 입출고금지 / 에러 / 작업 중.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ECS&gt;뷰 - 작업정보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joblis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32515"/>
            <a:ext cx="7498079" cy="4741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뷰 ▷ 작업정보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진행 중 작업(JOB_MST)을 별도 창에서 조회하고 작업상태/우선순위 수정, 삭제·복사·완료 보고를 수행한다.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메인 화면 왼쪽 작업정보 칸과 별개로, 조건 조회와 수정이 필요할 때 여는 창이다(의도된 동작).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[CV 도착보고]/[SC 완료보고] 는 설비 신호가 유실됐을 때 사람이 대신 보고하는 기능이다.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[자동 갱신] 을 켜면 주기적으로 목록을 다시 읽는다.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ECS&gt;뷰 - 찾기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search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37670"/>
            <a:ext cx="7498079" cy="15312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뷰 ▷ 찾기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작업번호를 입력하면 그 화물이 있는 트랙/설비를 메인 화면에서 검색색으로 깜빡여 보여 준다(5초).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ECS&gt;창고 모니터링 - 작업번호 / 트랙번호 / 적재용기 표시 전환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창고 모니터링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메인 화면 각 트랙에 표시할 글자를 작업번호 / 트랙번호 / 적재용기 중에서 고른다. 적재용기를 고르면 트랙·크레인·RGV 에 적재용기(JOB_MST.LOT_NO) 끝 4자리를 표시한다(예 P008383 → 8383). 선택한 버튼이 강조된다.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[WH] WH_TYP=10 일 때 표시. 적재용기 버튼은 [MENU] PRODINFO_MENU=1 일 때만 보인다.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15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7B7CF6AC-70A2-72DA-43BF-44F8541632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1777" y="3000315"/>
            <a:ext cx="1514686" cy="85737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MANUAL - JOB 수동지시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anual_job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195" y="2436495"/>
            <a:ext cx="7181850" cy="25336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MANUAL ▷ 수동조작 ▷ 작업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창고/작업구분/출발지/도착지/위치를 지정해 작업을 직접 생성한다(수동 운전용).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작업개수를 지정하면 같은 조건으로 여러 건을 만든다.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반자동(1x) 작업은 상위에 보고하지 않고 완료 시 삭제된다.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작업 로그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_i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55096"/>
            <a:ext cx="7498079" cy="44964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LOG ▷ 로그 ▷ 작업로그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작업 이력(JOB_MST_HIS)을 기간/작업번호/상태로 조회한다.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HOST 로그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_mes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03883"/>
            <a:ext cx="7498079" cy="43988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LOG ▷ 로그 ▷ HOST로그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상위(WMS/IMS)와 주고받은 전문 이력(HOST_IF_LOG)을 조회한다.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전문 : O(작업지시) R(응답) M(모드 전환) S(상태보고) E(에러보고) F(완료)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설비에러이력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_eqp_his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995" y="1280160"/>
            <a:ext cx="7170248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LOG ▷ 로그 ▷ 설비에러이력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설비(CV/SC/RTV) 에러 발생·해제 이력(EQP_ERR_HIS)을 조회한다.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■ 특기사항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· 에러 문구는 에러코드 마스터(EQP_ECD_MST)에서 설비·코드표 구분으로 찾는다. 크레인은 PLC 알람 리스트 코드표(SC_LGLS).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· 설비구분 SC 를 고르면 SC_LGLS 등 크레인 코드표 구분으로 쌓인 이력도 함께 조회된다.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유저사용 로그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_clien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098" y="1280160"/>
            <a:ext cx="7266042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LOG ▷ 로그 ▷ 유저사용로그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운전 화면에서 사람이 수행한 조작(지시/삭제/설정 변경/방향 전환) 기록(WCS_CLIENT_LOG)을 조회한다.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ECS 프로그램 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alarm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66792"/>
            <a:ext cx="7498079" cy="38730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LOG ▷ 로그 ▷ ECS프로그램로그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서버 프로그램(스케줄러/설비 통신/상위 통신)이 남긴 운전 이력(WCS_LOG_PGR)을 프로그램·시간·작업번호로 조회한다.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알람 (경고창)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03920" y="1188720"/>
            <a:ext cx="3291840" cy="263149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dirty="0">
                <a:solidFill>
                  <a:srgbClr val="1E2761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메뉴</a:t>
            </a:r>
            <a:r>
              <a:rPr sz="1300" b="1" dirty="0">
                <a:solidFill>
                  <a:srgbClr val="1E2761"/>
                </a:solidFill>
                <a:latin typeface="맑은 고딕"/>
              </a:rPr>
              <a:t> Path</a:t>
            </a:r>
          </a:p>
          <a:p>
            <a:pPr algn="l"/>
            <a:r>
              <a:rPr sz="1100" b="0" dirty="0">
                <a:solidFill>
                  <a:srgbClr val="595959"/>
                </a:solidFill>
                <a:latin typeface="맑은 고딕"/>
              </a:rPr>
              <a:t>LOG ▷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알람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▷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알람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 (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자동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표시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)</a:t>
            </a: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 dirty="0">
                <a:solidFill>
                  <a:srgbClr val="1E2761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프로그램</a:t>
            </a:r>
            <a:r>
              <a:rPr sz="1300" b="1" dirty="0">
                <a:solidFill>
                  <a:srgbClr val="1E276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개요</a:t>
            </a:r>
            <a:endParaRPr sz="13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100" b="0" dirty="0" err="1">
                <a:solidFill>
                  <a:srgbClr val="595959"/>
                </a:solidFill>
                <a:latin typeface="맑은 고딕"/>
              </a:rPr>
              <a:t>체류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작업과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알람을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모아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보여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주는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경고창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. 10초마다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조회해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해당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건이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있으면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화면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오른쪽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아래에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스스로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뜬다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.</a:t>
            </a: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 dirty="0">
                <a:solidFill>
                  <a:srgbClr val="1E2761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특기사항</a:t>
            </a:r>
            <a:endParaRPr sz="13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000" b="0" dirty="0">
                <a:solidFill>
                  <a:srgbClr val="595959"/>
                </a:solidFill>
                <a:latin typeface="맑은 고딕"/>
              </a:rPr>
              <a:t>·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체류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기준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: Ecs.ini [USER] JOB_STALL_WARN_SEC=300 (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최소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10초,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저장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즉시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반영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).</a:t>
            </a:r>
          </a:p>
          <a:p>
            <a:pPr algn="l"/>
            <a:r>
              <a:rPr sz="1000" b="0" dirty="0">
                <a:solidFill>
                  <a:srgbClr val="595959"/>
                </a:solidFill>
                <a:latin typeface="맑은 고딕"/>
              </a:rPr>
              <a:t>·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목록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열 :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시각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/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작업번호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/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구분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/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체류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(초) /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내용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. [STOP] 은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숨긴다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.</a:t>
            </a:r>
          </a:p>
          <a:p>
            <a:pPr algn="l"/>
            <a:r>
              <a:rPr sz="1000" b="0" dirty="0">
                <a:solidFill>
                  <a:srgbClr val="595959"/>
                </a:solidFill>
                <a:latin typeface="맑은 고딕"/>
              </a:rPr>
              <a:t>·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체류는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경고만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한다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-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시간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경과로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작업을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자동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완료하지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않는다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(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설비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신호와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실물을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확인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후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처리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24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461B19C5-784F-1DE8-6BB5-FB8FA66BB4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9747" y="1694873"/>
            <a:ext cx="6058746" cy="347711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설비 대화상자 - CV 상태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03920" y="1188720"/>
            <a:ext cx="3291840" cy="278537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dirty="0">
                <a:solidFill>
                  <a:srgbClr val="1E2761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메뉴</a:t>
            </a:r>
            <a:r>
              <a:rPr sz="1300" b="1" dirty="0">
                <a:solidFill>
                  <a:srgbClr val="1E2761"/>
                </a:solidFill>
                <a:latin typeface="맑은 고딕"/>
              </a:rPr>
              <a:t> Path</a:t>
            </a:r>
          </a:p>
          <a:p>
            <a:pPr algn="l"/>
            <a:r>
              <a:rPr sz="1100" b="0" dirty="0" err="1">
                <a:solidFill>
                  <a:srgbClr val="595959"/>
                </a:solidFill>
                <a:latin typeface="맑은 고딕"/>
              </a:rPr>
              <a:t>메인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화면에서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컨베이어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트랙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클릭</a:t>
            </a:r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 dirty="0">
                <a:solidFill>
                  <a:srgbClr val="1E2761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프로그램</a:t>
            </a:r>
            <a:r>
              <a:rPr sz="1300" b="1" dirty="0">
                <a:solidFill>
                  <a:srgbClr val="1E276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개요</a:t>
            </a:r>
            <a:endParaRPr sz="13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100" b="0" dirty="0" err="1">
                <a:solidFill>
                  <a:srgbClr val="595959"/>
                </a:solidFill>
                <a:latin typeface="맑은 고딕"/>
              </a:rPr>
              <a:t>컨베이어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트랙의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PLC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신호와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작업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정보를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보고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,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작업번호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쓰기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/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삭제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/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복사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/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잘라내기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/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붙여넣기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,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트랙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일시정지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, H/S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배출을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수행한다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.</a:t>
            </a: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 dirty="0">
                <a:solidFill>
                  <a:srgbClr val="1E2761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특기사항</a:t>
            </a:r>
            <a:endParaRPr sz="13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000" b="0" dirty="0">
                <a:solidFill>
                  <a:srgbClr val="595959"/>
                </a:solidFill>
                <a:latin typeface="맑은 고딕"/>
              </a:rPr>
              <a:t>· [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쓰기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]/[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붙여넣기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] 로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작업을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트랙에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올리면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통로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CV(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트랙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103~120)는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상태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16(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통로CV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구동중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), 그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밖의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작업대는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15 로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기록된다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.</a:t>
            </a:r>
          </a:p>
          <a:p>
            <a:pPr algn="l"/>
            <a:r>
              <a:rPr sz="1000" b="0" dirty="0">
                <a:solidFill>
                  <a:srgbClr val="595959"/>
                </a:solidFill>
                <a:latin typeface="맑은 고딕"/>
              </a:rPr>
              <a:t>·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예외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처리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[H/S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배출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] 은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출고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H/S 에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놓인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작업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없는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화물을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출고대로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내보낸다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(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반자동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출고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,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상위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보고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없음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).</a:t>
            </a:r>
          </a:p>
          <a:p>
            <a:pPr algn="l"/>
            <a:r>
              <a:rPr sz="1000" b="0" dirty="0">
                <a:solidFill>
                  <a:srgbClr val="595959"/>
                </a:solidFill>
                <a:latin typeface="맑은 고딕"/>
              </a:rPr>
              <a:t>·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칸에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다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들어가지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않는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긴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글자는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그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칸에서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한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글자씩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흘러간다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(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입력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중인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칸은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제외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).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25</a:t>
            </a:r>
          </a:p>
        </p:txBody>
      </p:sp>
      <p:pic>
        <p:nvPicPr>
          <p:cNvPr id="8" name="Picture 7" descr="cv_0_v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6917" y="1280160"/>
            <a:ext cx="4384405" cy="474787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설비 대화상자 - SC 상태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03920" y="1188720"/>
            <a:ext cx="3291840" cy="278537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dirty="0">
                <a:solidFill>
                  <a:srgbClr val="1E2761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메뉴</a:t>
            </a:r>
            <a:r>
              <a:rPr sz="1300" b="1" dirty="0">
                <a:solidFill>
                  <a:srgbClr val="1E2761"/>
                </a:solidFill>
                <a:latin typeface="맑은 고딕"/>
              </a:rPr>
              <a:t> Path</a:t>
            </a:r>
          </a:p>
          <a:p>
            <a:pPr algn="l"/>
            <a:r>
              <a:rPr sz="1100" b="0" dirty="0" err="1">
                <a:solidFill>
                  <a:srgbClr val="595959"/>
                </a:solidFill>
                <a:latin typeface="맑은 고딕"/>
              </a:rPr>
              <a:t>메인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화면에서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크레인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클릭</a:t>
            </a:r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 dirty="0">
                <a:solidFill>
                  <a:srgbClr val="1E2761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프로그램</a:t>
            </a:r>
            <a:r>
              <a:rPr sz="1300" b="1" dirty="0">
                <a:solidFill>
                  <a:srgbClr val="1E276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개요</a:t>
            </a:r>
            <a:endParaRPr sz="13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100" b="0" dirty="0" err="1">
                <a:solidFill>
                  <a:srgbClr val="595959"/>
                </a:solidFill>
                <a:latin typeface="맑은 고딕"/>
              </a:rPr>
              <a:t>크레인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상태·차상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화물·좌표·에러와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작업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상태를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본다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.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명령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: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지시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재전송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/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강제완료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/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수동지시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,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입출고상태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: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입고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정지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/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출고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정지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/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작업금지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.</a:t>
            </a: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 dirty="0">
                <a:solidFill>
                  <a:srgbClr val="1E2761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특기사항</a:t>
            </a:r>
            <a:endParaRPr sz="13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000" b="0" dirty="0">
                <a:solidFill>
                  <a:srgbClr val="595959"/>
                </a:solidFill>
                <a:latin typeface="맑은 고딕"/>
              </a:rPr>
              <a:t>·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제목줄에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호기와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담당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Bank 를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표시한다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(예 S/C#2 (Bank 03,04)).</a:t>
            </a:r>
          </a:p>
          <a:p>
            <a:pPr algn="l"/>
            <a:r>
              <a:rPr sz="1000" b="0" dirty="0">
                <a:solidFill>
                  <a:srgbClr val="595959"/>
                </a:solidFill>
                <a:latin typeface="맑은 고딕"/>
              </a:rPr>
              <a:t>·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에러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칸은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"[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코드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]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알람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문구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" 로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표시한다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(예 [0073]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좌측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렉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이중입고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).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코드표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= Ecs.ini [SC_ERR] ERR_TYP(SC_LGLS).</a:t>
            </a:r>
          </a:p>
          <a:p>
            <a:pPr algn="l"/>
            <a:r>
              <a:rPr sz="1000" b="0" dirty="0">
                <a:solidFill>
                  <a:srgbClr val="595959"/>
                </a:solidFill>
                <a:latin typeface="맑은 고딕"/>
              </a:rPr>
              <a:t>·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에러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해제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시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이중입고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(73·74)·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공출고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(75)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확인창은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Ecs.ini [SC_ERR] DUAL_CODES / EMPTY_CODES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기준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26</a:t>
            </a:r>
          </a:p>
        </p:txBody>
      </p:sp>
      <p:pic>
        <p:nvPicPr>
          <p:cNvPr id="8" name="Picture 7" descr="sc_0_v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492" y="1280160"/>
            <a:ext cx="3967255" cy="469458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설비 대화상자 - RTV(RGV) 상태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03920" y="1188720"/>
            <a:ext cx="3291840" cy="21544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dirty="0">
                <a:solidFill>
                  <a:srgbClr val="1E2761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메뉴</a:t>
            </a:r>
            <a:r>
              <a:rPr sz="1300" b="1" dirty="0">
                <a:solidFill>
                  <a:srgbClr val="1E2761"/>
                </a:solidFill>
                <a:latin typeface="맑은 고딕"/>
              </a:rPr>
              <a:t> Path</a:t>
            </a:r>
          </a:p>
          <a:p>
            <a:pPr algn="l"/>
            <a:r>
              <a:rPr sz="1100" b="0" dirty="0" err="1">
                <a:solidFill>
                  <a:srgbClr val="595959"/>
                </a:solidFill>
                <a:latin typeface="맑은 고딕"/>
              </a:rPr>
              <a:t>메인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화면에서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RGV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클릭</a:t>
            </a:r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 dirty="0">
                <a:solidFill>
                  <a:srgbClr val="1E2761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프로그램</a:t>
            </a:r>
            <a:r>
              <a:rPr sz="1300" b="1" dirty="0">
                <a:solidFill>
                  <a:srgbClr val="1E276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개요</a:t>
            </a:r>
            <a:endParaRPr sz="13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100" b="0" dirty="0">
                <a:solidFill>
                  <a:srgbClr val="595959"/>
                </a:solidFill>
                <a:latin typeface="맑은 고딕"/>
              </a:rPr>
              <a:t>RGV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상태와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작업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상태를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본다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.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명령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: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지시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재전송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/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강제완료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/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수동지시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, RTV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금지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.</a:t>
            </a: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 dirty="0">
                <a:solidFill>
                  <a:srgbClr val="1E2761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특기사항</a:t>
            </a:r>
            <a:endParaRPr sz="13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000" b="0" dirty="0">
                <a:solidFill>
                  <a:srgbClr val="595959"/>
                </a:solidFill>
                <a:latin typeface="맑은 고딕"/>
              </a:rPr>
              <a:t>· RTV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상태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: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운영모드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/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완료상태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/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화물유무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/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RTV상태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/ ACTIVE /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주행위치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.</a:t>
            </a:r>
          </a:p>
          <a:p>
            <a:pPr algn="l"/>
            <a:r>
              <a:rPr sz="1000" b="0" dirty="0">
                <a:solidFill>
                  <a:srgbClr val="595959"/>
                </a:solidFill>
                <a:latin typeface="맑은 고딕"/>
              </a:rPr>
              <a:t>·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진단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칸은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"[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코드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]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알람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문구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" 로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표시한다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(예 [0033]RGV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전진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한계점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, PLC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알람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비트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M5601~M560F).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27</a:t>
            </a:r>
          </a:p>
        </p:txBody>
      </p:sp>
      <p:pic>
        <p:nvPicPr>
          <p:cNvPr id="8" name="Picture 7" descr="rtv_0_v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3372" y="1280160"/>
            <a:ext cx="4411495" cy="445039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2916</Words>
  <Application>Microsoft Office PowerPoint</Application>
  <PresentationFormat>와이드스크린</PresentationFormat>
  <Paragraphs>364</Paragraphs>
  <Slides>25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29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USER</cp:lastModifiedBy>
  <cp:revision>3</cp:revision>
  <dcterms:created xsi:type="dcterms:W3CDTF">2013-01-27T09:14:16Z</dcterms:created>
  <dcterms:modified xsi:type="dcterms:W3CDTF">2026-09-21T08:56:26Z</dcterms:modified>
  <cp:category/>
</cp:coreProperties>
</file>