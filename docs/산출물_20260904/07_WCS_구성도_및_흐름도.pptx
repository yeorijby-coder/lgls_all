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맑은 고딕"/>
              </a:rPr>
              <a:t>LG 화학 1동 자동창고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058400" cy="10058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WCS 시스템 구성도 및 업무 흐름도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맑은 고딕"/>
              </a:rPr>
              <a:t>WCS Renewal (구 ECS 대체)   ·   2026-09-05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시스템 구성도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모든 프로그램은 DB(LGLS_MCS_IO)를 매개로 구동한다. 화살표는 데이터가 흐르는 방향이다.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194560" cy="73152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1E2761"/>
                </a:solidFill>
                <a:latin typeface="맑은 고딕"/>
              </a:rPr>
              <a:t>상위 시스템</a:t>
            </a:r>
          </a:p>
          <a:p>
            <a:pPr algn="ctr"/>
            <a:r>
              <a:rPr sz="1000" b="0">
                <a:solidFill>
                  <a:srgbClr val="595959"/>
                </a:solidFill>
                <a:latin typeface="맑은 고딕"/>
              </a:rPr>
              <a:t>WMS / IMS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219456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1E2761"/>
                </a:solidFill>
                <a:latin typeface="맑은 고딕"/>
              </a:rPr>
              <a:t>상위 통신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WCS_TASK_HOST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63040"/>
            <a:ext cx="219456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1E2761"/>
                </a:solidFill>
                <a:latin typeface="맑은 고딕"/>
              </a:rPr>
              <a:t>스케줄러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IO_TASK</a:t>
            </a:r>
          </a:p>
        </p:txBody>
      </p:sp>
      <p:sp>
        <p:nvSpPr>
          <p:cNvPr id="7" name="Magnetic Disk 6"/>
          <p:cNvSpPr/>
          <p:nvPr/>
        </p:nvSpPr>
        <p:spPr>
          <a:xfrm>
            <a:off x="4434840" y="3063240"/>
            <a:ext cx="2468880" cy="1234440"/>
          </a:xfrm>
          <a:prstGeom prst="flowChartMagneticDisk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DB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Microsoft SQL Server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LGLS_MCS_IO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5029200"/>
            <a:ext cx="219456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1E2761"/>
                </a:solidFill>
                <a:latin typeface="맑은 고딕"/>
              </a:rPr>
              <a:t>설비 통신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WCS_TASK_CV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291840"/>
            <a:ext cx="237744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1E2761"/>
                </a:solidFill>
                <a:latin typeface="맑은 고딕"/>
              </a:rPr>
              <a:t>운전 화면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Ecs.exe (Client)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5029200"/>
            <a:ext cx="2377440" cy="77724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300" b="1">
                <a:solidFill>
                  <a:srgbClr val="1E2761"/>
                </a:solidFill>
                <a:latin typeface="맑은 고딕"/>
              </a:rPr>
              <a:t>설비 / PLC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XGT · C/V · S/C · RGV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2743200"/>
            <a:ext cx="0" cy="54864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011680" y="2743200"/>
            <a:ext cx="0" cy="54864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108960" y="3675887"/>
            <a:ext cx="1325880" cy="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669280" y="2240280"/>
            <a:ext cx="0" cy="8229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806440" y="2240280"/>
            <a:ext cx="0" cy="8229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669280" y="4297680"/>
            <a:ext cx="0" cy="73152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06440" y="4297680"/>
            <a:ext cx="0" cy="73152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903720" y="3675887"/>
            <a:ext cx="1508760" cy="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766560" y="5413248"/>
            <a:ext cx="1645920" cy="0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766560" y="5596128"/>
            <a:ext cx="1645920" cy="0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4114800"/>
            <a:ext cx="2194560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O/R/M/S/E/F 전문 · TCP 8001·8002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5623560"/>
            <a:ext cx="1508760" cy="21945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XGT 1소켓 · 2004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1188720"/>
            <a:ext cx="4114800" cy="1828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■ 각 프로그램의 역할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상위 통신 : WMS/IMS 전문을 작업(JOB_MST)으로 바꾸고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  상태·완료·에러를 되보고한다.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스케줄러 : 작업 상태를 진행시키고 설비 지시(_OD)를 쓴다.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설비 통신 : PLC 를 읽어 _RD 에 쓰고, 지시를 PLC 에 전송한다.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· 운전 화면 : DB 를 보여주고 수동 지시·설정을 DB 에 기록한다.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  설비와 직접 통신하지 않는다.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74920"/>
            <a:ext cx="3566160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■ 한 줄 요약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프로그램끼리 직접 부르지 않는다.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모두 DB 를 통해 주고받으므로,</a:t>
            </a:r>
          </a:p>
          <a:p>
            <a:pPr algn="l"/>
            <a:r>
              <a:rPr sz="1050" b="0">
                <a:solidFill>
                  <a:srgbClr val="595959"/>
                </a:solidFill>
                <a:latin typeface="맑은 고딕"/>
              </a:rPr>
              <a:t>하나가 죽어도 지시와 상태는 DB 에 남는다.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WCS  |  시스템 구성도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입고 플로우차트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작업 상태(JOB_STATUS)를 따라가는 판단 흐름. 로직1(124) 기준이며 로직2(130)·로직3(122)은 출발 트랙만 다르다.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1143000"/>
            <a:ext cx="3246120" cy="50292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시작 : 입고대에 파렛트 적재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743700" y="1645920"/>
            <a:ext cx="0" cy="1371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120640" y="1783080"/>
            <a:ext cx="324612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상위 O 전문 수신</a:t>
            </a:r>
          </a:p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작업 생성 (99)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39" y="1901952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상위 통신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43700" y="2313432"/>
            <a:ext cx="0" cy="10972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120640" y="2423160"/>
            <a:ext cx="324612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입고대 CV 구동지시 (10 → 15)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39" y="2542032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스케줄러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43700" y="2926080"/>
            <a:ext cx="0" cy="1371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120640" y="3063240"/>
            <a:ext cx="324612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RGV 반송 (15 → 35)</a:t>
            </a:r>
          </a:p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픽업 트랙 → 크레인 통로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39" y="3182112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스케줄러 · RGV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43700" y="3593592"/>
            <a:ext cx="0" cy="10972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120640" y="3703320"/>
            <a:ext cx="324612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RGV 하역 완료 (39)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39" y="3822191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설비 통신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43700" y="4206240"/>
            <a:ext cx="0" cy="1371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120640" y="4343400"/>
            <a:ext cx="324612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도착 트랙에 작업번호 기록 (39 → 15)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39" y="4462272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스케줄러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43700" y="4846320"/>
            <a:ext cx="0" cy="1371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20640" y="4983480"/>
            <a:ext cx="324612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크레인 반송 (15 → 25 → 29)</a:t>
            </a:r>
          </a:p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S/C측 트랙 → 랙 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39" y="5102352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스케줄러 · 크레인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43700" y="5513832"/>
            <a:ext cx="0" cy="10972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20640" y="5623560"/>
            <a:ext cx="3246120" cy="50292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완료 (09) · 상위 F 전문 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39" y="5742432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상위 통신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1143000"/>
            <a:ext cx="3017520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■ RGV 지시 전 확인 조건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1536192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① 출발 트랙 : RGV 출발 H/S 신호 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1920240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② 도착 트랙 : RGV 도착 H/S 신호 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2304288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③ RGV : 대기(IDLE) 상태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2688336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④ 도착 트랙에 착지 기록 대기(39) 작업 없음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3246120"/>
            <a:ext cx="3017520" cy="68580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000" b="1">
                <a:solidFill>
                  <a:srgbClr val="C87A0E"/>
                </a:solidFill>
                <a:latin typeface="맑은 고딕"/>
              </a:rPr>
              <a:t>하나라도 아니면 지시하지 않고</a:t>
            </a:r>
          </a:p>
          <a:p>
            <a:pPr algn="ctr"/>
            <a:r>
              <a:rPr sz="1000" b="1">
                <a:solidFill>
                  <a:srgbClr val="C87A0E"/>
                </a:solidFill>
                <a:latin typeface="맑은 고딕"/>
              </a:rPr>
              <a:t>알람 이력에 사유를 남긴다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4206240"/>
            <a:ext cx="3017520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■ 상태 코드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4572000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99 신규   10 CV 구동대기   15 CV 구동중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4873752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30 RGV 대기   35 RGV 구동중   39 RGV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5175504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20 크레인 대기   25 구동중   29 완료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5477256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09 완료(이력 이관)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WCS  |  입고 플로우차트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입고 플로우 다이어그램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누가 무엇을 하는지 시간 순서(왼쪽 → 오른쪽)로 본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658368"/>
          </a:xfrm>
          <a:prstGeom prst="rect">
            <a:avLst/>
          </a:prstGeom>
          <a:solidFill>
            <a:srgbClr val="EEF1F7"/>
          </a:solidFill>
          <a:ln w="9525">
            <a:solidFill>
              <a:srgbClr val="B6B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WMS / IMS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11247120" cy="658368"/>
          </a:xfrm>
          <a:prstGeom prst="rect">
            <a:avLst/>
          </a:prstGeom>
          <a:solidFill>
            <a:srgbClr val="EEF1F7"/>
          </a:solidFill>
          <a:ln w="9525">
            <a:solidFill>
              <a:srgbClr val="B6B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2167128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상위 통신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11247120" cy="658368"/>
          </a:xfrm>
          <a:prstGeom prst="rect">
            <a:avLst/>
          </a:prstGeom>
          <a:solidFill>
            <a:srgbClr val="EEF1F7"/>
          </a:solidFill>
          <a:ln w="9525">
            <a:solidFill>
              <a:srgbClr val="B6B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944368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스케줄러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20440"/>
            <a:ext cx="11247120" cy="658368"/>
          </a:xfrm>
          <a:prstGeom prst="rect">
            <a:avLst/>
          </a:prstGeom>
          <a:solidFill>
            <a:srgbClr val="EEF1F7"/>
          </a:solidFill>
          <a:ln w="9525">
            <a:solidFill>
              <a:srgbClr val="B6B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3721608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설비 통신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97680"/>
            <a:ext cx="11247120" cy="658368"/>
          </a:xfrm>
          <a:prstGeom prst="rect">
            <a:avLst/>
          </a:prstGeom>
          <a:solidFill>
            <a:srgbClr val="EEF1F7"/>
          </a:solidFill>
          <a:ln w="9525">
            <a:solidFill>
              <a:srgbClr val="B6B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4498848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설비 / PLC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· 스케줄러는 설비에 직접 말하지 않는다. 지시를 DB(_OD)에 쓰면 설비 통신이 PLC 로 전송한다.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· 설비가 올린 완료 신호는 설비 통신이 관측해 Ack 를 돌려주고 DB(_RD)에 남긴다. 스케줄러는 그 값을 보고 상태를 올린다.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3080" y="1271016"/>
            <a:ext cx="132588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O 전문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(작업 지시)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41448" y="1847088"/>
            <a:ext cx="0" cy="201167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783080" y="2048255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작업 생성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JOB_MST 99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41448" y="262432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46120" y="282549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CV 지시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10 → 15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04487" y="340156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46120" y="360273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PLC 쓰기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트래킹/목적지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04487" y="417880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246120" y="4379976"/>
            <a:ext cx="132588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컨베이어 이송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→ RGV 픽업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282549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RGV 지시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15 → 35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67528" y="340156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09160" y="360273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반송지시 전송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67528" y="417880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709160" y="4379976"/>
            <a:ext cx="132588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RGV 반송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통로로 하역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379976"/>
            <a:ext cx="132588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하역 완료 신호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6830568" y="417880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172200" y="360273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완료 관측 · Ack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COMPLETE_RD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830568" y="340156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172200" y="282549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35 → 39 → 15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282549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크레인 지시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15 → 25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93608" y="340156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635240" y="360273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반송지시 전송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93608" y="417880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635240" y="4379976"/>
            <a:ext cx="132588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크레인 적재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셀에 저장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98280" y="4379976"/>
            <a:ext cx="114300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완료 신호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9665207" y="417880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098280" y="3602736"/>
            <a:ext cx="114300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완료 관측 · Ack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9665207" y="340156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098280" y="2825496"/>
            <a:ext cx="114300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25 → 29 → 09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9665207" y="262432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098280" y="2048255"/>
            <a:ext cx="114300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F 전문 보고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9665207" y="1847088"/>
            <a:ext cx="0" cy="201167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378440" y="1271016"/>
            <a:ext cx="123444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완료 확인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241280" y="1517904"/>
            <a:ext cx="137160" cy="0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WCS  |  입고 플로우 다이어그램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출고 플로우차트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입고의 역순이다. 크레인이 먼저 움직이고 마지막에 출고대에서 지게차가 가져간다.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0" y="1143000"/>
            <a:ext cx="3246120" cy="50292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시작 : 상위 O 전문(출발 셀 · 도착 작업대)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39" y="1261872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상위 통신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743700" y="1645920"/>
            <a:ext cx="0" cy="1371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120640" y="1783080"/>
            <a:ext cx="324612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작업 생성 (99) → 크레인 구동대기 (20)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39" y="1901952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스케줄러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43700" y="2286000"/>
            <a:ext cx="0" cy="1371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120640" y="2423160"/>
            <a:ext cx="324612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크레인 반송 (20 → 25 → 29)</a:t>
            </a:r>
          </a:p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랙 셀 → S/C측 트랙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39" y="2542032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스케줄러 · 크레인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43700" y="2953512"/>
            <a:ext cx="0" cy="10972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120640" y="3063240"/>
            <a:ext cx="324612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통로 CV 가 RGV측 트랙으로 이송 (15)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39" y="3182112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설비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43700" y="3566160"/>
            <a:ext cx="0" cy="1371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120640" y="3703320"/>
            <a:ext cx="324612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RGV 반송 (35 → 39)</a:t>
            </a:r>
          </a:p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통로 → 출고대 픽업 트랙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39" y="3822191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스케줄러 · RGV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43700" y="4233672"/>
            <a:ext cx="0" cy="10972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20640" y="4343400"/>
            <a:ext cx="324612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출고대 진입 · 출고대 신호 ON (15 → 19)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39" y="4462272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설비 통신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43700" y="4846320"/>
            <a:ext cx="0" cy="1371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120640" y="4983480"/>
            <a:ext cx="3246120" cy="50292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지게차 반출 → 화물감지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39" y="5102352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작업자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43700" y="5486400"/>
            <a:ext cx="0" cy="13716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20640" y="5623560"/>
            <a:ext cx="3246120" cy="50292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00" b="1">
                <a:solidFill>
                  <a:srgbClr val="1E2761"/>
                </a:solidFill>
                <a:latin typeface="맑은 고딕"/>
              </a:rPr>
              <a:t>완료 (09) · 상위 F 전문 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39" y="5742432"/>
            <a:ext cx="1691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1000" b="1">
                <a:solidFill>
                  <a:srgbClr val="266EBE"/>
                </a:solidFill>
                <a:latin typeface="맑은 고딕"/>
              </a:rPr>
              <a:t>상위 통신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1143000"/>
            <a:ext cx="3017520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■ 출고 작업대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1536192"/>
            <a:ext cx="3017520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126 원부자재 불출대 (C/V#13, 로직1)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1847088"/>
            <a:ext cx="3017520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129 피킹 작업대 (C/V#14, 로직2)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2157984"/>
            <a:ext cx="3017520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122 입출고 겸용대 (C/V#11, 로직3)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2651760"/>
            <a:ext cx="3017520" cy="86868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000" b="1">
                <a:solidFill>
                  <a:srgbClr val="C87A0E"/>
                </a:solidFill>
                <a:latin typeface="맑은 고딕"/>
              </a:rPr>
              <a:t>겸용대(122)는 출고 모드일 때만</a:t>
            </a:r>
          </a:p>
          <a:p>
            <a:pPr algn="ctr"/>
            <a:r>
              <a:rPr sz="1000" b="1">
                <a:solidFill>
                  <a:srgbClr val="C87A0E"/>
                </a:solidFill>
                <a:latin typeface="맑은 고딕"/>
              </a:rPr>
              <a:t>출고 화물이 나올 수 있다.</a:t>
            </a:r>
          </a:p>
          <a:p>
            <a:pPr algn="ctr"/>
            <a:r>
              <a:rPr sz="1000" b="1">
                <a:solidFill>
                  <a:srgbClr val="C87A0E"/>
                </a:solidFill>
                <a:latin typeface="맑은 고딕"/>
              </a:rPr>
              <a:t>모드 전환은 상위 M 전문(WMS → WCS)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794760"/>
            <a:ext cx="3017520" cy="3200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맑은 고딕"/>
              </a:rPr>
              <a:t>■ 상태 코드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4160520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99 신규   20 크레인 대기   25 구동중   29 완료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20" y="4462272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15 CV 구동중   35 RGV 구동중   39 RGV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4764024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19 CV 구동완료(출고대 도착)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5065776"/>
            <a:ext cx="30175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09 완료(이력 이관)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WCS  |  출고 플로우차트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출고 플로우 다이어그램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누가 무엇을 하는지 시간 순서(왼쪽 → 오른쪽)로 본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658368"/>
          </a:xfrm>
          <a:prstGeom prst="rect">
            <a:avLst/>
          </a:prstGeom>
          <a:solidFill>
            <a:srgbClr val="EEF1F7"/>
          </a:solidFill>
          <a:ln w="9525">
            <a:solidFill>
              <a:srgbClr val="B6B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WMS / IMS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11247120" cy="658368"/>
          </a:xfrm>
          <a:prstGeom prst="rect">
            <a:avLst/>
          </a:prstGeom>
          <a:solidFill>
            <a:srgbClr val="EEF1F7"/>
          </a:solidFill>
          <a:ln w="9525">
            <a:solidFill>
              <a:srgbClr val="B6B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2167128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상위 통신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11247120" cy="658368"/>
          </a:xfrm>
          <a:prstGeom prst="rect">
            <a:avLst/>
          </a:prstGeom>
          <a:solidFill>
            <a:srgbClr val="EEF1F7"/>
          </a:solidFill>
          <a:ln w="9525">
            <a:solidFill>
              <a:srgbClr val="B6B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944368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스케줄러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20440"/>
            <a:ext cx="11247120" cy="658368"/>
          </a:xfrm>
          <a:prstGeom prst="rect">
            <a:avLst/>
          </a:prstGeom>
          <a:solidFill>
            <a:srgbClr val="EEF1F7"/>
          </a:solidFill>
          <a:ln w="9525">
            <a:solidFill>
              <a:srgbClr val="B6B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3721608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설비 통신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97680"/>
            <a:ext cx="11247120" cy="658368"/>
          </a:xfrm>
          <a:prstGeom prst="rect">
            <a:avLst/>
          </a:prstGeom>
          <a:solidFill>
            <a:srgbClr val="EEF1F7"/>
          </a:solidFill>
          <a:ln w="9525">
            <a:solidFill>
              <a:srgbClr val="B6B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4498848"/>
            <a:ext cx="13716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1">
                <a:solidFill>
                  <a:srgbClr val="1E2761"/>
                </a:solidFill>
                <a:latin typeface="맑은 고딕"/>
              </a:rPr>
              <a:t>설비 / PLC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· 출고는 크레인이 먼저 움직인다. 크레인이 통로에 내려놓으면 컨베이어와 RGV 가 출고대까지 이어 나른다.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· 마지막 완료는 사람이 만든다. 지게차가 화물을 가져가 출고대 화물감지가 꺼지면 그때 완료(19 → 09)로 처리한다.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3080" y="1271016"/>
            <a:ext cx="132588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O 전문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(출고 지시)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41448" y="1847088"/>
            <a:ext cx="0" cy="201167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783080" y="2048255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작업 생성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JOB_MST 99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41448" y="262432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46120" y="282549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크레인 지시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20 → 25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04487" y="340156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246120" y="360273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반송지시 전송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04487" y="417880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246120" y="4379976"/>
            <a:ext cx="132588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크레인 출고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셀 → 트랙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4379976"/>
            <a:ext cx="132588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완료 신호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5367528" y="417880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09160" y="360273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완료 관측 · Ack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5367528" y="340156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709160" y="282549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25 → 29 → 15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282549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RGV 지시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15 → 35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30568" y="340156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172200" y="360273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반송지시 전송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30568" y="4178808"/>
            <a:ext cx="0" cy="201168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172200" y="4379976"/>
            <a:ext cx="132588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RGV 반송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→ 출고대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4379976"/>
            <a:ext cx="132588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출고대 신호 ON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8293608" y="417880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635240" y="360273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신호 관측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8293608" y="340156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635240" y="2825496"/>
            <a:ext cx="132588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39 → 15 → 19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98280" y="4379976"/>
            <a:ext cx="114300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지게차 반출</a:t>
            </a:r>
          </a:p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감지 OFF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9665207" y="417880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098280" y="3602736"/>
            <a:ext cx="114300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해제 관측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9665207" y="340156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098280" y="2825496"/>
            <a:ext cx="114300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19 → 09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9665207" y="2624328"/>
            <a:ext cx="0" cy="201168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098280" y="2048255"/>
            <a:ext cx="1143000" cy="49377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F 전문 보고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9665207" y="1847088"/>
            <a:ext cx="0" cy="201167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378440" y="1271016"/>
            <a:ext cx="1234440" cy="493776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266E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>
                <a:solidFill>
                  <a:srgbClr val="1E2761"/>
                </a:solidFill>
                <a:latin typeface="맑은 고딕"/>
              </a:rPr>
              <a:t>완료 확인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241280" y="1517904"/>
            <a:ext cx="137160" cy="0"/>
          </a:xfrm>
          <a:prstGeom prst="line">
            <a:avLst/>
          </a:prstGeom>
          <a:ln w="19050">
            <a:solidFill>
              <a:srgbClr val="2E86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WCS  |  출고 플로우 다이어그램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피킹 작업대 흐름 (102)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129(출고)와 130(재입고)은 물리적으로 한 자리다. IMS 는 둘을 하나의 작업대 102 로 본다.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228600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1E2761"/>
                </a:solidFill>
                <a:latin typeface="맑은 고딕"/>
              </a:rPr>
              <a:t>출고 흐름</a:t>
            </a:r>
          </a:p>
          <a:p>
            <a:pPr algn="ctr"/>
            <a:r>
              <a:rPr sz="1200" b="1">
                <a:solidFill>
                  <a:srgbClr val="1E2761"/>
                </a:solidFill>
                <a:latin typeface="맑은 고딕"/>
              </a:rPr>
              <a:t>랙 → 129 도착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371600"/>
            <a:ext cx="2286000" cy="82296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C87A0E"/>
                </a:solidFill>
                <a:latin typeface="맑은 고딕"/>
              </a:rPr>
              <a:t>작업자 피킹</a:t>
            </a:r>
          </a:p>
          <a:p>
            <a:pPr algn="ctr"/>
            <a:r>
              <a:rPr sz="1200" b="1">
                <a:solidFill>
                  <a:srgbClr val="C87A0E"/>
                </a:solidFill>
                <a:latin typeface="맑은 고딕"/>
              </a:rPr>
              <a:t>필요 수량만 꺼냄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371600"/>
            <a:ext cx="228600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86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2E864B"/>
                </a:solidFill>
                <a:latin typeface="맑은 고딕"/>
              </a:rPr>
              <a:t>PLC 인계</a:t>
            </a:r>
          </a:p>
          <a:p>
            <a:pPr algn="ctr"/>
            <a:r>
              <a:rPr sz="1200" b="1">
                <a:solidFill>
                  <a:srgbClr val="2E864B"/>
                </a:solidFill>
                <a:latin typeface="맑은 고딕"/>
              </a:rPr>
              <a:t>#30 ON → #29 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1371600"/>
            <a:ext cx="201168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1E2761"/>
                </a:solidFill>
                <a:latin typeface="맑은 고딕"/>
              </a:rPr>
              <a:t>재입고 흐름</a:t>
            </a:r>
          </a:p>
          <a:p>
            <a:pPr algn="ctr"/>
            <a:r>
              <a:rPr sz="1200" b="1">
                <a:solidFill>
                  <a:srgbClr val="1E2761"/>
                </a:solidFill>
                <a:latin typeface="맑은 고딕"/>
              </a:rPr>
              <a:t>130 → 랙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00400" y="1783080"/>
            <a:ext cx="640080" cy="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126480" y="1783080"/>
            <a:ext cx="640080" cy="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52560" y="1783080"/>
            <a:ext cx="640080" cy="0"/>
          </a:xfrm>
          <a:prstGeom prst="line">
            <a:avLst/>
          </a:prstGeom>
          <a:ln w="19050">
            <a:solidFill>
              <a:srgbClr val="266EB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606040"/>
            <a:ext cx="1078992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PLC 사양(시나리오 슬라이드 13)에 적힌 인계 순서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17520"/>
            <a:ext cx="10515600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① 화물이 #29 에 도착 → W.O 비트 ON, 트래킹 유지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64991"/>
            <a:ext cx="10515600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② PLC Unload Request #2 ON → WCS Ack ON   (작업자 피킹 구간)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12463"/>
            <a:ext cx="10515600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③ 반출 완료 → PLC Unload Complete #2 ON → WCS Ack ON → 양쪽 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59935"/>
            <a:ext cx="10515600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④ Pallet Exist #30 ON   (아직 #29 도 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07408"/>
            <a:ext cx="10515600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⑤ Pallet Exist #29 OFF   ※ 사양 주석 : "출고 영역 #29 bit 만 지움"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892040"/>
            <a:ext cx="10789920" cy="1234440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C87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200" b="1">
                <a:solidFill>
                  <a:srgbClr val="C87A0E"/>
                </a:solidFill>
                <a:latin typeface="맑은 고딕"/>
              </a:rPr>
              <a:t>확인 필요 (PLC 담당자)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· 작업자 완료 버튼은 없다고 확인됨 → Unload Complete #2 는 PLC 타이머가 올리는 것으로 보인다.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· #30 재하 ON 조건에 WCS Ack(M0933)가 들어가는지, 타이머 단독인지 확인이 필요하다.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맑은 고딕"/>
              </a:rPr>
              <a:t>· #30 트래킹(작업번호)은 WCS 가 기록한다 — 재입고는 상위의 새 지시로 시작한다.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WCS  |  피킹 작업대 흐름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맑은 고딕"/>
              </a:rPr>
              <a:t>예외 처리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이중입고는 상위가 위치를 재지정하고, 공출고는 재지정 없이 양쪽에서 작업을 삭제한다.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539496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이중입고 (에러 54) — 입고 목적 셀에 이미 화물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5212080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50" b="1">
                <a:solidFill>
                  <a:srgbClr val="266EBE"/>
                </a:solidFill>
                <a:latin typeface="맑은 고딕"/>
              </a:rPr>
              <a:t>→ 상위가 R 전문으로 다른 셀을 내려 준다 (재지정 있음)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212080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① 크레인이 셀에 넣지 못하고 에러 54 발생 (화물은 실은 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79"/>
            <a:ext cx="5212080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② WCS 가 E 전문 보고 (ErrorKind=1, 작업번호 · 도착 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39"/>
            <a:ext cx="5212080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③ 상위가 같은 호기의 다른 셀로 R 전문(R_Kind=1) 재지정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5212080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④ WCS 가 작업을 재지정 상태로 바꾸고 새 셀로 크레인 재지시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37560"/>
            <a:ext cx="5212080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⑤ 크레인이 새 지시를 받아 정상 입고 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097280"/>
            <a:ext cx="539496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공출고 (에러 58) — 출고 출발 셀이 비어 있음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481328"/>
            <a:ext cx="5212080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050" b="1">
                <a:solidFill>
                  <a:srgbClr val="C87A0E"/>
                </a:solidFill>
                <a:latin typeface="맑은 고딕"/>
              </a:rPr>
              <a:t>→ 재지정이 없다. 양쪽에서 작업을 삭제한다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74519"/>
            <a:ext cx="5212080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① 크레인이 셀에서 집지 못하고 에러 58 발생 (빈 포크)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40279"/>
            <a:ext cx="5212080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② WCS 가 E 전문 보고 (ErrorKind=3, 작업번호 · 출발 셀)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06039"/>
            <a:ext cx="5212080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③ 상위(IMS)가 그 작업을 삭제한다 (담당자 확인 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971800"/>
            <a:ext cx="5212080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④ 운전자가 WCS [작업정보] 에서 같은 작업을 삭제 (확인 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337560"/>
            <a:ext cx="5212080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⑤ 재고가 실제로 있는 셀로 상위가 새 출고를 지시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67328"/>
            <a:ext cx="11109960" cy="786384"/>
          </a:xfrm>
          <a:prstGeom prst="roundRect">
            <a:avLst/>
          </a:prstGeom>
          <a:solidFill>
            <a:srgbClr val="EEF1F7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150" b="1">
                <a:solidFill>
                  <a:srgbClr val="1E2761"/>
                </a:solidFill>
                <a:latin typeface="맑은 고딕"/>
              </a:rPr>
              <a:t>설비 에러 해제는 운전 화면의 기능이 아니다</a:t>
            </a:r>
          </a:p>
          <a:p>
            <a:pPr algn="ctr"/>
            <a:r>
              <a:rPr sz="1050" b="0">
                <a:solidFill>
                  <a:srgbClr val="595959"/>
                </a:solidFill>
                <a:latin typeface="맑은 고딕"/>
              </a:rPr>
              <a:t>구 ECS 에도 S/C · RGV 에러를 해제하는 화면 기능은 없다. 설비에서 알람이 해제되면 설비가 AlarmResetReport 로 알리고 ECS 는 Ack 만 한다.</a:t>
            </a:r>
          </a:p>
          <a:p>
            <a:pPr algn="ctr"/>
            <a:r>
              <a:rPr sz="1050" b="0">
                <a:solidFill>
                  <a:srgbClr val="595959"/>
                </a:solidFill>
                <a:latin typeface="맑은 고딕"/>
              </a:rPr>
              <a:t>(참고) 구 ECS 소스에서 R 전문은 ACK 만 하고 실제 위치 변경 코드가 없다. 재지정 동작은 현행 WCS 에서 구현했다.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110642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맑은 고딕"/>
              </a:rPr>
              <a:t>■ 그 밖의 정체와 조치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40080" y="4983480"/>
          <a:ext cx="1106424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7132320"/>
              </a:tblGrid>
              <a:tr h="26517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상황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조치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같은 상태에 오래 머묾 (정체 알림창)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설비 대화상자에서 상태 확인 → 지시 재전송 / 지시 삭제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RGV 가 지시를 받지 않음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RTV 상태창 [지시 삭제] 로 요청 플래그까지 비운다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설비 완료 신호가 오지 않아 상태가 남음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[환경설정] &gt; [시간기반 자동처리] 를 선택하면 경과시간으로 완료를 추정한다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상태바 EQUIP / HOST / SCH 빨강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맑은 고딕"/>
                        </a:rPr>
                        <a:t>해당 서버 프로그램 재기동 (지시는 DB 에 남아 이어서 진행된다)</a:t>
                      </a:r>
                    </a:p>
                  </a:txBody>
                  <a:tcPr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57200" y="6419088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</a:rPr>
              <a:t>LG 화학 1동 WCS  |  예외 처리 흐름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19088"/>
            <a:ext cx="54864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r"/>
            <a:r>
              <a:rPr sz="900" b="0">
                <a:solidFill>
                  <a:srgbClr val="595959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