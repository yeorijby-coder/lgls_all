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05840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맑은 고딕"/>
              </a:rPr>
              <a:t>LG 화학 1동 자동창고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058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WCS 함수단 흐름도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500" b="0">
                <a:solidFill>
                  <a:srgbClr val="CADCFC"/>
                </a:solidFill>
                <a:latin typeface="맑은 고딕"/>
              </a:rPr>
              <a:t>입고 · 출고 풀사이클을 실제 함수 호출 단위로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맑은 고딕"/>
              </a:rPr>
              <a:t>WCS Renewal (구 ECS 대체)   ·   2026-09-05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읽는 법 · 프로세스별 진입 함수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13385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네 개의 프로세스가 DB(LGLS_MCS_IO)를 매개로 각자 자기 루프를 돈다. 직접 호출하는 관계는 없다.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34440"/>
            <a:ext cx="2606040" cy="1188720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200" b="1">
                <a:solidFill>
                  <a:srgbClr val="1E2761"/>
                </a:solidFill>
                <a:latin typeface="맑은 고딕"/>
              </a:rPr>
              <a:t>WCS_TASK_HOST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맑은 고딕"/>
              </a:rPr>
              <a:t>상위 통신</a:t>
            </a:r>
          </a:p>
          <a:p>
            <a:pPr algn="ctr"/>
            <a:r>
              <a:rPr sz="900" b="0">
                <a:solidFill>
                  <a:srgbClr val="266EBE"/>
                </a:solidFill>
                <a:latin typeface="맑은 고딕"/>
              </a:rPr>
              <a:t>CSrvWork.ReadRequest()</a:t>
            </a:r>
          </a:p>
          <a:p>
            <a:pPr algn="ctr"/>
            <a:r>
              <a:rPr sz="900" b="0">
                <a:solidFill>
                  <a:srgbClr val="266EBE"/>
                </a:solidFill>
                <a:latin typeface="맑은 고딕"/>
              </a:rPr>
              <a:t>CCliWork.GetSendData()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234440"/>
            <a:ext cx="2606040" cy="1188720"/>
          </a:xfrm>
          <a:prstGeom prst="roundRect">
            <a:avLst/>
          </a:prstGeom>
          <a:solidFill>
            <a:srgbClr val="ECF6E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200" b="1">
                <a:solidFill>
                  <a:srgbClr val="1E2761"/>
                </a:solidFill>
                <a:latin typeface="맑은 고딕"/>
              </a:rPr>
              <a:t>IO_TASK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맑은 고딕"/>
              </a:rPr>
              <a:t>스케줄러</a:t>
            </a:r>
          </a:p>
          <a:p>
            <a:pPr algn="ctr"/>
            <a:r>
              <a:rPr sz="900" b="0">
                <a:solidFill>
                  <a:srgbClr val="2E864B"/>
                </a:solidFill>
                <a:latin typeface="맑은 고딕"/>
              </a:rPr>
              <a:t>cThread_SCH.Thread_Doing()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맑은 고딕"/>
              </a:rPr>
              <a:t>200ms 주기 · 단일 루프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2606040" cy="1188720"/>
          </a:xfrm>
          <a:prstGeom prst="roundRect">
            <a:avLst/>
          </a:prstGeom>
          <a:solidFill>
            <a:srgbClr val="FBF4E8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200" b="1">
                <a:solidFill>
                  <a:srgbClr val="1E2761"/>
                </a:solidFill>
                <a:latin typeface="맑은 고딕"/>
              </a:rPr>
              <a:t>WCS_TASK_CV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맑은 고딕"/>
              </a:rPr>
              <a:t>C/V 통신</a:t>
            </a:r>
          </a:p>
          <a:p>
            <a:pPr algn="ctr"/>
            <a:r>
              <a:rPr sz="900" b="0">
                <a:solidFill>
                  <a:srgbClr val="C87A0E"/>
                </a:solidFill>
                <a:latin typeface="맑은 고딕"/>
              </a:rPr>
              <a:t>CvThread.Thread_Doing()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맑은 고딕"/>
              </a:rPr>
              <a:t>15설비 슬롯 순회 · 약 16초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20" y="1234440"/>
            <a:ext cx="2606040" cy="1188720"/>
          </a:xfrm>
          <a:prstGeom prst="roundRect">
            <a:avLst/>
          </a:prstGeom>
          <a:solidFill>
            <a:srgbClr val="EAF4F6"/>
          </a:solidFill>
          <a:ln w="1587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200" b="1">
                <a:solidFill>
                  <a:srgbClr val="1E2761"/>
                </a:solidFill>
                <a:latin typeface="맑은 고딕"/>
              </a:rPr>
              <a:t>WCS_TASK_CV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맑은 고딕"/>
              </a:rPr>
              <a:t>S/C · RGV 통신</a:t>
            </a:r>
          </a:p>
          <a:p>
            <a:pPr algn="ctr"/>
            <a:r>
              <a:rPr sz="900" b="0">
                <a:solidFill>
                  <a:srgbClr val="1F7A8C"/>
                </a:solidFill>
                <a:latin typeface="맑은 고딕"/>
              </a:rPr>
              <a:t>VehThread.Thread_Doing()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맑은 고딕"/>
              </a:rPr>
              <a:t>관측 폴링 + 명령 소비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1828800"/>
            <a:ext cx="320040" cy="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017520" y="2011680"/>
            <a:ext cx="320040" cy="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943600" y="1828800"/>
            <a:ext cx="320040" cy="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943600" y="2011680"/>
            <a:ext cx="320040" cy="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69680" y="1828800"/>
            <a:ext cx="320039" cy="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869680" y="2011680"/>
            <a:ext cx="320039" cy="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Magnetic Disk 13"/>
          <p:cNvSpPr/>
          <p:nvPr/>
        </p:nvSpPr>
        <p:spPr>
          <a:xfrm>
            <a:off x="3337560" y="2788920"/>
            <a:ext cx="5532120" cy="566928"/>
          </a:xfrm>
          <a:prstGeom prst="flowChartMagneticDisk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DB : LGLS_MCS_IO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JOB_MST · CV_DATA · SC_DATA_LGLS · RTV_DATA_LGLS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09928" y="2423160"/>
            <a:ext cx="0" cy="36576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36008" y="2423160"/>
            <a:ext cx="0" cy="36576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62088" y="2423160"/>
            <a:ext cx="0" cy="36576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488168" y="2423160"/>
            <a:ext cx="0" cy="365760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1480" y="3611880"/>
            <a:ext cx="5532120" cy="2651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■ 표기 규칙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상자 안 윗줄 = 실제 함수명. 소스 그대로다.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아랫줄 = 그 함수가 하는 일과 건드리는 테이블/신호.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오른쪽 배지 = JOB_MST.JOB_STATUS 전이. 배지가 없는 단계는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  상태를 바꾸지 않고 설비 신호만 주고받는다.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상자 색 = 그 함수가 사는 프로세스.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번호는 시간 순서다. 열이 넘어가면 다음 열 맨 위로 이어진다.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611880"/>
            <a:ext cx="5532120" cy="2651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■ 작업 상태 전이 (근거 : cThread_SCH.cs DriveSC 주석)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100" b="1">
                <a:solidFill>
                  <a:srgbClr val="2E864B"/>
                </a:solidFill>
                <a:latin typeface="맑은 고딕"/>
              </a:rPr>
              <a:t>입고   99 → 10 → 15 → 35 → 39 → 15 → 25 → 29 → 09</a:t>
            </a:r>
          </a:p>
          <a:p>
            <a:pPr algn="l"/>
            <a:r>
              <a:rPr sz="1100" b="1">
                <a:solidFill>
                  <a:srgbClr val="266EBE"/>
                </a:solidFill>
                <a:latin typeface="맑은 고딕"/>
              </a:rPr>
              <a:t>출고   99 → 20 → 25 → 29 → 15 → 35 → 39 → 15 → 19 → 09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35/39 구간은 RGV(RTV)를 경유할 때만 나타난다.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19(출고) / 29(입고) 는 상위 완료보고(F)가 소비하는 최종 상태다.</a:t>
            </a:r>
          </a:p>
          <a:p>
            <a:pPr algn="l"/>
            <a:r>
              <a:rPr sz="1000" b="0">
                <a:solidFill>
                  <a:srgbClr val="B02E2E"/>
                </a:solidFill>
                <a:latin typeface="맑은 고딕"/>
              </a:rPr>
              <a:t>  중간 처리가 19/29 를 거치면 조기 완료보고가 나가므로 금지.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09 는 완료보고를 끝낸 상태. JOB_MST 에 그대로 남는다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  (반자동만 DeleteSemiFinished() 가 삭제한다).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WCS  |  읽는 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입고 풀사이클 — 함수 호출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13385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상위 O 전문 수신부터 F 완료보고까지. JOB_TYP='1', 입고대 124(C/V#12) → S/C 랙 셀 기준.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960120"/>
            <a:ext cx="182880" cy="146304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932688"/>
            <a:ext cx="2377440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WCS_TASK_HOST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960120"/>
            <a:ext cx="182880" cy="146304"/>
          </a:xfrm>
          <a:prstGeom prst="roundRect">
            <a:avLst/>
          </a:prstGeom>
          <a:solidFill>
            <a:srgbClr val="ECF6EF"/>
          </a:solidFill>
          <a:ln w="12700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46704" y="932688"/>
            <a:ext cx="2377440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IO_TASK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960120"/>
            <a:ext cx="182880" cy="146304"/>
          </a:xfrm>
          <a:prstGeom prst="roundRect">
            <a:avLst/>
          </a:prstGeom>
          <a:solidFill>
            <a:srgbClr val="FBF4E8"/>
          </a:solidFill>
          <a:ln w="12700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4184" y="932688"/>
            <a:ext cx="2377440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WCS_TASK_CV / CvThread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960120"/>
            <a:ext cx="182880" cy="146304"/>
          </a:xfrm>
          <a:prstGeom prst="roundRect">
            <a:avLst/>
          </a:prstGeom>
          <a:solidFill>
            <a:srgbClr val="EAF4F6"/>
          </a:solidFill>
          <a:ln w="12700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1664" y="932688"/>
            <a:ext cx="2377440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WCS_TASK_CV / VehThread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298448"/>
            <a:ext cx="3602736" cy="676656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01  CSrvWork.ReadRequest()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TCP 9911 수신 → CheckHeader() / CheckBody() 로 전문 길이 확인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12848" y="1975104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1480" y="2029967"/>
            <a:ext cx="3602736" cy="676656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02  CSrvWork.Parsing() → ParseOorR()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O 전문 고정자리수 파싱 (LuggNo·SrcStn·DestStn·ProductID)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12848" y="2706624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1480" y="2761488"/>
            <a:ext cx="3602736" cy="676656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03  IsValidStartStation() / IsValidDestStation()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작업대 번호와 랙 셀 유효성 검증. 실패 시 MakeResponse() 로 반려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12848" y="343814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1480" y="3493008"/>
            <a:ext cx="3602736" cy="676656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04  frmMain.InsertJobMst()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JOB_MST INSERT — INS_USER_ID='HOST_TASK'</a:t>
            </a:r>
          </a:p>
          <a:p>
            <a:pPr algn="ctr"/>
            <a:r>
              <a:rPr sz="800" b="1">
                <a:solidFill>
                  <a:srgbClr val="266EBE"/>
                </a:solidFill>
                <a:latin typeface="맑은 고딕"/>
              </a:rPr>
              <a:t>JOB_STATUS = 99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12848" y="416966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" y="4224528"/>
            <a:ext cx="3602736" cy="676656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05  MakeResponse() → SendSock()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상위에 응답 전문(11byte) 회신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12848" y="490118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11480" y="4956048"/>
            <a:ext cx="3602736" cy="676656"/>
          </a:xfrm>
          <a:prstGeom prst="roundRect">
            <a:avLst/>
          </a:prstGeom>
          <a:solidFill>
            <a:srgbClr val="ECF6E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06  cThread_SCH.Thread_Doing()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스케줄러 200ms 루프가 신규 작업을 집는다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12848" y="563270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11480" y="5687568"/>
            <a:ext cx="3602736" cy="676656"/>
          </a:xfrm>
          <a:prstGeom prst="roundRect">
            <a:avLst/>
          </a:prstGeom>
          <a:solidFill>
            <a:srgbClr val="ECF6E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07  AcceptNewJob()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입고는 C/V 가 먼저 받는다 (START_POS = 1xx 작업대)</a:t>
            </a:r>
          </a:p>
          <a:p>
            <a:pPr algn="ctr"/>
            <a:r>
              <a:rPr sz="800" b="1">
                <a:solidFill>
                  <a:srgbClr val="2E864B"/>
                </a:solidFill>
                <a:latin typeface="맑은 고딕"/>
              </a:rPr>
              <a:t>99 → 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88536" y="1298448"/>
            <a:ext cx="3602736" cy="676656"/>
          </a:xfrm>
          <a:prstGeom prst="roundRect">
            <a:avLst/>
          </a:prstGeom>
          <a:solidFill>
            <a:srgbClr val="ECF6E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08  DriveCV() → UpdateCvData()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CV_DATA 에 이송 명령 기록 (OD_RQ_YN='Y', DEST_POS_OD)</a:t>
            </a:r>
          </a:p>
          <a:p>
            <a:pPr algn="ctr"/>
            <a:r>
              <a:rPr sz="800" b="1">
                <a:solidFill>
                  <a:srgbClr val="2E864B"/>
                </a:solidFill>
                <a:latin typeface="맑은 고딕"/>
              </a:rPr>
              <a:t>10 → 15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9904" y="1975104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288536" y="2029967"/>
            <a:ext cx="3602736" cy="676656"/>
          </a:xfrm>
          <a:prstGeom prst="roundRect">
            <a:avLst/>
          </a:prstGeom>
          <a:solidFill>
            <a:srgbClr val="FBF4E8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09  ScanPendingWork() → CvChg_OD_RQ_YN()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쓰기 대기 설비만 골라 XGT PLC 로 이송 명령 WRITE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89904" y="2706624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288536" y="2761488"/>
            <a:ext cx="3602736" cy="676656"/>
          </a:xfrm>
          <a:prstGeom prst="roundRect">
            <a:avLst/>
          </a:prstGeom>
          <a:solidFill>
            <a:srgbClr val="FBF4E8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10  CvStatusScenario() → UpdateCvData()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PLC 상태 READ → CV_DATA 미러 (센서·화물번호·에러코드)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89904" y="343814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288536" y="3493008"/>
            <a:ext cx="3602736" cy="676656"/>
          </a:xfrm>
          <a:prstGeom prst="roundRect">
            <a:avLst/>
          </a:prstGeom>
          <a:solidFill>
            <a:srgbClr val="FBF4E8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11  CvEventCheck()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Load / Unload Complete 이벤트 ACK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89904" y="416966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288536" y="4224528"/>
            <a:ext cx="3602736" cy="676656"/>
          </a:xfrm>
          <a:prstGeom prst="roundRect">
            <a:avLst/>
          </a:prstGeom>
          <a:solidFill>
            <a:srgbClr val="FBF4E8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12  CvTrackingWrite()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R 영역에 작업번호 트래킹 WRITE (EncodeJobNoR)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89904" y="490118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288536" y="4956048"/>
            <a:ext cx="3602736" cy="676656"/>
          </a:xfrm>
          <a:prstGeom prst="roundRect">
            <a:avLst/>
          </a:prstGeom>
          <a:solidFill>
            <a:srgbClr val="ECF6E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13  DriveRGV() → UpdateRtvData()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RTV 유휴 확인 후 이송 명령. 도착 트랙을 HS_TRACK_NO 에 기록</a:t>
            </a:r>
          </a:p>
          <a:p>
            <a:pPr algn="ctr"/>
            <a:r>
              <a:rPr sz="800" b="1">
                <a:solidFill>
                  <a:srgbClr val="2E864B"/>
                </a:solidFill>
                <a:latin typeface="맑은 고딕"/>
              </a:rPr>
              <a:t>15 → 35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89904" y="563270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288536" y="5687568"/>
            <a:ext cx="3602736" cy="676656"/>
          </a:xfrm>
          <a:prstGeom prst="roundRect">
            <a:avLst/>
          </a:prstGeom>
          <a:solidFill>
            <a:srgbClr val="ECF6E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14  CompleteRGVReal()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RTV_DATA_LGLS.COMPLETE_RD 소비</a:t>
            </a:r>
          </a:p>
          <a:p>
            <a:pPr algn="ctr"/>
            <a:r>
              <a:rPr sz="800" b="1">
                <a:solidFill>
                  <a:srgbClr val="2E864B"/>
                </a:solidFill>
                <a:latin typeface="맑은 고딕"/>
              </a:rPr>
              <a:t>35 → 39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65592" y="1298448"/>
            <a:ext cx="3602736" cy="676656"/>
          </a:xfrm>
          <a:prstGeom prst="roundRect">
            <a:avLst/>
          </a:prstGeom>
          <a:solidFill>
            <a:srgbClr val="ECF6E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15  LandRgvDrop() → RequestArrivalTrackingWrite()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HS_TRACK_NO 에 화물이 실제로 올라온 것을 보고 다음 구간에 인계</a:t>
            </a:r>
          </a:p>
          <a:p>
            <a:pPr algn="ctr"/>
            <a:r>
              <a:rPr sz="800" b="1">
                <a:solidFill>
                  <a:srgbClr val="2E864B"/>
                </a:solidFill>
                <a:latin typeface="맑은 고딕"/>
              </a:rPr>
              <a:t>39 → 15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966960" y="1975104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165592" y="2029967"/>
            <a:ext cx="3602736" cy="676656"/>
          </a:xfrm>
          <a:prstGeom prst="roundRect">
            <a:avLst/>
          </a:prstGeom>
          <a:solidFill>
            <a:srgbClr val="ECF6E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16  DriveSC() → UpdateScData()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입고는 15 에서 S/C 가 가져간다. SC_DATA_LGLS OD_RQ_YN='Y'</a:t>
            </a:r>
          </a:p>
          <a:p>
            <a:pPr algn="ctr"/>
            <a:r>
              <a:rPr sz="800" b="1">
                <a:solidFill>
                  <a:srgbClr val="2E864B"/>
                </a:solidFill>
                <a:latin typeface="맑은 고딕"/>
              </a:rPr>
              <a:t>15 → 25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966960" y="2706624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165592" y="2761488"/>
            <a:ext cx="3602736" cy="676656"/>
          </a:xfrm>
          <a:prstGeom prst="roundRect">
            <a:avLst/>
          </a:prstGeom>
          <a:solidFill>
            <a:srgbClr val="EAF4F6"/>
          </a:solidFill>
          <a:ln w="1587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17  VehThread.ConsumeCommands()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WriteString() / WriteBit() 으로 S/C 에 이송 명령 WRITE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966960" y="343814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165592" y="3493008"/>
            <a:ext cx="3602736" cy="676656"/>
          </a:xfrm>
          <a:prstGeom prst="roundRect">
            <a:avLst/>
          </a:prstGeom>
          <a:solidFill>
            <a:srgbClr val="EAF4F6"/>
          </a:solidFill>
          <a:ln w="1587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18  VehThread.PollObservations()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S/C 위치·포크·에러 관측 → SC_DATA_LGLS 반영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966960" y="416966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165592" y="4224528"/>
            <a:ext cx="3602736" cy="676656"/>
          </a:xfrm>
          <a:prstGeom prst="roundRect">
            <a:avLst/>
          </a:prstGeom>
          <a:solidFill>
            <a:srgbClr val="ECF6E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19  CompleteSC()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크레인이 랙 셀에 넣으면 입고 최종 상태</a:t>
            </a:r>
          </a:p>
          <a:p>
            <a:pPr algn="ctr"/>
            <a:r>
              <a:rPr sz="800" b="1">
                <a:solidFill>
                  <a:srgbClr val="2E864B"/>
                </a:solidFill>
                <a:latin typeface="맑은 고딕"/>
              </a:rPr>
              <a:t>25 → 29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966960" y="490118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8165592" y="4956048"/>
            <a:ext cx="3602736" cy="676656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20  GetSendData() → GetJobCompleteReport(29)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IsJobExist(29) 로 완료 대상 조회 → F 전문 조립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966960" y="563270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8165592" y="5687568"/>
            <a:ext cx="3602736" cy="676656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21  SendSock() → UpdateJobStatusTo('09')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상위에 완료보고(F). 실패하면 29 로 롤백해 다음 주기 재보고</a:t>
            </a:r>
          </a:p>
          <a:p>
            <a:pPr algn="ctr"/>
            <a:r>
              <a:rPr sz="800" b="1">
                <a:solidFill>
                  <a:srgbClr val="266EBE"/>
                </a:solidFill>
                <a:latin typeface="맑은 고딕"/>
              </a:rPr>
              <a:t>29 → 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WCS  |  입고 풀사이클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출고 풀사이클 — 함수 호출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13385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JOB_TYP='2'. 출고는 S/C 가 먼저 움직인다. 랙 셀 → 출고대 126(C/V#13) 기준.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960120"/>
            <a:ext cx="182880" cy="146304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932688"/>
            <a:ext cx="2377440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WCS_TASK_HOST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960120"/>
            <a:ext cx="182880" cy="146304"/>
          </a:xfrm>
          <a:prstGeom prst="roundRect">
            <a:avLst/>
          </a:prstGeom>
          <a:solidFill>
            <a:srgbClr val="ECF6EF"/>
          </a:solidFill>
          <a:ln w="12700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46704" y="932688"/>
            <a:ext cx="2377440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IO_TASK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960120"/>
            <a:ext cx="182880" cy="146304"/>
          </a:xfrm>
          <a:prstGeom prst="roundRect">
            <a:avLst/>
          </a:prstGeom>
          <a:solidFill>
            <a:srgbClr val="FBF4E8"/>
          </a:solidFill>
          <a:ln w="12700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4184" y="932688"/>
            <a:ext cx="2377440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WCS_TASK_CV / CvThread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960120"/>
            <a:ext cx="182880" cy="146304"/>
          </a:xfrm>
          <a:prstGeom prst="roundRect">
            <a:avLst/>
          </a:prstGeom>
          <a:solidFill>
            <a:srgbClr val="EAF4F6"/>
          </a:solidFill>
          <a:ln w="12700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1664" y="932688"/>
            <a:ext cx="2377440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WCS_TASK_CV / VehThread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298448"/>
            <a:ext cx="3602736" cy="676656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01  CSrvWork.ReadRequest() → Parsing()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TCP 9911 수신, 전문 종류 판별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12848" y="1975104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1480" y="2029967"/>
            <a:ext cx="3602736" cy="676656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02  ParseOorR()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O 전문 파싱. START_POS 가 9xx(크레인) 이면 출고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12848" y="2706624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1480" y="2761488"/>
            <a:ext cx="3602736" cy="676656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03  IsValidStartStation() / IsValidDestStation()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출발 랙 셀과 도착 작업대 검증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12848" y="343814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1480" y="3493008"/>
            <a:ext cx="3602736" cy="676656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04  frmMain.InsertJobMst()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JOB_MST INSERT</a:t>
            </a:r>
          </a:p>
          <a:p>
            <a:pPr algn="ctr"/>
            <a:r>
              <a:rPr sz="800" b="1">
                <a:solidFill>
                  <a:srgbClr val="266EBE"/>
                </a:solidFill>
                <a:latin typeface="맑은 고딕"/>
              </a:rPr>
              <a:t>JOB_STATUS = 99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12848" y="416966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" y="4224528"/>
            <a:ext cx="3602736" cy="676656"/>
          </a:xfrm>
          <a:prstGeom prst="roundRect">
            <a:avLst/>
          </a:prstGeom>
          <a:solidFill>
            <a:srgbClr val="ECF6E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05  AcceptNewJob()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출고는 S/C 가 먼저 받는다</a:t>
            </a:r>
          </a:p>
          <a:p>
            <a:pPr algn="ctr"/>
            <a:r>
              <a:rPr sz="800" b="1">
                <a:solidFill>
                  <a:srgbClr val="2E864B"/>
                </a:solidFill>
                <a:latin typeface="맑은 고딕"/>
              </a:rPr>
              <a:t>99 → 20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12848" y="490118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11480" y="4956048"/>
            <a:ext cx="3602736" cy="676656"/>
          </a:xfrm>
          <a:prstGeom prst="roundRect">
            <a:avLst/>
          </a:prstGeom>
          <a:solidFill>
            <a:srgbClr val="ECF6E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06  DriveSC() → UpdateScData()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해당 S/C 유휴(ONLINE·AUTO·OD_RQ_YN='N') 확인 후 이송 명령</a:t>
            </a:r>
          </a:p>
          <a:p>
            <a:pPr algn="ctr"/>
            <a:r>
              <a:rPr sz="800" b="1">
                <a:solidFill>
                  <a:srgbClr val="2E864B"/>
                </a:solidFill>
                <a:latin typeface="맑은 고딕"/>
              </a:rPr>
              <a:t>20 → 25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12848" y="563270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11480" y="5687568"/>
            <a:ext cx="3602736" cy="676656"/>
          </a:xfrm>
          <a:prstGeom prst="roundRect">
            <a:avLst/>
          </a:prstGeom>
          <a:solidFill>
            <a:srgbClr val="EAF4F6"/>
          </a:solidFill>
          <a:ln w="1587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07  VehThread.ConsumeCommands()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S/C 에 출발 셀 / 도착 트랙 WRITE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88536" y="1298448"/>
            <a:ext cx="3602736" cy="676656"/>
          </a:xfrm>
          <a:prstGeom prst="roundRect">
            <a:avLst/>
          </a:prstGeom>
          <a:solidFill>
            <a:srgbClr val="EAF4F6"/>
          </a:solidFill>
          <a:ln w="1587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08  VehThread.PollObservations()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S/C 관측값을 SC_DATA_LGLS 에 반영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9904" y="1975104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288536" y="2029967"/>
            <a:ext cx="3602736" cy="676656"/>
          </a:xfrm>
          <a:prstGeom prst="roundRect">
            <a:avLst/>
          </a:prstGeom>
          <a:solidFill>
            <a:srgbClr val="ECF6E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09  CompleteSC()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출고 1차 완료 — 랙 셀 해제. 최종 아님</a:t>
            </a:r>
          </a:p>
          <a:p>
            <a:pPr algn="ctr"/>
            <a:r>
              <a:rPr sz="800" b="1">
                <a:solidFill>
                  <a:srgbClr val="2E864B"/>
                </a:solidFill>
                <a:latin typeface="맑은 고딕"/>
              </a:rPr>
              <a:t>25 → 29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89904" y="2706624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288536" y="2761488"/>
            <a:ext cx="3602736" cy="676656"/>
          </a:xfrm>
          <a:prstGeom prst="roundRect">
            <a:avLst/>
          </a:prstGeom>
          <a:solidFill>
            <a:srgbClr val="ECF6E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10  LandScDrop()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도착지 신호 OFF + HS_TRACK_NO 일치 → C/V 구간으로 인계</a:t>
            </a:r>
          </a:p>
          <a:p>
            <a:pPr algn="ctr"/>
            <a:r>
              <a:rPr sz="800" b="1">
                <a:solidFill>
                  <a:srgbClr val="2E864B"/>
                </a:solidFill>
                <a:latin typeface="맑은 고딕"/>
              </a:rPr>
              <a:t>29 → 15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89904" y="343814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288536" y="3493008"/>
            <a:ext cx="3602736" cy="676656"/>
          </a:xfrm>
          <a:prstGeom prst="roundRect">
            <a:avLst/>
          </a:prstGeom>
          <a:solidFill>
            <a:srgbClr val="ECF6E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11  DriveRGV() → UpdateRtvData()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RGV 를 경유하는 경로일 때만. IsRtvBusyWithOwnJob() 이 1대 배타 관리</a:t>
            </a:r>
          </a:p>
          <a:p>
            <a:pPr algn="ctr"/>
            <a:r>
              <a:rPr sz="800" b="1">
                <a:solidFill>
                  <a:srgbClr val="2E864B"/>
                </a:solidFill>
                <a:latin typeface="맑은 고딕"/>
              </a:rPr>
              <a:t>15 → 35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89904" y="416966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288536" y="4224528"/>
            <a:ext cx="3602736" cy="676656"/>
          </a:xfrm>
          <a:prstGeom prst="roundRect">
            <a:avLst/>
          </a:prstGeom>
          <a:solidFill>
            <a:srgbClr val="ECF6E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12  CompleteRGVReal() → LandRgvDrop()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RTV 완료 소비 후 착지 확인</a:t>
            </a:r>
          </a:p>
          <a:p>
            <a:pPr algn="ctr"/>
            <a:r>
              <a:rPr sz="800" b="1">
                <a:solidFill>
                  <a:srgbClr val="2E864B"/>
                </a:solidFill>
                <a:latin typeface="맑은 고딕"/>
              </a:rPr>
              <a:t>35 → 39 → 15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89904" y="490118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288536" y="4956048"/>
            <a:ext cx="3602736" cy="676656"/>
          </a:xfrm>
          <a:prstGeom prst="roundRect">
            <a:avLst/>
          </a:prstGeom>
          <a:solidFill>
            <a:srgbClr val="ECF6E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13  RequestArrivalTrackingWrite()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C/V 도착 트랙에 작업번호 트래킹 기록. DriveCV() 는 10 전용이라 여기서는 돌지 않는다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89904" y="563270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288536" y="5687568"/>
            <a:ext cx="3602736" cy="676656"/>
          </a:xfrm>
          <a:prstGeom prst="roundRect">
            <a:avLst/>
          </a:prstGeom>
          <a:solidFill>
            <a:srgbClr val="FBF4E8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14  CvTrackingWrite()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R 영역 작업번호를 PLC 로 WRITE — C/V 가 이 값으로 반송한다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65592" y="1298448"/>
            <a:ext cx="3602736" cy="676656"/>
          </a:xfrm>
          <a:prstGeom prst="roundRect">
            <a:avLst/>
          </a:prstGeom>
          <a:solidFill>
            <a:srgbClr val="FBF4E8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15  CvStatusScenario() → UpdateCvData()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C/V 상태 READ → CV_DATA 미러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966960" y="1975104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165592" y="2029967"/>
            <a:ext cx="3602736" cy="676656"/>
          </a:xfrm>
          <a:prstGeom prst="roundRect">
            <a:avLst/>
          </a:prstGeom>
          <a:solidFill>
            <a:srgbClr val="FBF4E8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16  CvEventCheck()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출고대 도착 / 배출 완료 이벤트 ACK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966960" y="2706624"/>
            <a:ext cx="0" cy="54863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165592" y="2761488"/>
            <a:ext cx="3602736" cy="676656"/>
          </a:xfrm>
          <a:prstGeom prst="roundRect">
            <a:avLst/>
          </a:prstGeom>
          <a:solidFill>
            <a:srgbClr val="ECF6E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17  CompleteCV()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OD_RQ_YN='N' + 도착 관측 후 배출 확인 → 출고 최종 상태</a:t>
            </a:r>
          </a:p>
          <a:p>
            <a:pPr algn="ctr"/>
            <a:r>
              <a:rPr sz="800" b="1">
                <a:solidFill>
                  <a:srgbClr val="2E864B"/>
                </a:solidFill>
                <a:latin typeface="맑은 고딕"/>
              </a:rPr>
              <a:t>15 → 19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966960" y="343814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165592" y="3493008"/>
            <a:ext cx="3602736" cy="676656"/>
          </a:xfrm>
          <a:prstGeom prst="roundRect">
            <a:avLst/>
          </a:prstGeom>
          <a:solidFill>
            <a:srgbClr val="ECF6E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18  ReportOutStationArrival()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출고대 신호 ON → 상위 도착보고 대상(22)으로 표시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966960" y="416966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165592" y="4224528"/>
            <a:ext cx="3602736" cy="676656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19  GetLoadArrivalReport()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도착보고 전문 송신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966960" y="490118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8165592" y="4956048"/>
            <a:ext cx="3602736" cy="676656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20  GetJobCompleteReport(19) → IsJobExist(19)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F 전문 조립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966960" y="5632704"/>
            <a:ext cx="0" cy="54864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8165592" y="5687568"/>
            <a:ext cx="3602736" cy="676656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21  SendSock() → UpdateJobStatusTo('09')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맑은 고딕"/>
              </a:rPr>
              <a:t>완료보고 후 09. 실패 시 19 로 롤백</a:t>
            </a:r>
          </a:p>
          <a:p>
            <a:pPr algn="ctr"/>
            <a:r>
              <a:rPr sz="800" b="1">
                <a:solidFill>
                  <a:srgbClr val="266EBE"/>
                </a:solidFill>
                <a:latin typeface="맑은 고딕"/>
              </a:rPr>
              <a:t>19 → 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WCS  |  출고 풀사이클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IO_TASK 스케줄러 — Thread_Doing() 1사이클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13385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200ms 마다 아래 순서를 그대로 한 번 돈다. Drive* 는 대기 상태 + 유휴 설비에만 작용하는 멱등 함수다.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15568"/>
            <a:ext cx="1600200" cy="34015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접수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179576"/>
            <a:ext cx="329184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맑은 고딕"/>
              </a:rPr>
              <a:t>AcceptNewJob()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32120" y="1179576"/>
            <a:ext cx="630936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99 → 10(입고) / 20(출고)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19732"/>
            <a:ext cx="1600200" cy="1115568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① 구동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583740"/>
            <a:ext cx="329184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맑은 고딕"/>
              </a:rPr>
              <a:t>CompleteCV()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583740"/>
            <a:ext cx="630936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15 → 19 (출고 최종) / 입고는 15 유지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777593"/>
            <a:ext cx="329184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맑은 고딕"/>
              </a:rPr>
              <a:t>CompleteSC()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777593"/>
            <a:ext cx="630936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25 → 29 (입고 최종 / 출고 1차)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1971446"/>
            <a:ext cx="329184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맑은 고딕"/>
              </a:rPr>
              <a:t>CompleteRGVReal()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971446"/>
            <a:ext cx="630936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35 → 39 (RTV COMPLETE_RD 소비)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165299"/>
            <a:ext cx="329184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맑은 고딕"/>
              </a:rPr>
              <a:t>CompleteRGVManual()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165299"/>
            <a:ext cx="630936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RTV 수동지시(9998) 완료 정리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359152"/>
            <a:ext cx="329184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맑은 고딕"/>
              </a:rPr>
              <a:t>CompleteSCManual()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359152"/>
            <a:ext cx="630936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SC 수동지시(9999) 완료 정리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699308"/>
            <a:ext cx="1600200" cy="534009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② 착지 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763316"/>
            <a:ext cx="329184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맑은 고딕"/>
              </a:rPr>
              <a:t>LandRgvDrop()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2763316"/>
            <a:ext cx="630936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39 + HS_TRACK_NO 에 화물 → 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2957169"/>
            <a:ext cx="329184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맑은 고딕"/>
              </a:rPr>
              <a:t>LandScDrop()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2957169"/>
            <a:ext cx="630936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출고 29 + 도착 신호 OFF → 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297326"/>
            <a:ext cx="1600200" cy="1115568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③ 구동 지시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3361334"/>
            <a:ext cx="329184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맑은 고딕"/>
              </a:rPr>
              <a:t>SyncDualCvDirection()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3361334"/>
            <a:ext cx="630936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겸용대(C/V#11·#2) 방향 정합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3555187"/>
            <a:ext cx="329184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맑은 고딕"/>
              </a:rPr>
              <a:t>PromotePendingDirection()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3555187"/>
            <a:ext cx="630936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보류된 모드 전환(DIRW) 승격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3749039"/>
            <a:ext cx="329184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맑은 고딕"/>
              </a:rPr>
              <a:t>DriveCV()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3749039"/>
            <a:ext cx="630936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10 → 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3942892"/>
            <a:ext cx="329184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맑은 고딕"/>
              </a:rPr>
              <a:t>DriveSC()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942892"/>
            <a:ext cx="630936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입고 15 / 출고 20 → 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4136745"/>
            <a:ext cx="329184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맑은 고딕"/>
              </a:rPr>
              <a:t>DriveRGV()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4136745"/>
            <a:ext cx="630936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15 → 35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4476902"/>
            <a:ext cx="1600200" cy="169712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B0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④ 마무리 · 감시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4540910"/>
            <a:ext cx="329184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맑은 고딕"/>
              </a:rPr>
              <a:t>DeleteSemiFinished()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4540910"/>
            <a:ext cx="630936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반자동(11/12)은 19/29 에서 즉시 삭제 — 상위 보고 없음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4734763"/>
            <a:ext cx="329184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맑은 고딕"/>
              </a:rPr>
              <a:t>CheckStalledJobs()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4734763"/>
            <a:ext cx="630936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작업 체류(설비 무응답) 감시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8840" y="4928616"/>
            <a:ext cx="329184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맑은 고딕"/>
              </a:rPr>
              <a:t>ReportOutStationArrival()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4928616"/>
            <a:ext cx="630936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출고대 신호 ON → 도착보고(22)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48840" y="5122468"/>
            <a:ext cx="329184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맑은 고딕"/>
              </a:rPr>
              <a:t>MonitorAlarm() / CheckAlarm()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5122468"/>
            <a:ext cx="630936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설비 에러코드 로깅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48840" y="5316321"/>
            <a:ext cx="329184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맑은 고딕"/>
              </a:rPr>
              <a:t>MarkErrorJobStatus()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2120" y="5316321"/>
            <a:ext cx="630936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이중입고(54) / 공출고(58) → 작업상태 반영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48840" y="5510174"/>
            <a:ext cx="329184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맑은 고딕"/>
              </a:rPr>
              <a:t>ResumeRedirectedJobs()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32120" y="5510174"/>
            <a:ext cx="630936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재지정(07/06) → 새 셀로 재개 지시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48840" y="5704027"/>
            <a:ext cx="329184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맑은 고딕"/>
              </a:rPr>
              <a:t>SyncDisplayTyp()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32120" y="5704027"/>
            <a:ext cx="630936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표시용 작업구분 보강 (제어 미사용)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48840" y="5897879"/>
            <a:ext cx="329184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맑은 고딕"/>
              </a:rPr>
              <a:t>Heartbeat(true)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32120" y="5897879"/>
            <a:ext cx="630936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한 사이클 완주 → Client 상태표시줄 SCH 녹색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48840" y="6292900"/>
            <a:ext cx="969264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※ 사이클이 예외로 깨지면 Heartbeat(false) 후 DB 재연결을 시도한다. Drive* 를 완료·착지 뒤에 한 번만 부르는 것은 방금 인계된 작업도 같은 호출이 잡기 때문이다 (2026-09-01 정리).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WCS  |  스케줄러 1사이클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WCS_TASK_CV — CvThread.Thread_Doing() 1사이클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13385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마스터 PLC 1소켓으로 15설비 슬롯을 순회한다. 한 바퀴가 약 16초라, 3초짜리 펄스는 DB 에서 놓칠 수 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88720"/>
            <a:ext cx="2331720" cy="566928"/>
          </a:xfrm>
          <a:prstGeom prst="roundRect">
            <a:avLst/>
          </a:prstGeom>
          <a:solidFill>
            <a:srgbClr val="FBF4E8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ScanPendingWork()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맑은 고딕"/>
              </a:rPr>
              <a:t>쓰기 대기 1회 스캔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1472184"/>
            <a:ext cx="411480" cy="0"/>
          </a:xfrm>
          <a:prstGeom prst="line">
            <a:avLst/>
          </a:prstGeom>
          <a:ln w="19050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154680" y="1188720"/>
            <a:ext cx="2331720" cy="566928"/>
          </a:xfrm>
          <a:prstGeom prst="roundRect">
            <a:avLst/>
          </a:prstGeom>
          <a:solidFill>
            <a:srgbClr val="FBF4E8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PreloadStatusBlocks()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맑은 고딕"/>
              </a:rPr>
              <a:t>상태 구간 일괄 조회 (왕복 45→3회)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0" y="1472184"/>
            <a:ext cx="411480" cy="0"/>
          </a:xfrm>
          <a:prstGeom prst="line">
            <a:avLst/>
          </a:prstGeom>
          <a:ln w="19050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897880" y="1188720"/>
            <a:ext cx="2514600" cy="566928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지시 걸린 설비 우선 정렬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맑은 고딕"/>
              </a:rPr>
              <a:t>m_setPendCmd / Od / Trk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12480" y="1472184"/>
            <a:ext cx="411480" cy="0"/>
          </a:xfrm>
          <a:prstGeom prst="line">
            <a:avLst/>
          </a:prstGeom>
          <a:ln w="19050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823960" y="1188720"/>
            <a:ext cx="2971800" cy="566928"/>
          </a:xfrm>
          <a:prstGeom prst="roundRect">
            <a:avLst/>
          </a:prstGeom>
          <a:solidFill>
            <a:srgbClr val="FBF4E8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CvAlarmCheck(1)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맑은 고딕"/>
              </a:rPr>
              <a:t>알람 M비트는 전 C/V 공통 → 사이클당 1회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938528"/>
            <a:ext cx="113385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슬롯(설비) 하나마다 아래 6단계를 순서대로 수행한다. 실패가 소켓 끊김이면 전체 재접속, 데이터 문제면 그 설비만 건너뛴다.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286000"/>
            <a:ext cx="384048" cy="512064"/>
          </a:xfrm>
          <a:prstGeom prst="roundRect">
            <a:avLst/>
          </a:prstGeom>
          <a:solidFill>
            <a:srgbClr val="FBF4E8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2286000"/>
            <a:ext cx="3977639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GetFirstAddress(Idx)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414016"/>
            <a:ext cx="67665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그 설비의 CV_DATA 로 읽을 첫 주소를 구한다. 실패하면 이 설비만 skip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3504" y="2798064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1480" y="2907792"/>
            <a:ext cx="384048" cy="512064"/>
          </a:xfrm>
          <a:prstGeom prst="roundRect">
            <a:avLst/>
          </a:prstGeom>
          <a:solidFill>
            <a:srgbClr val="FBF4E8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2907792"/>
            <a:ext cx="3977639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CvStatusScenario(Idx) / CvStatus(Idx)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035808"/>
            <a:ext cx="67665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PLC 상태 READ → UpdateCvData() 로 CV_DATA 미러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3504" y="3419856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" y="3529584"/>
            <a:ext cx="384048" cy="512064"/>
          </a:xfrm>
          <a:prstGeom prst="roundRect">
            <a:avLst/>
          </a:prstGeom>
          <a:solidFill>
            <a:srgbClr val="FBF4E8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" y="3529584"/>
            <a:ext cx="3977639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CvChg_CMD_RQ_YN(Idx)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657600"/>
            <a:ext cx="67665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CMD 쓰기 지시를 PLC 로 WRITE (방향 전환 등)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3504" y="4041648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11480" y="4151376"/>
            <a:ext cx="384048" cy="512064"/>
          </a:xfrm>
          <a:prstGeom prst="roundRect">
            <a:avLst/>
          </a:prstGeom>
          <a:solidFill>
            <a:srgbClr val="FBF4E8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" y="4151376"/>
            <a:ext cx="3977639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CvChg_OD_RQ_YN(Idx)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279392"/>
            <a:ext cx="67665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OD 쓰기 지시를 PLC 로 WRITE (이송 명령)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3504" y="4663440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11480" y="4773168"/>
            <a:ext cx="384048" cy="512064"/>
          </a:xfrm>
          <a:prstGeom prst="roundRect">
            <a:avLst/>
          </a:prstGeom>
          <a:solidFill>
            <a:srgbClr val="FBF4E8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" y="4773168"/>
            <a:ext cx="3977639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CvEventCheck(Idx)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901183"/>
            <a:ext cx="67665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Load / Unload Complete 이벤트 ACK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3504" y="5285231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11480" y="5394959"/>
            <a:ext cx="384048" cy="512064"/>
          </a:xfrm>
          <a:prstGeom prst="roundRect">
            <a:avLst/>
          </a:prstGeom>
          <a:solidFill>
            <a:srgbClr val="FBF4E8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" y="5394959"/>
            <a:ext cx="3977639" cy="5120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CvTrackingWrite(Idx)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522975"/>
            <a:ext cx="67665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R 영역 작업번호 트래킹 WRITE (EncodeJobNoR / GetRTrackingAddr)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053328"/>
            <a:ext cx="1133856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※ 연속 통신 실패가 임계를 넘으면 소켓을 닫고 스레드를 종료한다 — SYS_MAIN.Thread_Tick 이 재생성해 접속 루프를 다시 돈다 (2026-08-01, EQP_SIM 재기동 후 죽은 소켓에 34시간 매달린 사례 대응).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WCS  |  C/V 통신 1사이클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WCS_TASK_HOST — 수신(9911) / 송신(9910) 함수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13385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수신은 CSrvWork(서버), 송신은 CCliWork(클라이언트)가 맡는다. 서로 다른 소켓이다.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15568"/>
            <a:ext cx="55778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수신 — CSrvWork  (LocalPort 9911)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44752"/>
            <a:ext cx="2697480" cy="475488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ReadRequest()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8688" y="155448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CheckHeader() / CheckBody() 로 헤더·본문 길이 확인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55648" y="1920240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1480" y="2029968"/>
            <a:ext cx="2697480" cy="475488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Parsing()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8688" y="2139696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전문 종류(Type) 판별 후 분기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55648" y="2505456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1480" y="2615184"/>
            <a:ext cx="2697480" cy="475488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ParseOorR()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724912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O = 작업지시 / R = 재지정. InsertJobMst() 로 작업 생성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55648" y="3090672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1480" y="3200400"/>
            <a:ext cx="2697480" cy="475488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ParseModeChange()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8" y="3310128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M = 입출고 모드 전환 → SetCvDirection()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55648" y="3675888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11480" y="3785616"/>
            <a:ext cx="2697480" cy="475488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ParseCancel()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895344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작업 취소 — 99 / 10 / 20 만 대상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55648" y="4261104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" y="4370832"/>
            <a:ext cx="2697480" cy="475488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ParseArrived() / ParsePallet()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18688" y="448056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도착 확인 / 팔레트 정보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55648" y="4846320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11480" y="4956048"/>
            <a:ext cx="2697480" cy="475488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MakeResponse() → SendSock()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8688" y="5065776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응답 전문 회신 (정상 또는 반려 사유코드)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115568"/>
            <a:ext cx="55778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송신 — CCliWork  (RemotePort 9910)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444752"/>
            <a:ext cx="2880360" cy="475488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GetSendData()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1554480"/>
            <a:ext cx="256032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아래를 매 주기 순서대로 호출한다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99248" y="1920240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263640" y="2029968"/>
            <a:ext cx="2880360" cy="475488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GetStatusReport()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2139696"/>
            <a:ext cx="256032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S = 상태 변경 시 + 30초 주기 상태보고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699248" y="2505456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63640" y="2615184"/>
            <a:ext cx="2880360" cy="475488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GetErrorReport()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2724912"/>
            <a:ext cx="256032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E = 설비 에러보고. IsEquip_ERROR_Modified() 로 변화 감지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699248" y="3090672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263640" y="3200400"/>
            <a:ext cx="2880360" cy="475488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GetJobCompleteReport()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53728" y="3310128"/>
            <a:ext cx="256032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F = 완료보고. 대상 상태는 19(출고) / 29(입고)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699248" y="3675888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611112" y="3785616"/>
            <a:ext cx="2532888" cy="475488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IsJobExist(nJobStatus)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728" y="3895344"/>
            <a:ext cx="256032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완료 대상 작업 조회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81928" y="3904488"/>
            <a:ext cx="329184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/>
            <a:r>
              <a:rPr sz="1100" b="1">
                <a:solidFill>
                  <a:srgbClr val="B6BFD0"/>
                </a:solidFill>
                <a:latin typeface="맑은 고딕"/>
              </a:rPr>
              <a:t>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11112" y="4370832"/>
            <a:ext cx="2532888" cy="475488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UpdateJobStatusTo(lugg, '09')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3728" y="4480560"/>
            <a:ext cx="256032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보고 성공 시 09. 실패하면 원래 상태로 롤백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81928" y="4489704"/>
            <a:ext cx="329184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/>
            <a:r>
              <a:rPr sz="1100" b="1">
                <a:solidFill>
                  <a:srgbClr val="B6BFD0"/>
                </a:solidFill>
                <a:latin typeface="맑은 고딕"/>
              </a:rPr>
              <a:t>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4956048"/>
            <a:ext cx="2880360" cy="475488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GetLoadArrivalReport()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3728" y="5065776"/>
            <a:ext cx="256032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도착보고. GetDirOrder() / GetLuggOrder() 는 지시 하달용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5522976"/>
            <a:ext cx="55321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850" b="0">
                <a:solidFill>
                  <a:srgbClr val="B6BFD0"/>
                </a:solidFill>
                <a:latin typeface="맑은 고딕"/>
              </a:rPr>
              <a:t>└ 표시는 위 함수가 내부에서 부르는 함수다.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5669280"/>
            <a:ext cx="11338560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※ 무게보고(U)와 빈파렛트 요청(P)은 이 현장이 재고를 관리하지 않아 발신을 막아 두었다 (GetWeightReport / GetEmptyPltRequest 는 호출되지 않는다).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※ 시뮬 모드(chkSimMode)에서는 상태보고와 에러보고를 내지 않는다. 완료보고와 도착보고는 그대로 나간다.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WCS  |  상위 통신 함수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예외가 걸리는 지점 — 이중입고(54) / 공출고(58)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13385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정상 흐름의 어느 함수에서 예외 경로로 빠지는지. 상세는 08_이중입고_공출고_시험_보고서 참조.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88720"/>
            <a:ext cx="11384280" cy="50292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정상 흐름 :  DriveSC() → VehThread.ConsumeCommands() → S/C 동작 → CompleteSC()  (25 → 29)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8" y="1691640"/>
            <a:ext cx="0" cy="274320"/>
          </a:xfrm>
          <a:prstGeom prst="line">
            <a:avLst/>
          </a:prstGeom>
          <a:ln w="22225">
            <a:solidFill>
              <a:srgbClr val="B02E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0" y="1700784"/>
            <a:ext cx="4572000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1">
                <a:solidFill>
                  <a:srgbClr val="B02E2E"/>
                </a:solidFill>
                <a:latin typeface="맑은 고딕"/>
              </a:rPr>
              <a:t>크레인이 셀에서 실패 → 에러코드 발생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965960"/>
            <a:ext cx="39319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VehThread.PollObservations()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8848" y="2093976"/>
            <a:ext cx="7315200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SC_DATA_LGLS.ERR_CODE_RD 에 0054 / 0058 기록. InsertEqpErrHis() 로 이력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2496312"/>
            <a:ext cx="0" cy="109727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1480" y="2606039"/>
            <a:ext cx="39319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cThread_SCH.MarkErrorJobStatus()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734056"/>
            <a:ext cx="7315200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작업 상태를 에러 상태(08/07)로 표시. 재지정 상태(06/05)는 덮어쓰지 않는다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77440" y="3136391"/>
            <a:ext cx="0" cy="109729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1480" y="3246120"/>
            <a:ext cx="39319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CCliWork.GetErrorReport()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374136"/>
            <a:ext cx="7315200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E 전문 보고. ErrorKind=1(이중입고) / 3(공출고). 작업번호는 실린 화물 기준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77440" y="3776472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1480" y="3886200"/>
            <a:ext cx="39319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CSrvWork.ParseOorR()  [R 분기]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4014215"/>
            <a:ext cx="7315200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이중입고 : 같은 호기의 다른 셀로 R_Kind=1 재지정. 공출고 : 상위가 삭제한다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77440" y="4416552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11480" y="4526280"/>
            <a:ext cx="39319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cThread_SCH.ResumeRedirectedJobs()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4654296"/>
            <a:ext cx="7315200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재지정(07/06) 작업을 새 셀로 재개 지시. 에러가 남아 있어도 지시를 기록한다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77440" y="5056632"/>
            <a:ext cx="0" cy="109728"/>
          </a:xfrm>
          <a:prstGeom prst="line">
            <a:avLst/>
          </a:prstGeom>
          <a:ln w="15875">
            <a:solidFill>
              <a:srgbClr val="B6BF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11480" y="5166360"/>
            <a:ext cx="39319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1050" b="1">
                <a:solidFill>
                  <a:srgbClr val="1E2761"/>
                </a:solidFill>
                <a:latin typeface="맑은 고딕"/>
              </a:rPr>
              <a:t>설비 조작반 (사람)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5294376"/>
            <a:ext cx="7315200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</a:rPr>
              <a:t>공출고는 재지정이 없어 새 지시가 안 들어간다 → 크레인 에러를 사람이 푼다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870448"/>
            <a:ext cx="1138428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50" b="0">
                <a:solidFill>
                  <a:srgbClr val="B02E2E"/>
                </a:solidFill>
                <a:latin typeface="맑은 고딕"/>
              </a:rPr>
              <a:t>※ 공출고는 재지정이 아니라 삭제다 (IMS 담당자 확인). 상위가 작업을 삭제하고, 운전자가 [작업정보] 에서 같은 작업을 삭제한 뒤,</a:t>
            </a:r>
          </a:p>
          <a:p>
            <a:pPr algn="l"/>
            <a:r>
              <a:rPr sz="950" b="0">
                <a:solidFill>
                  <a:srgbClr val="B02E2E"/>
                </a:solidFill>
                <a:latin typeface="맑은 고딕"/>
              </a:rPr>
              <a:t>   설비 조작반에서 크레인 에러를 해제한다. WCS 의 R_Kind=2(출고 재지정) 처리는 규격 지원으로만 남겨 두었다.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WCS  |  예외 경로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