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24" r:id="rId2"/>
    <p:sldId id="336" r:id="rId3"/>
    <p:sldId id="602" r:id="rId4"/>
    <p:sldId id="603" r:id="rId5"/>
    <p:sldId id="604" r:id="rId6"/>
  </p:sldIdLst>
  <p:sldSz cx="12192000" cy="6858000"/>
  <p:notesSz cx="7104063" cy="10234613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B8"/>
    <a:srgbClr val="0860B5"/>
    <a:srgbClr val="7CAFDE"/>
    <a:srgbClr val="0C89CF"/>
    <a:srgbClr val="F05922"/>
    <a:srgbClr val="FFFFFF"/>
    <a:srgbClr val="00AD83"/>
    <a:srgbClr val="00A5D7"/>
    <a:srgbClr val="CCEDF7"/>
    <a:srgbClr val="CCE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87758" autoAdjust="0"/>
  </p:normalViewPr>
  <p:slideViewPr>
    <p:cSldViewPr snapToGrid="0" snapToObjects="1">
      <p:cViewPr varScale="1">
        <p:scale>
          <a:sx n="101" d="100"/>
          <a:sy n="101" d="100"/>
        </p:scale>
        <p:origin x="1386" y="108"/>
      </p:cViewPr>
      <p:guideLst>
        <p:guide orient="horz" pos="23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CCBDEAD-8BE9-A64B-B512-7FBC8738AB5F}" type="datetimeFigureOut">
              <a:rPr kumimoji="1" lang="x-none" altLang="en-US" smtClean="0"/>
              <a:t>2026-08-24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809E5BB-DC4B-5A4F-A108-44EC53CCBD88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667684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1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내용 개체 틀 12">
            <a:extLst>
              <a:ext uri="{FF2B5EF4-FFF2-40B4-BE49-F238E27FC236}">
                <a16:creationId xmlns="" xmlns:a16="http://schemas.microsoft.com/office/drawing/2014/main" id="{9BA9DA2C-C95E-46A5-8E0D-E6286E0CD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="" xmlns:a16="http://schemas.microsoft.com/office/drawing/2014/main" id="{4D00936D-EAFB-4588-ADC2-08053C0B2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chemeClr val="bg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4" name="부제목 2">
            <a:extLst>
              <a:ext uri="{FF2B5EF4-FFF2-40B4-BE49-F238E27FC236}">
                <a16:creationId xmlns="" xmlns:a16="http://schemas.microsoft.com/office/drawing/2014/main" id="{04246339-E64E-40EB-9A4D-A3F52BDB7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chemeClr val="bg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x-none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="" xmlns:a16="http://schemas.microsoft.com/office/drawing/2014/main" id="{AC8C0496-6601-4A9F-AFD7-847DE1EACC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C21A1DF8-3D96-4A47-984C-5D14E2616D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 dirty="0"/>
              <a:t>12/21/21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575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4">
            <a:extLst>
              <a:ext uri="{FF2B5EF4-FFF2-40B4-BE49-F238E27FC236}">
                <a16:creationId xmlns="" xmlns:a16="http://schemas.microsoft.com/office/drawing/2014/main" id="{6FD5F11A-7606-4DD6-A278-2CB48DEFF1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803850F3-FE74-6244-B739-B640C582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BA3AFE5-EA86-AC40-8EFA-1C349949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="" xmlns:a16="http://schemas.microsoft.com/office/drawing/2014/main" id="{C00F67FF-7BEB-8B49-8747-A78B4D26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x-none" altLang="en-US" dirty="0"/>
          </a:p>
        </p:txBody>
      </p:sp>
      <p:sp>
        <p:nvSpPr>
          <p:cNvPr id="12" name="텍스트 개체 틀 2">
            <a:extLst>
              <a:ext uri="{FF2B5EF4-FFF2-40B4-BE49-F238E27FC236}">
                <a16:creationId xmlns="" xmlns:a16="http://schemas.microsoft.com/office/drawing/2014/main" id="{73531450-DDAD-8D44-AF2C-8D19EEC81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 dirty="0"/>
              <a:t>12/21/21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66087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4">
            <a:extLst>
              <a:ext uri="{FF2B5EF4-FFF2-40B4-BE49-F238E27FC236}">
                <a16:creationId xmlns="" xmlns:a16="http://schemas.microsoft.com/office/drawing/2014/main" id="{5B4467C3-31E2-4AE9-B345-40E0A71985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="" xmlns:a16="http://schemas.microsoft.com/office/drawing/2014/main" id="{FC24977C-FFF7-46E2-BF25-C4CC5DF74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67" y="766296"/>
            <a:ext cx="11303853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24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08" y="2828926"/>
            <a:ext cx="4437791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600" b="0" i="0" kern="1200" dirty="0">
                <a:solidFill>
                  <a:srgbClr val="0860B5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64383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4D4FA792-507D-40B8-A7F3-61A36A65FB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="" xmlns:a16="http://schemas.microsoft.com/office/drawing/2014/main" id="{4AB2FE6C-C75C-3645-B788-6A2404B70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67" y="766296"/>
            <a:ext cx="11303853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24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9" name="텍스트 개체 틀 7">
            <a:extLst>
              <a:ext uri="{FF2B5EF4-FFF2-40B4-BE49-F238E27FC236}">
                <a16:creationId xmlns="" xmlns:a16="http://schemas.microsoft.com/office/drawing/2014/main" id="{B5091852-EBB8-A541-A8A8-16C431992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08" y="2828926"/>
            <a:ext cx="4437791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600" b="0" i="0" kern="1200" dirty="0">
                <a:solidFill>
                  <a:srgbClr val="0860B5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75050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DFF1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20886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11AF9551-790E-4CA7-B771-D7C637C8B453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7AFCE21E-DC22-B34D-8209-B523DF0804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66EA81CE-FA4A-4149-BCA1-DBE0C2763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24212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071" userDrawn="1">
          <p15:clr>
            <a:srgbClr val="F26B43"/>
          </p15:clr>
        </p15:guide>
        <p15:guide id="4" pos="302" userDrawn="1">
          <p15:clr>
            <a:srgbClr val="FBAE40"/>
          </p15:clr>
        </p15:guide>
        <p15:guide id="5" pos="7378" userDrawn="1">
          <p15:clr>
            <a:srgbClr val="FBAE40"/>
          </p15:clr>
        </p15:guide>
        <p15:guide id="6" orient="horz" pos="40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EDF7"/>
          </a:solidFill>
          <a:ln>
            <a:solidFill>
              <a:srgbClr val="CCE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09751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981DFF20-67A8-4BBB-86C6-852496F131D7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A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F80D885A-8DF5-394A-864C-CB92BF2743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363FE54A-9D31-F945-9FDF-CA5B59897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4100352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EFE6"/>
          </a:solidFill>
          <a:ln>
            <a:solidFill>
              <a:srgbClr val="CCEF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81306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15CB9AE7-FBFB-4E08-B863-5E6B573494F3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AD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809A1E4E-1242-724F-96A2-A5C1ED58D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1EAD1EE1-B782-2645-9974-C48FC5F7E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891342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48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개정이력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0888AB66-B853-8B05-A047-55D11D3CB107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105A9251-BCE8-264E-6510-8F703CE9E7EA}"/>
              </a:ext>
            </a:extLst>
          </p:cNvPr>
          <p:cNvSpPr/>
          <p:nvPr userDrawn="1"/>
        </p:nvSpPr>
        <p:spPr>
          <a:xfrm>
            <a:off x="717548" y="6136650"/>
            <a:ext cx="10645775" cy="41549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228600" lvl="1" indent="-228600">
              <a:buAutoNum type="arabicParenR"/>
              <a:tabLst>
                <a:tab pos="5647876" algn="l"/>
              </a:tabLst>
              <a:defRPr/>
            </a:pP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 사유 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제정 또는 개정 내용 이전 문서에 대해 추가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수정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삭제인지 선택 기입</a:t>
            </a:r>
            <a:endParaRPr lang="en-US" altLang="ko-KR" sz="1000" spc="-60" dirty="0">
              <a:ln>
                <a:solidFill>
                  <a:schemeClr val="bg1">
                    <a:alpha val="0"/>
                  </a:schemeClr>
                </a:solidFill>
              </a:ln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lvl="1" indent="-228600">
              <a:buAutoNum type="arabicParenR"/>
              <a:tabLst>
                <a:tab pos="5647876" algn="l"/>
              </a:tabLst>
              <a:defRPr/>
            </a:pP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 내역 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개정이 발생하는 페이지 제목과 변경 내용 기술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EBDD308D-E6F4-EBE0-44A6-BC20443F132E}"/>
              </a:ext>
            </a:extLst>
          </p:cNvPr>
          <p:cNvCxnSpPr/>
          <p:nvPr userDrawn="1"/>
        </p:nvCxnSpPr>
        <p:spPr>
          <a:xfrm>
            <a:off x="717549" y="6115050"/>
            <a:ext cx="10645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="" xmlns:a16="http://schemas.microsoft.com/office/drawing/2014/main" id="{8B220F65-635A-C213-88C3-8EC9D17EFF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개정이력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940112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4">
            <a:extLst>
              <a:ext uri="{FF2B5EF4-FFF2-40B4-BE49-F238E27FC236}">
                <a16:creationId xmlns="" xmlns:a16="http://schemas.microsoft.com/office/drawing/2014/main" id="{6FD5F11A-7606-4DD6-A278-2CB48DEFF1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803850F3-FE74-6244-B739-B640C582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BA3AFE5-EA86-AC40-8EFA-1C349949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rgbClr val="0860B5"/>
                </a:solidFill>
                <a:latin typeface="Noto Sans KR Light" panose="020B0300000000000000" pitchFamily="34" charset="-127"/>
                <a:ea typeface="Noto Sans KR Light" panose="020B03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="" xmlns:a16="http://schemas.microsoft.com/office/drawing/2014/main" id="{C00F67FF-7BEB-8B49-8747-A78B4D26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rgbClr val="0860B5"/>
                </a:solidFill>
                <a:latin typeface="Noto Sans KR Light" panose="020B0300000000000000" pitchFamily="34" charset="-127"/>
                <a:ea typeface="Noto Sans KR Light" panose="020B0300000000000000" pitchFamily="34" charset="-127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x-none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="" xmlns:a16="http://schemas.microsoft.com/office/drawing/2014/main" id="{73531450-DDAD-8D44-AF2C-8D19EEC81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300" b="0" i="0" kern="12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en-US" altLang="ko-KR"/>
              <a:t>12/21/21</a:t>
            </a:r>
            <a:endParaRPr lang="ko-KR" altLang="en-US"/>
          </a:p>
        </p:txBody>
      </p:sp>
      <p:sp>
        <p:nvSpPr>
          <p:cNvPr id="4" name="제목 2">
            <a:extLst>
              <a:ext uri="{FF2B5EF4-FFF2-40B4-BE49-F238E27FC236}">
                <a16:creationId xmlns="" xmlns:a16="http://schemas.microsoft.com/office/drawing/2014/main" id="{F8853DE2-50B9-F49E-7D67-5303E1EA7D5F}"/>
              </a:ext>
            </a:extLst>
          </p:cNvPr>
          <p:cNvSpPr txBox="1">
            <a:spLocks/>
          </p:cNvSpPr>
          <p:nvPr userDrawn="1"/>
        </p:nvSpPr>
        <p:spPr>
          <a:xfrm>
            <a:off x="570507" y="6311374"/>
            <a:ext cx="11467506" cy="545605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x-none" altLang="en-US" sz="35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endParaRPr lang="ko-KR" altLang="en-US" sz="10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84712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1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60" r:id="rId6"/>
    <p:sldLayoutId id="2147483658" r:id="rId7"/>
    <p:sldLayoutId id="2147483661" r:id="rId8"/>
    <p:sldLayoutId id="2147483659" r:id="rId9"/>
    <p:sldLayoutId id="2147483662" r:id="rId10"/>
    <p:sldLayoutId id="2147483652" r:id="rId11"/>
    <p:sldLayoutId id="2147483663" r:id="rId12"/>
    <p:sldLayoutId id="2147483664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="" xmlns:a16="http://schemas.microsoft.com/office/drawing/2014/main" id="{0BE899B4-15FE-FC46-80D4-45B5A3361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공장 </a:t>
            </a:r>
            <a:r>
              <a:rPr kumimoji="1" lang="en-US" altLang="ko-KR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ECS 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시스템 </a:t>
            </a:r>
            <a:r>
              <a:rPr kumimoji="1"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재구축</a:t>
            </a:r>
            <a:r>
              <a:rPr kumimoji="1"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수행계획서</a:t>
            </a:r>
            <a:endParaRPr kumimoji="1" lang="x-none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256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A35C9EE9-040B-A89A-8269-FAF249A28770}"/>
              </a:ext>
            </a:extLst>
          </p:cNvPr>
          <p:cNvSpPr/>
          <p:nvPr/>
        </p:nvSpPr>
        <p:spPr>
          <a:xfrm>
            <a:off x="2385343" y="845233"/>
            <a:ext cx="284569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lvl="1" algn="ctr">
              <a:tabLst>
                <a:tab pos="5647876" algn="l"/>
              </a:tabLst>
              <a:defRPr/>
            </a:pPr>
            <a:r>
              <a:rPr lang="en-US" altLang="ko-KR" sz="1050" b="1" spc="-6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1)</a:t>
            </a:r>
            <a:endParaRPr lang="ko-KR" altLang="en-US" sz="1050" b="1" spc="-6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4AF06DC6-6E9C-1E5B-BB34-4EA018BBB302}"/>
              </a:ext>
            </a:extLst>
          </p:cNvPr>
          <p:cNvSpPr/>
          <p:nvPr/>
        </p:nvSpPr>
        <p:spPr>
          <a:xfrm>
            <a:off x="5061868" y="845233"/>
            <a:ext cx="284569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lvl="1" algn="ctr">
              <a:tabLst>
                <a:tab pos="5647876" algn="l"/>
              </a:tabLst>
              <a:defRPr/>
            </a:pPr>
            <a:r>
              <a:rPr lang="en-US" altLang="ko-KR" sz="1050" b="1" spc="-6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2)</a:t>
            </a:r>
            <a:endParaRPr lang="ko-KR" altLang="en-US" sz="1050" b="1" spc="-6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="" xmlns:a16="http://schemas.microsoft.com/office/drawing/2014/main" id="{73221340-E832-DFAC-6D19-4EDC9EC19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sz="2200" b="1" dirty="0">
                <a:cs typeface="Noto Sans" panose="020B0502040504020204" pitchFamily="34" charset="0"/>
              </a:rPr>
              <a:t>개정이력</a:t>
            </a:r>
            <a:endParaRPr lang="ko-KR" altLang="en-US" sz="2200" dirty="0"/>
          </a:p>
        </p:txBody>
      </p:sp>
      <p:graphicFrame>
        <p:nvGraphicFramePr>
          <p:cNvPr id="15" name="표 5">
            <a:extLst>
              <a:ext uri="{FF2B5EF4-FFF2-40B4-BE49-F238E27FC236}">
                <a16:creationId xmlns="" xmlns:a16="http://schemas.microsoft.com/office/drawing/2014/main" id="{52DC286F-03F9-FAE9-F3D1-AF12F954C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283674"/>
              </p:ext>
            </p:extLst>
          </p:nvPr>
        </p:nvGraphicFramePr>
        <p:xfrm>
          <a:off x="717549" y="900640"/>
          <a:ext cx="10645776" cy="502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1">
                  <a:extLst>
                    <a:ext uri="{9D8B030D-6E8A-4147-A177-3AD203B41FA5}">
                      <a16:colId xmlns="" xmlns:a16="http://schemas.microsoft.com/office/drawing/2014/main" val="2272685007"/>
                    </a:ext>
                  </a:extLst>
                </a:gridCol>
                <a:gridCol w="1019175">
                  <a:extLst>
                    <a:ext uri="{9D8B030D-6E8A-4147-A177-3AD203B41FA5}">
                      <a16:colId xmlns="" xmlns:a16="http://schemas.microsoft.com/office/drawing/2014/main" val="1919663767"/>
                    </a:ext>
                  </a:extLst>
                </a:gridCol>
                <a:gridCol w="1044305">
                  <a:extLst>
                    <a:ext uri="{9D8B030D-6E8A-4147-A177-3AD203B41FA5}">
                      <a16:colId xmlns="" xmlns:a16="http://schemas.microsoft.com/office/drawing/2014/main" val="2591033837"/>
                    </a:ext>
                  </a:extLst>
                </a:gridCol>
                <a:gridCol w="4322503">
                  <a:extLst>
                    <a:ext uri="{9D8B030D-6E8A-4147-A177-3AD203B41FA5}">
                      <a16:colId xmlns="" xmlns:a16="http://schemas.microsoft.com/office/drawing/2014/main" val="2452141826"/>
                    </a:ext>
                  </a:extLst>
                </a:gridCol>
                <a:gridCol w="1774296">
                  <a:extLst>
                    <a:ext uri="{9D8B030D-6E8A-4147-A177-3AD203B41FA5}">
                      <a16:colId xmlns="" xmlns:a16="http://schemas.microsoft.com/office/drawing/2014/main" val="3917850650"/>
                    </a:ext>
                  </a:extLst>
                </a:gridCol>
                <a:gridCol w="1774296">
                  <a:extLst>
                    <a:ext uri="{9D8B030D-6E8A-4147-A177-3AD203B41FA5}">
                      <a16:colId xmlns="" xmlns:a16="http://schemas.microsoft.com/office/drawing/2014/main" val="2382317862"/>
                    </a:ext>
                  </a:extLst>
                </a:gridCol>
              </a:tblGrid>
              <a:tr h="292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버전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개정일자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개정사유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개정내역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작성자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승인자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51259590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1.0.0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2026-07-01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원본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최초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이석진 수석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70391234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1.0.1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2026-08-21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 수정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OPEN</a:t>
                      </a:r>
                      <a:r>
                        <a:rPr lang="en-US" altLang="ko-KR" sz="12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일자에 맞춘 테스트 계획 수립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이석진 수석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2628036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316763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94265266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93276117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2702091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8959422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0742206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0370328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79178234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3554285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93123613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81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8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>
                <a:cs typeface="Noto Sans" panose="020B0502040504020204" pitchFamily="34" charset="0"/>
              </a:rPr>
              <a:t>1</a:t>
            </a:r>
            <a:r>
              <a:rPr lang="en-US" altLang="ko-KR" sz="2200" b="1" dirty="0" smtClean="0">
                <a:cs typeface="Noto Sans" panose="020B0502040504020204" pitchFamily="34" charset="0"/>
              </a:rPr>
              <a:t>. </a:t>
            </a:r>
            <a:r>
              <a:rPr lang="en-US" altLang="ko-KR" sz="2200" b="1" dirty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7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924779"/>
              </p:ext>
            </p:extLst>
          </p:nvPr>
        </p:nvGraphicFramePr>
        <p:xfrm>
          <a:off x="588574" y="1275520"/>
          <a:ext cx="1056520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76">
                  <a:extLst>
                    <a:ext uri="{9D8B030D-6E8A-4147-A177-3AD203B41FA5}">
                      <a16:colId xmlns="" xmlns:a16="http://schemas.microsoft.com/office/drawing/2014/main" val="3993421584"/>
                    </a:ext>
                  </a:extLst>
                </a:gridCol>
                <a:gridCol w="5172075">
                  <a:extLst>
                    <a:ext uri="{9D8B030D-6E8A-4147-A177-3AD203B41FA5}">
                      <a16:colId xmlns="" xmlns:a16="http://schemas.microsoft.com/office/drawing/2014/main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환경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(07/06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07/10)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사양 및 시나리오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기존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ECS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분석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(07/13 ~ 07/17)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통신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(EQU_TASK)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프로그램 개발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(07/20 ~ 07/24)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설비 통신 테스트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복사본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청주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 통신 테스트 완료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00493875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(07/27 ~ 07/31)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시나리오 프로그램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시나리오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청주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 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시나리오 완료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7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 smtClean="0">
                <a:cs typeface="Noto Sans" panose="020B0502040504020204" pitchFamily="34" charset="0"/>
              </a:rPr>
              <a:t>2. </a:t>
            </a:r>
            <a:r>
              <a:rPr lang="en-US" altLang="ko-KR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8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703830"/>
              </p:ext>
            </p:extLst>
          </p:nvPr>
        </p:nvGraphicFramePr>
        <p:xfrm>
          <a:off x="588574" y="1275520"/>
          <a:ext cx="10565203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176">
                  <a:extLst>
                    <a:ext uri="{9D8B030D-6E8A-4147-A177-3AD203B41FA5}">
                      <a16:colId xmlns="" xmlns:a16="http://schemas.microsoft.com/office/drawing/2014/main" val="3993421584"/>
                    </a:ext>
                  </a:extLst>
                </a:gridCol>
                <a:gridCol w="5248275">
                  <a:extLst>
                    <a:ext uri="{9D8B030D-6E8A-4147-A177-3AD203B41FA5}">
                      <a16:colId xmlns="" xmlns:a16="http://schemas.microsoft.com/office/drawing/2014/main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환경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(08/03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08/07)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CLIENT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디자인 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(08/10 ~ 08/14)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공장 설비 접속 테스트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설비 통신 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테스트 완료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(08/18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08/21)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시나리오 검증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및 프로그램 수정</a:t>
                      </a:r>
                      <a:endParaRPr lang="en-US" altLang="ko-KR" sz="1500" b="1" baseline="0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통신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00493875"/>
                  </a:ext>
                </a:extLst>
              </a:tr>
              <a:tr h="14566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5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(08/24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09/04)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101 (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TR 22,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외부 입고 전용 입출고대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102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(TR 29, Picking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작업대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br>
                        <a:rPr lang="en-US" altLang="ko-KR" sz="1500" b="1" baseline="0" dirty="0" smtClean="0">
                          <a:latin typeface="Noto Sans Korean Regular (본문)"/>
                        </a:rPr>
                      </a:b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103 (TR 26,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제품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입고대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smtClean="0">
                          <a:latin typeface="Noto Sans Korean Regular (본문)"/>
                        </a:rPr>
                        <a:t>: 104 (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TR 24,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원부자재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불출대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복사본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청주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smtClean="0">
                          <a:latin typeface="Noto Sans Korean Regular (본문)"/>
                        </a:rPr>
                        <a:t>PC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17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 smtClean="0">
                <a:cs typeface="Noto Sans" panose="020B0502040504020204" pitchFamily="34" charset="0"/>
              </a:rPr>
              <a:t>3. </a:t>
            </a:r>
            <a:r>
              <a:rPr lang="en-US" altLang="ko-KR" sz="2200" b="1" dirty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9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191777"/>
              </p:ext>
            </p:extLst>
          </p:nvPr>
        </p:nvGraphicFramePr>
        <p:xfrm>
          <a:off x="588574" y="1275520"/>
          <a:ext cx="10565203" cy="539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76">
                  <a:extLst>
                    <a:ext uri="{9D8B030D-6E8A-4147-A177-3AD203B41FA5}">
                      <a16:colId xmlns="" xmlns:a16="http://schemas.microsoft.com/office/drawing/2014/main" val="3993421584"/>
                    </a:ext>
                  </a:extLst>
                </a:gridCol>
                <a:gridCol w="5210175">
                  <a:extLst>
                    <a:ext uri="{9D8B030D-6E8A-4147-A177-3AD203B41FA5}">
                      <a16:colId xmlns="" xmlns:a16="http://schemas.microsoft.com/office/drawing/2014/main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 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환경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(09/07 ~ 09/11)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서버 </a:t>
                      </a:r>
                      <a:r>
                        <a:rPr lang="ko-KR" altLang="en-US" sz="1500" b="1" baseline="0" dirty="0" err="1" smtClean="0">
                          <a:latin typeface="Noto Sans Korean Regular (본문)"/>
                        </a:rPr>
                        <a:t>셋팅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및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101 (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TR 22,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외부 입고 전용 입출고대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102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(TR 29, Picking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작업대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(09/14 ~ 09/18)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</a:t>
                      </a:r>
                      <a:r>
                        <a:rPr lang="ko-KR" altLang="en-US" sz="1500" b="1" smtClean="0">
                          <a:latin typeface="Noto Sans Korean Regular (본문)"/>
                        </a:rPr>
                        <a:t>테스트</a:t>
                      </a:r>
                      <a:r>
                        <a:rPr lang="en-US" altLang="ko-KR" sz="1500" b="1" baseline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smtClean="0">
                          <a:latin typeface="Noto Sans Korean Regular (본문)"/>
                        </a:rPr>
                        <a:t>및</a:t>
                      </a:r>
                      <a:r>
                        <a:rPr lang="en-US" altLang="ko-KR" sz="1500" b="1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CSV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103(TR 26,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제품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입고대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104(TR 24,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원부자재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불출대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(09/21 ~ 09/23)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시스템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OPEN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00493875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(09/28 ~ </a:t>
                      </a:r>
                      <a:r>
                        <a:rPr lang="en-US" altLang="ko-KR" sz="1500" b="1" smtClean="0">
                          <a:latin typeface="Noto Sans Korean Regular (본문)"/>
                        </a:rPr>
                        <a:t>10/02)</a:t>
                      </a:r>
                      <a:endParaRPr lang="ko-KR" altLang="en-US" sz="1500" b="1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시스템 적용 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0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OS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Korean">
      <a:majorFont>
        <a:latin typeface="Noto Sans Korean Light"/>
        <a:ea typeface="Noto Sans Korean Light"/>
        <a:cs typeface=""/>
      </a:majorFont>
      <a:minorFont>
        <a:latin typeface="Noto Sans Korean Regular"/>
        <a:ea typeface="Noto Sans Korea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1b3610-9ab0-42d5-93aa-46150d723d87}" enabled="0" method="" siteId="{9d1b3610-9ab0-42d5-93aa-46150d723d8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24275</TotalTime>
  <Words>401</Words>
  <Application>Microsoft Office PowerPoint</Application>
  <PresentationFormat>와이드스크린</PresentationFormat>
  <Paragraphs>110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7" baseType="lpstr">
      <vt:lpstr>Noto Sans</vt:lpstr>
      <vt:lpstr>Noto Sans CJK KR DemiLight</vt:lpstr>
      <vt:lpstr>Noto Sans CJK KR Light</vt:lpstr>
      <vt:lpstr>Noto Sans CJK KR Regular</vt:lpstr>
      <vt:lpstr>Noto Sans Korean Regular</vt:lpstr>
      <vt:lpstr>Noto Sans Korean Regular (본문)</vt:lpstr>
      <vt:lpstr>Noto Sans KR</vt:lpstr>
      <vt:lpstr>Noto Sans KR Light</vt:lpstr>
      <vt:lpstr>맑은 고딕</vt:lpstr>
      <vt:lpstr>Arial</vt:lpstr>
      <vt:lpstr>Calibri</vt:lpstr>
      <vt:lpstr>DOOSAN</vt:lpstr>
      <vt:lpstr>1공장 ECS 시스템 재구축 수행계획서</vt:lpstr>
      <vt:lpstr>개정이력</vt:lpstr>
      <vt:lpstr>1. 7월 계획</vt:lpstr>
      <vt:lpstr>2. 8월 계획</vt:lpstr>
      <vt:lpstr>3. 9월 계획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재훈</dc:creator>
  <cp:lastModifiedBy>이석진</cp:lastModifiedBy>
  <cp:revision>876</cp:revision>
  <dcterms:created xsi:type="dcterms:W3CDTF">2021-12-06T04:47:02Z</dcterms:created>
  <dcterms:modified xsi:type="dcterms:W3CDTF">2026-08-24T05:08:55Z</dcterms:modified>
</cp:coreProperties>
</file>