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24" r:id="rId2"/>
    <p:sldId id="336" r:id="rId3"/>
    <p:sldId id="602" r:id="rId4"/>
    <p:sldId id="603" r:id="rId5"/>
    <p:sldId id="604" r:id="rId6"/>
    <p:sldId id="605" r:id="rId7"/>
  </p:sldIdLst>
  <p:sldSz cx="12192000" cy="6858000"/>
  <p:notesSz cx="7104063" cy="10234613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860B5"/>
    <a:srgbClr val="7CAFDE"/>
    <a:srgbClr val="0C89CF"/>
    <a:srgbClr val="F05922"/>
    <a:srgbClr val="FFFFFF"/>
    <a:srgbClr val="00AD83"/>
    <a:srgbClr val="00A5D7"/>
    <a:srgbClr val="CCEDF7"/>
    <a:srgbClr val="CC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87758" autoAdjust="0"/>
  </p:normalViewPr>
  <p:slideViewPr>
    <p:cSldViewPr snapToGrid="0" snapToObjects="1">
      <p:cViewPr varScale="1">
        <p:scale>
          <a:sx n="101" d="100"/>
          <a:sy n="101" d="100"/>
        </p:scale>
        <p:origin x="1386" y="108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CCBDEAD-8BE9-A64B-B512-7FBC8738AB5F}" type="datetimeFigureOut">
              <a:rPr kumimoji="1" lang="x-none" altLang="en-US" smtClean="0"/>
              <a:t>2026-08-24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809E5BB-DC4B-5A4F-A108-44EC53CCBD88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6768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12">
            <a:extLst>
              <a:ext uri="{FF2B5EF4-FFF2-40B4-BE49-F238E27FC236}">
                <a16:creationId xmlns:a16="http://schemas.microsoft.com/office/drawing/2014/main" xmlns="" id="{9BA9DA2C-C95E-46A5-8E0D-E6286E0CD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xmlns="" id="{4D00936D-EAFB-4588-ADC2-08053C0B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xmlns="" id="{04246339-E64E-40EB-9A4D-A3F52BDB7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xmlns="" id="{AC8C0496-6601-4A9F-AFD7-847DE1EAC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xmlns="" id="{C21A1DF8-3D96-4A47-984C-5D14E2616D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575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:a16="http://schemas.microsoft.com/office/drawing/2014/main" xmlns="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:a16="http://schemas.microsoft.com/office/drawing/2014/main" xmlns="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xmlns="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xmlns="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66087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:a16="http://schemas.microsoft.com/office/drawing/2014/main" xmlns="" id="{5B4467C3-31E2-4AE9-B345-40E0A7198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xmlns="" id="{FC24977C-FFF7-46E2-BF25-C4CC5DF74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64383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xmlns="" id="{4D4FA792-507D-40B8-A7F3-61A36A65FB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xmlns="" id="{4AB2FE6C-C75C-3645-B788-6A2404B7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:a16="http://schemas.microsoft.com/office/drawing/2014/main" xmlns="" id="{B5091852-EBB8-A541-A8A8-16C431992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7505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0886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11AF9551-790E-4CA7-B771-D7C637C8B45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xmlns="" id="{7AFCE21E-DC22-B34D-8209-B523DF080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xmlns="" id="{66EA81CE-FA4A-4149-BCA1-DBE0C2763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4212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71" userDrawn="1">
          <p15:clr>
            <a:srgbClr val="F26B43"/>
          </p15:clr>
        </p15:guide>
        <p15:guide id="4" pos="302" userDrawn="1">
          <p15:clr>
            <a:srgbClr val="FBAE40"/>
          </p15:clr>
        </p15:guide>
        <p15:guide id="5" pos="7378" userDrawn="1">
          <p15:clr>
            <a:srgbClr val="FBAE40"/>
          </p15:clr>
        </p15:guide>
        <p15:guide id="6" orient="horz" pos="40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DF7"/>
          </a:solidFill>
          <a:ln>
            <a:solidFill>
              <a:srgbClr val="CCE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09751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981DFF20-67A8-4BBB-86C6-852496F131D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xmlns="" id="{F80D885A-8DF5-394A-864C-CB92BF274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xmlns="" id="{363FE54A-9D31-F945-9FDF-CA5B59897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10035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FE6"/>
          </a:solidFill>
          <a:ln>
            <a:solidFill>
              <a:srgbClr val="CCEF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81306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15CB9AE7-FBFB-4E08-B863-5E6B573494F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xmlns="" id="{809A1E4E-1242-724F-96A2-A5C1ED58D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xmlns="" id="{1EAD1EE1-B782-2645-9974-C48FC5F7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891342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8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0888AB66-B853-8B05-A047-55D11D3CB10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105A9251-BCE8-264E-6510-8F703CE9E7EA}"/>
              </a:ext>
            </a:extLst>
          </p:cNvPr>
          <p:cNvSpPr/>
          <p:nvPr userDrawn="1"/>
        </p:nvSpPr>
        <p:spPr>
          <a:xfrm>
            <a:off x="717548" y="6136650"/>
            <a:ext cx="10645775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사유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제정 또는 개정 내용 이전 문서에 대해 추가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수정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삭제인지 선택 기입</a:t>
            </a:r>
            <a:endParaRPr lang="en-US" altLang="ko-KR" sz="1000" spc="-60" dirty="0">
              <a:ln>
                <a:solidFill>
                  <a:schemeClr val="bg1">
                    <a:alpha val="0"/>
                  </a:scheme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내역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개정이 발생하는 페이지 제목과 변경 내용 기술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EBDD308D-E6F4-EBE0-44A6-BC20443F132E}"/>
              </a:ext>
            </a:extLst>
          </p:cNvPr>
          <p:cNvCxnSpPr/>
          <p:nvPr userDrawn="1"/>
        </p:nvCxnSpPr>
        <p:spPr>
          <a:xfrm>
            <a:off x="717549" y="6115050"/>
            <a:ext cx="10645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8B220F65-635A-C213-88C3-8EC9D17EFF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개정이력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940112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:a16="http://schemas.microsoft.com/office/drawing/2014/main" xmlns="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:a16="http://schemas.microsoft.com/office/drawing/2014/main" xmlns="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xmlns="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x-none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xmlns="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3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xmlns="" id="{F8853DE2-50B9-F49E-7D67-5303E1EA7D5F}"/>
              </a:ext>
            </a:extLst>
          </p:cNvPr>
          <p:cNvSpPr txBox="1">
            <a:spLocks/>
          </p:cNvSpPr>
          <p:nvPr userDrawn="1"/>
        </p:nvSpPr>
        <p:spPr>
          <a:xfrm>
            <a:off x="570507" y="6311374"/>
            <a:ext cx="11467506" cy="54560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endParaRPr lang="ko-KR" altLang="en-US" sz="10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4712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1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2" r:id="rId11"/>
    <p:sldLayoutId id="2147483663" r:id="rId12"/>
    <p:sldLayoutId id="2147483664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xmlns="" id="{0BE899B4-15FE-FC46-80D4-45B5A3361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공장 </a:t>
            </a:r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ECS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시스템 </a:t>
            </a:r>
            <a:r>
              <a:rPr kumimoji="1"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재구축</a:t>
            </a:r>
            <a:r>
              <a:rPr kumimoji="1"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수행계획서</a:t>
            </a:r>
            <a:endParaRPr kumimoji="1" lang="x-none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25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35C9EE9-040B-A89A-8269-FAF249A28770}"/>
              </a:ext>
            </a:extLst>
          </p:cNvPr>
          <p:cNvSpPr/>
          <p:nvPr/>
        </p:nvSpPr>
        <p:spPr>
          <a:xfrm>
            <a:off x="2385343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AF06DC6-6E9C-1E5B-BB34-4EA018BBB302}"/>
              </a:ext>
            </a:extLst>
          </p:cNvPr>
          <p:cNvSpPr/>
          <p:nvPr/>
        </p:nvSpPr>
        <p:spPr>
          <a:xfrm>
            <a:off x="5061868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xmlns="" id="{73221340-E832-DFAC-6D19-4EDC9EC19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sz="2200" b="1" dirty="0">
                <a:cs typeface="Noto Sans" panose="020B0502040504020204" pitchFamily="34" charset="0"/>
              </a:rPr>
              <a:t>개정이력</a:t>
            </a:r>
            <a:endParaRPr lang="ko-KR" altLang="en-US" sz="2200" dirty="0"/>
          </a:p>
        </p:txBody>
      </p:sp>
      <p:graphicFrame>
        <p:nvGraphicFramePr>
          <p:cNvPr id="15" name="표 5">
            <a:extLst>
              <a:ext uri="{FF2B5EF4-FFF2-40B4-BE49-F238E27FC236}">
                <a16:creationId xmlns:a16="http://schemas.microsoft.com/office/drawing/2014/main" xmlns="" id="{52DC286F-03F9-FAE9-F3D1-AF12F954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900131"/>
              </p:ext>
            </p:extLst>
          </p:nvPr>
        </p:nvGraphicFramePr>
        <p:xfrm>
          <a:off x="717549" y="900640"/>
          <a:ext cx="10645776" cy="502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1">
                  <a:extLst>
                    <a:ext uri="{9D8B030D-6E8A-4147-A177-3AD203B41FA5}">
                      <a16:colId xmlns:a16="http://schemas.microsoft.com/office/drawing/2014/main" xmlns="" val="2272685007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xmlns="" val="1919663767"/>
                    </a:ext>
                  </a:extLst>
                </a:gridCol>
                <a:gridCol w="1044305">
                  <a:extLst>
                    <a:ext uri="{9D8B030D-6E8A-4147-A177-3AD203B41FA5}">
                      <a16:colId xmlns:a16="http://schemas.microsoft.com/office/drawing/2014/main" xmlns="" val="2591033837"/>
                    </a:ext>
                  </a:extLst>
                </a:gridCol>
                <a:gridCol w="4322503">
                  <a:extLst>
                    <a:ext uri="{9D8B030D-6E8A-4147-A177-3AD203B41FA5}">
                      <a16:colId xmlns:a16="http://schemas.microsoft.com/office/drawing/2014/main" xmlns="" val="2452141826"/>
                    </a:ext>
                  </a:extLst>
                </a:gridCol>
                <a:gridCol w="1774296">
                  <a:extLst>
                    <a:ext uri="{9D8B030D-6E8A-4147-A177-3AD203B41FA5}">
                      <a16:colId xmlns:a16="http://schemas.microsoft.com/office/drawing/2014/main" xmlns="" val="3917850650"/>
                    </a:ext>
                  </a:extLst>
                </a:gridCol>
                <a:gridCol w="1774296">
                  <a:extLst>
                    <a:ext uri="{9D8B030D-6E8A-4147-A177-3AD203B41FA5}">
                      <a16:colId xmlns:a16="http://schemas.microsoft.com/office/drawing/2014/main" xmlns="" val="238231786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버전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개정일자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개정사유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개정내역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작성자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승인자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1259590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1.0.0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2026-08-24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원본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70391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2628036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316763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94265266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93276117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2702091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8959422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0742206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0370328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79178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3554285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93123613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781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xmlns="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>
                <a:cs typeface="Noto Sans" panose="020B0502040504020204" pitchFamily="34" charset="0"/>
              </a:rPr>
              <a:t>1</a:t>
            </a:r>
            <a:r>
              <a:rPr lang="en-US" altLang="ko-KR" sz="2200" b="1" dirty="0" smtClean="0">
                <a:cs typeface="Noto Sans" panose="020B0502040504020204" pitchFamily="34" charset="0"/>
              </a:rPr>
              <a:t>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7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679276"/>
              </p:ext>
            </p:extLst>
          </p:nvPr>
        </p:nvGraphicFramePr>
        <p:xfrm>
          <a:off x="588574" y="1275520"/>
          <a:ext cx="1056520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76">
                  <a:extLst>
                    <a:ext uri="{9D8B030D-6E8A-4147-A177-3AD203B41FA5}">
                      <a16:colId xmlns:a16="http://schemas.microsoft.com/office/drawing/2014/main" xmlns="" val="3993421584"/>
                    </a:ext>
                  </a:extLst>
                </a:gridCol>
                <a:gridCol w="5210175">
                  <a:extLst>
                    <a:ext uri="{9D8B030D-6E8A-4147-A177-3AD203B41FA5}">
                      <a16:colId xmlns:a16="http://schemas.microsoft.com/office/drawing/2014/main" xmlns="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(07/06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07/10)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사양 및 시나리오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기존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ECS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분석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(07/13 ~ 07/17)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(EQU_TASK)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개발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(07/20 ~ 07/24)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설비 통신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청주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통신 테스트 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(07/27 ~ 07/31)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시나리오 프로그램 개발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시나리오 테스트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청주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시나리오 완료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7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xmlns="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2. </a:t>
            </a:r>
            <a:r>
              <a:rPr lang="en-US" altLang="ko-KR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8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793065"/>
              </p:ext>
            </p:extLst>
          </p:nvPr>
        </p:nvGraphicFramePr>
        <p:xfrm>
          <a:off x="588574" y="1275520"/>
          <a:ext cx="1056520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651">
                  <a:extLst>
                    <a:ext uri="{9D8B030D-6E8A-4147-A177-3AD203B41FA5}">
                      <a16:colId xmlns:a16="http://schemas.microsoft.com/office/drawing/2014/main" xmlns="" val="39934215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(08/03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08/07)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CLIENT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디자인 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(08/10 ~ 08/14)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공장 설비 접속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설비 통신 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 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(08/18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08/21)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시나리오 검증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프로그램 수정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00493875"/>
                  </a:ext>
                </a:extLst>
              </a:tr>
              <a:tr h="1456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5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(08/24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09/04)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br>
                        <a:rPr lang="en-US" altLang="ko-KR" sz="1500" b="1" baseline="0" dirty="0" smtClean="0">
                          <a:latin typeface="Noto Sans Korean Regular (본문)"/>
                        </a:rPr>
                      </a:b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 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104 (TR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청주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17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xmlns="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3.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9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632371"/>
              </p:ext>
            </p:extLst>
          </p:nvPr>
        </p:nvGraphicFramePr>
        <p:xfrm>
          <a:off x="588574" y="1275520"/>
          <a:ext cx="1056520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226">
                  <a:extLst>
                    <a:ext uri="{9D8B030D-6E8A-4147-A177-3AD203B41FA5}">
                      <a16:colId xmlns:a16="http://schemas.microsoft.com/office/drawing/2014/main" xmlns="" val="3993421584"/>
                    </a:ext>
                  </a:extLst>
                </a:gridCol>
                <a:gridCol w="5229225">
                  <a:extLst>
                    <a:ext uri="{9D8B030D-6E8A-4147-A177-3AD203B41FA5}">
                      <a16:colId xmlns:a16="http://schemas.microsoft.com/office/drawing/2014/main" xmlns="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 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09/07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~ 09/11)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서버 </a:t>
                      </a:r>
                      <a:r>
                        <a:rPr lang="ko-KR" altLang="en-US" sz="1500" b="1" baseline="0" dirty="0" err="1" smtClean="0">
                          <a:latin typeface="Noto Sans Korean Regular (본문)"/>
                        </a:rPr>
                        <a:t>셋팅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공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PLT 1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단 기준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현장 진행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(09/14 ~ 09/18)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공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PLT 1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단 기준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104(TR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현장 진행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(09/21 ~ 09/23)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통합 테스트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테스트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: 101,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102 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실물 무게 기준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현장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진행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(09/28 ~ 10/02)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통합 테스트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</a:t>
                      </a:r>
                      <a:r>
                        <a:rPr lang="ko-KR" altLang="en-US" sz="1500" b="1" baseline="0" smtClean="0">
                          <a:latin typeface="Noto Sans Korean Regular (본문)"/>
                        </a:rPr>
                        <a:t>입출고 </a:t>
                      </a:r>
                      <a:r>
                        <a:rPr lang="ko-KR" altLang="en-US" sz="1500" b="1" baseline="0" smtClean="0">
                          <a:latin typeface="Noto Sans Korean Regular (본문)"/>
                        </a:rPr>
                        <a:t>테스트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: 103,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104 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실물 무게 기준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현장 진행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xmlns="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4</a:t>
            </a:r>
            <a:r>
              <a:rPr lang="en-US" altLang="ko-KR" sz="2200" b="1" smtClean="0">
                <a:cs typeface="Noto Sans" panose="020B0502040504020204" pitchFamily="34" charset="0"/>
              </a:rPr>
              <a:t>. </a:t>
            </a:r>
            <a:r>
              <a:rPr lang="en-US" altLang="ko-KR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10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29504"/>
              </p:ext>
            </p:extLst>
          </p:nvPr>
        </p:nvGraphicFramePr>
        <p:xfrm>
          <a:off x="588574" y="1275520"/>
          <a:ext cx="10565203" cy="4026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76">
                  <a:extLst>
                    <a:ext uri="{9D8B030D-6E8A-4147-A177-3AD203B41FA5}">
                      <a16:colId xmlns:a16="http://schemas.microsoft.com/office/drawing/2014/main" xmlns="" val="3993421584"/>
                    </a:ext>
                  </a:extLst>
                </a:gridCol>
                <a:gridCol w="5210175">
                  <a:extLst>
                    <a:ext uri="{9D8B030D-6E8A-4147-A177-3AD203B41FA5}">
                      <a16:colId xmlns:a16="http://schemas.microsoft.com/office/drawing/2014/main" xmlns="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 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10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(10/06 ~ 10/08)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시스템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CSV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현장 진행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10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(10/12 ~ 10/16)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사용자 교육 및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OPEN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10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(10/19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10/23)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smtClean="0">
                          <a:latin typeface="Noto Sans Korean Regular (본문)"/>
                        </a:rPr>
                        <a:t>시스템 적용 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10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smtClean="0">
                          <a:latin typeface="Noto Sans Korean Regular (본문)"/>
                        </a:rPr>
                        <a:t>(10/26 ~ 10/30)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시스템 적용 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97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OS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orean">
      <a:majorFont>
        <a:latin typeface="Noto Sans Korean Light"/>
        <a:ea typeface="Noto Sans Korean Light"/>
        <a:cs typeface=""/>
      </a:majorFont>
      <a:minorFont>
        <a:latin typeface="Noto Sans Korean Regular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1b3610-9ab0-42d5-93aa-46150d723d87}" enabled="0" method="" siteId="{9d1b3610-9ab0-42d5-93aa-46150d723d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24292</TotalTime>
  <Words>528</Words>
  <Application>Microsoft Office PowerPoint</Application>
  <PresentationFormat>와이드스크린</PresentationFormat>
  <Paragraphs>134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Noto Sans</vt:lpstr>
      <vt:lpstr>Noto Sans CJK KR DemiLight</vt:lpstr>
      <vt:lpstr>Noto Sans CJK KR Light</vt:lpstr>
      <vt:lpstr>Noto Sans CJK KR Regular</vt:lpstr>
      <vt:lpstr>Noto Sans Korean Regular</vt:lpstr>
      <vt:lpstr>Noto Sans Korean Regular (본문)</vt:lpstr>
      <vt:lpstr>Noto Sans KR</vt:lpstr>
      <vt:lpstr>Noto Sans KR Light</vt:lpstr>
      <vt:lpstr>맑은 고딕</vt:lpstr>
      <vt:lpstr>Arial</vt:lpstr>
      <vt:lpstr>Calibri</vt:lpstr>
      <vt:lpstr>DOOSAN</vt:lpstr>
      <vt:lpstr>1공장 ECS 시스템 재구축 수행계획서</vt:lpstr>
      <vt:lpstr>개정이력</vt:lpstr>
      <vt:lpstr>1. 7월 계획</vt:lpstr>
      <vt:lpstr>2. 8월 계획</vt:lpstr>
      <vt:lpstr>3. 9월 계획</vt:lpstr>
      <vt:lpstr>4. 10월 계획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재훈</dc:creator>
  <cp:lastModifiedBy>이석진</cp:lastModifiedBy>
  <cp:revision>923</cp:revision>
  <dcterms:created xsi:type="dcterms:W3CDTF">2021-12-06T04:47:02Z</dcterms:created>
  <dcterms:modified xsi:type="dcterms:W3CDTF">2026-08-24T05:09:59Z</dcterms:modified>
</cp:coreProperties>
</file>